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3"/>
  </p:notesMasterIdLst>
  <p:sldIdLst>
    <p:sldId id="2561" r:id="rId5"/>
    <p:sldId id="256" r:id="rId6"/>
    <p:sldId id="2562" r:id="rId7"/>
    <p:sldId id="2563" r:id="rId8"/>
    <p:sldId id="2564" r:id="rId9"/>
    <p:sldId id="2566" r:id="rId10"/>
    <p:sldId id="2565" r:id="rId11"/>
    <p:sldId id="2567" r:id="rId12"/>
    <p:sldId id="2568" r:id="rId13"/>
    <p:sldId id="2569" r:id="rId14"/>
    <p:sldId id="2570" r:id="rId15"/>
    <p:sldId id="2586" r:id="rId16"/>
    <p:sldId id="2571" r:id="rId17"/>
    <p:sldId id="2588" r:id="rId18"/>
    <p:sldId id="2572" r:id="rId19"/>
    <p:sldId id="2573" r:id="rId20"/>
    <p:sldId id="2584" r:id="rId21"/>
    <p:sldId id="303" r:id="rId22"/>
    <p:sldId id="304" r:id="rId23"/>
    <p:sldId id="258" r:id="rId24"/>
    <p:sldId id="2575" r:id="rId25"/>
    <p:sldId id="2585" r:id="rId26"/>
    <p:sldId id="2576" r:id="rId27"/>
    <p:sldId id="2577" r:id="rId28"/>
    <p:sldId id="2578" r:id="rId29"/>
    <p:sldId id="2589" r:id="rId30"/>
    <p:sldId id="2580" r:id="rId31"/>
    <p:sldId id="258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erview Skills for Employment Success" id="{D994EB2C-9590-474C-BDD8-E6F9843AC0A4}">
          <p14:sldIdLst>
            <p14:sldId id="2561"/>
            <p14:sldId id="256"/>
          </p14:sldIdLst>
        </p14:section>
        <p14:section name="Understanding Interviews" id="{1489FF2E-33C4-4058-B6F2-4684D0F4ACBE}">
          <p14:sldIdLst>
            <p14:sldId id="2562"/>
            <p14:sldId id="2563"/>
            <p14:sldId id="2564"/>
            <p14:sldId id="2566"/>
          </p14:sldIdLst>
        </p14:section>
        <p14:section name="Preparing for Interviews" id="{874E23DA-3FAD-458A-9CDB-CF52E0D87604}">
          <p14:sldIdLst>
            <p14:sldId id="2565"/>
            <p14:sldId id="2567"/>
            <p14:sldId id="2568"/>
          </p14:sldIdLst>
        </p14:section>
        <p14:section name="Professional Presentation" id="{3D07C166-6B88-45BF-B8DA-835C07F8FFB6}">
          <p14:sldIdLst>
            <p14:sldId id="2569"/>
            <p14:sldId id="2570"/>
            <p14:sldId id="2586"/>
            <p14:sldId id="2571"/>
            <p14:sldId id="2588"/>
            <p14:sldId id="2572"/>
          </p14:sldIdLst>
        </p14:section>
        <p14:section name="Interview Techniques" id="{58738170-7626-4784-92E8-C3DBB3F2A119}">
          <p14:sldIdLst>
            <p14:sldId id="2573"/>
            <p14:sldId id="2584"/>
            <p14:sldId id="303"/>
            <p14:sldId id="304"/>
            <p14:sldId id="258"/>
            <p14:sldId id="2575"/>
            <p14:sldId id="2585"/>
            <p14:sldId id="2576"/>
          </p14:sldIdLst>
        </p14:section>
        <p14:section name="Practice and Follow-Up" id="{F923BBAB-C0A8-41C5-ADD6-DF23D5A4921B}">
          <p14:sldIdLst>
            <p14:sldId id="2577"/>
            <p14:sldId id="2578"/>
            <p14:sldId id="2589"/>
            <p14:sldId id="2580"/>
          </p14:sldIdLst>
        </p14:section>
        <p14:section name="Resources and Final Thoughts" id="{C3C59922-9112-4770-970B-325EE4EFA6A1}">
          <p14:sldIdLst>
            <p14:sldId id="25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902" autoAdjust="0"/>
  </p:normalViewPr>
  <p:slideViewPr>
    <p:cSldViewPr snapToGrid="0">
      <p:cViewPr varScale="1">
        <p:scale>
          <a:sx n="91" d="100"/>
          <a:sy n="91" d="100"/>
        </p:scale>
        <p:origin x="131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diagrams/_rels/data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1A8AF5-603C-43B9-B972-301A18B7B02F}"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B4FC7010-92B4-4472-BC6F-0640ABD7AD64}">
      <dgm:prSet/>
      <dgm:spPr/>
      <dgm:t>
        <a:bodyPr/>
        <a:lstStyle/>
        <a:p>
          <a:pPr>
            <a:lnSpc>
              <a:spcPct val="100000"/>
            </a:lnSpc>
            <a:defRPr b="1"/>
          </a:pPr>
          <a:r>
            <a:rPr lang="en-US"/>
            <a:t>Positive Non-Verbal Signals</a:t>
          </a:r>
        </a:p>
      </dgm:t>
    </dgm:pt>
    <dgm:pt modelId="{FBEBC53E-6E72-4ED1-A30C-37D4073F29F0}" type="parTrans" cxnId="{A146C560-5A40-46B2-A090-0C784A31AE62}">
      <dgm:prSet/>
      <dgm:spPr/>
      <dgm:t>
        <a:bodyPr/>
        <a:lstStyle/>
        <a:p>
          <a:endParaRPr lang="en-US"/>
        </a:p>
      </dgm:t>
    </dgm:pt>
    <dgm:pt modelId="{7F6D9789-E7B1-49EE-AB19-77C3B466AC37}" type="sibTrans" cxnId="{A146C560-5A40-46B2-A090-0C784A31AE62}">
      <dgm:prSet/>
      <dgm:spPr/>
      <dgm:t>
        <a:bodyPr/>
        <a:lstStyle/>
        <a:p>
          <a:pPr>
            <a:lnSpc>
              <a:spcPct val="100000"/>
            </a:lnSpc>
            <a:defRPr b="1"/>
          </a:pPr>
          <a:endParaRPr lang="en-US"/>
        </a:p>
      </dgm:t>
    </dgm:pt>
    <dgm:pt modelId="{B6A2FC67-347C-45CA-BBB7-D8736AC11D4F}">
      <dgm:prSet/>
      <dgm:spPr/>
      <dgm:t>
        <a:bodyPr/>
        <a:lstStyle/>
        <a:p>
          <a:pPr>
            <a:lnSpc>
              <a:spcPct val="100000"/>
            </a:lnSpc>
          </a:pPr>
          <a:r>
            <a:rPr lang="en-US"/>
            <a:t>Smiling, steady eye contact, and confident gestures create a positive impression during interviews.</a:t>
          </a:r>
        </a:p>
      </dgm:t>
    </dgm:pt>
    <dgm:pt modelId="{679EECF2-DC53-43A2-8503-2CC3773A3C78}" type="parTrans" cxnId="{C9A0663A-2AE8-4D84-844D-689E71EF741B}">
      <dgm:prSet/>
      <dgm:spPr/>
      <dgm:t>
        <a:bodyPr/>
        <a:lstStyle/>
        <a:p>
          <a:endParaRPr lang="en-US"/>
        </a:p>
      </dgm:t>
    </dgm:pt>
    <dgm:pt modelId="{CD9C34C7-B227-4308-8685-C54635EDAD74}" type="sibTrans" cxnId="{C9A0663A-2AE8-4D84-844D-689E71EF741B}">
      <dgm:prSet/>
      <dgm:spPr/>
      <dgm:t>
        <a:bodyPr/>
        <a:lstStyle/>
        <a:p>
          <a:endParaRPr lang="en-US"/>
        </a:p>
      </dgm:t>
    </dgm:pt>
    <dgm:pt modelId="{28B1121B-B523-46BB-A985-FBEF66E1AF62}">
      <dgm:prSet/>
      <dgm:spPr/>
      <dgm:t>
        <a:bodyPr/>
        <a:lstStyle/>
        <a:p>
          <a:pPr>
            <a:lnSpc>
              <a:spcPct val="100000"/>
            </a:lnSpc>
            <a:defRPr b="1"/>
          </a:pPr>
          <a:r>
            <a:rPr lang="en-US"/>
            <a:t>Posture and Engagement</a:t>
          </a:r>
        </a:p>
      </dgm:t>
    </dgm:pt>
    <dgm:pt modelId="{5A35DF33-5FD9-4EF6-8469-D4629BF51B2D}" type="parTrans" cxnId="{F9EF8D31-A48E-4783-B7FC-732E992C09D1}">
      <dgm:prSet/>
      <dgm:spPr/>
      <dgm:t>
        <a:bodyPr/>
        <a:lstStyle/>
        <a:p>
          <a:endParaRPr lang="en-US"/>
        </a:p>
      </dgm:t>
    </dgm:pt>
    <dgm:pt modelId="{6CC6AEB9-C16C-4025-859B-DAF86F56C3D0}" type="sibTrans" cxnId="{F9EF8D31-A48E-4783-B7FC-732E992C09D1}">
      <dgm:prSet/>
      <dgm:spPr/>
      <dgm:t>
        <a:bodyPr/>
        <a:lstStyle/>
        <a:p>
          <a:pPr>
            <a:lnSpc>
              <a:spcPct val="100000"/>
            </a:lnSpc>
            <a:defRPr b="1"/>
          </a:pPr>
          <a:endParaRPr lang="en-US"/>
        </a:p>
      </dgm:t>
    </dgm:pt>
    <dgm:pt modelId="{0E84A1FB-D09F-4E7F-B764-0B7811C1A584}">
      <dgm:prSet/>
      <dgm:spPr/>
      <dgm:t>
        <a:bodyPr/>
        <a:lstStyle/>
        <a:p>
          <a:pPr>
            <a:lnSpc>
              <a:spcPct val="100000"/>
            </a:lnSpc>
          </a:pPr>
          <a:r>
            <a:rPr lang="en-US"/>
            <a:t>Sitting upright and leaning slightly forward signals interest and engagement to the interviewer.</a:t>
          </a:r>
        </a:p>
      </dgm:t>
    </dgm:pt>
    <dgm:pt modelId="{3222359A-A249-414F-B207-B9DF26F80543}" type="parTrans" cxnId="{A20E5599-2236-47FE-93B1-0F3AB631618E}">
      <dgm:prSet/>
      <dgm:spPr/>
      <dgm:t>
        <a:bodyPr/>
        <a:lstStyle/>
        <a:p>
          <a:endParaRPr lang="en-US"/>
        </a:p>
      </dgm:t>
    </dgm:pt>
    <dgm:pt modelId="{BAD6593B-BBDC-4396-9432-9406C8AADAB3}" type="sibTrans" cxnId="{A20E5599-2236-47FE-93B1-0F3AB631618E}">
      <dgm:prSet/>
      <dgm:spPr/>
      <dgm:t>
        <a:bodyPr/>
        <a:lstStyle/>
        <a:p>
          <a:endParaRPr lang="en-US"/>
        </a:p>
      </dgm:t>
    </dgm:pt>
    <dgm:pt modelId="{D471D411-A170-4E2C-8238-BCDD7F8B8F78}">
      <dgm:prSet/>
      <dgm:spPr/>
      <dgm:t>
        <a:bodyPr/>
        <a:lstStyle/>
        <a:p>
          <a:pPr>
            <a:lnSpc>
              <a:spcPct val="100000"/>
            </a:lnSpc>
            <a:defRPr b="1"/>
          </a:pPr>
          <a:r>
            <a:rPr lang="en-US"/>
            <a:t>Avoiding Negative Habits</a:t>
          </a:r>
        </a:p>
      </dgm:t>
    </dgm:pt>
    <dgm:pt modelId="{1DA4C127-989F-4116-AF3C-FEE2DE9CA54B}" type="parTrans" cxnId="{5ED6E0E2-FB83-4D95-A24F-40122CE77A85}">
      <dgm:prSet/>
      <dgm:spPr/>
      <dgm:t>
        <a:bodyPr/>
        <a:lstStyle/>
        <a:p>
          <a:endParaRPr lang="en-US"/>
        </a:p>
      </dgm:t>
    </dgm:pt>
    <dgm:pt modelId="{915D9AE1-75C0-4F59-A9B2-42C16F7D6290}" type="sibTrans" cxnId="{5ED6E0E2-FB83-4D95-A24F-40122CE77A85}">
      <dgm:prSet/>
      <dgm:spPr/>
      <dgm:t>
        <a:bodyPr/>
        <a:lstStyle/>
        <a:p>
          <a:endParaRPr lang="en-US"/>
        </a:p>
      </dgm:t>
    </dgm:pt>
    <dgm:pt modelId="{D69A0B29-3037-437C-BAB5-D20B003A72BB}">
      <dgm:prSet/>
      <dgm:spPr/>
      <dgm:t>
        <a:bodyPr/>
        <a:lstStyle/>
        <a:p>
          <a:pPr>
            <a:lnSpc>
              <a:spcPct val="100000"/>
            </a:lnSpc>
          </a:pPr>
          <a:r>
            <a:rPr lang="en-US"/>
            <a:t>Avoiding fidgeting and distracted movements helps maintain a professional and focused demeanor.</a:t>
          </a:r>
        </a:p>
      </dgm:t>
    </dgm:pt>
    <dgm:pt modelId="{EFD4A0FE-8179-4E46-BF8B-87D6848F1340}" type="parTrans" cxnId="{56EBBFBD-9CE6-4CD0-AE97-CCB4F4BE1CEE}">
      <dgm:prSet/>
      <dgm:spPr/>
      <dgm:t>
        <a:bodyPr/>
        <a:lstStyle/>
        <a:p>
          <a:endParaRPr lang="en-US"/>
        </a:p>
      </dgm:t>
    </dgm:pt>
    <dgm:pt modelId="{F04111E6-76AC-4CDA-8B2F-028B99F77A4A}" type="sibTrans" cxnId="{56EBBFBD-9CE6-4CD0-AE97-CCB4F4BE1CEE}">
      <dgm:prSet/>
      <dgm:spPr/>
      <dgm:t>
        <a:bodyPr/>
        <a:lstStyle/>
        <a:p>
          <a:endParaRPr lang="en-US"/>
        </a:p>
      </dgm:t>
    </dgm:pt>
    <dgm:pt modelId="{CE63D20C-82A3-4E65-971B-25A227986B12}" type="pres">
      <dgm:prSet presAssocID="{F91A8AF5-603C-43B9-B972-301A18B7B02F}" presName="Root" presStyleCnt="0">
        <dgm:presLayoutVars>
          <dgm:dir/>
          <dgm:resizeHandles val="exact"/>
        </dgm:presLayoutVars>
      </dgm:prSet>
      <dgm:spPr/>
    </dgm:pt>
    <dgm:pt modelId="{5C8D107B-603E-4B3E-8AB6-878B13487504}" type="pres">
      <dgm:prSet presAssocID="{B4FC7010-92B4-4472-BC6F-0640ABD7AD64}" presName="Composite" presStyleCnt="0"/>
      <dgm:spPr/>
    </dgm:pt>
    <dgm:pt modelId="{A171D832-CA96-43FB-B7F7-DB7EAAC9C08F}" type="pres">
      <dgm:prSet presAssocID="{B4FC7010-92B4-4472-BC6F-0640ABD7AD64}"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6873" r="6382" b="7"/>
          <a:stretch/>
        </a:blipFill>
      </dgm:spPr>
      <dgm:extLst>
        <a:ext uri="{E40237B7-FDA0-4F09-8148-C483321AD2D9}">
          <dgm14:cNvPr xmlns:dgm14="http://schemas.microsoft.com/office/drawing/2010/diagram" id="0" name="" descr="Smiling woman near office window"/>
        </a:ext>
      </dgm:extLst>
    </dgm:pt>
    <dgm:pt modelId="{1E600C0D-6738-466F-AC5E-718B4C034C3D}" type="pres">
      <dgm:prSet presAssocID="{B4FC7010-92B4-4472-BC6F-0640ABD7AD64}" presName="Subtitle" presStyleLbl="revTx" presStyleIdx="0" presStyleCnt="6">
        <dgm:presLayoutVars>
          <dgm:chMax val="0"/>
          <dgm:bulletEnabled/>
        </dgm:presLayoutVars>
      </dgm:prSet>
      <dgm:spPr/>
    </dgm:pt>
    <dgm:pt modelId="{BE94B1EA-C813-429A-A759-D25EE2F45564}" type="pres">
      <dgm:prSet presAssocID="{B4FC7010-92B4-4472-BC6F-0640ABD7AD64}" presName="Description" presStyleLbl="revTx" presStyleIdx="1" presStyleCnt="6">
        <dgm:presLayoutVars>
          <dgm:bulletEnabled/>
        </dgm:presLayoutVars>
      </dgm:prSet>
      <dgm:spPr/>
    </dgm:pt>
    <dgm:pt modelId="{56787945-1722-4AD1-9E70-4E4F1110F8E2}" type="pres">
      <dgm:prSet presAssocID="{7F6D9789-E7B1-49EE-AB19-77C3B466AC37}" presName="sibTrans" presStyleLbl="sibTrans2D1" presStyleIdx="0" presStyleCnt="0"/>
      <dgm:spPr/>
    </dgm:pt>
    <dgm:pt modelId="{28B8F2FA-5BAB-4E9B-A8BB-8C12EE797D9C}" type="pres">
      <dgm:prSet presAssocID="{28B1121B-B523-46BB-A985-FBEF66E1AF62}" presName="Composite" presStyleCnt="0"/>
      <dgm:spPr/>
    </dgm:pt>
    <dgm:pt modelId="{4138C550-389E-4370-BCCC-6621C157721E}" type="pres">
      <dgm:prSet presAssocID="{28B1121B-B523-46BB-A985-FBEF66E1AF62}"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2896" r="15102" b="-3"/>
          <a:stretch/>
        </a:blipFill>
      </dgm:spPr>
      <dgm:extLst>
        <a:ext uri="{E40237B7-FDA0-4F09-8148-C483321AD2D9}">
          <dgm14:cNvPr xmlns:dgm14="http://schemas.microsoft.com/office/drawing/2010/diagram" id="0" name="" descr="Rear view of man in leather jacket sitting on floorhttp://www.twodozendesign.info/i/1.png"/>
        </a:ext>
      </dgm:extLst>
    </dgm:pt>
    <dgm:pt modelId="{89C1BCA9-F7E3-424D-B863-12B8421D33F9}" type="pres">
      <dgm:prSet presAssocID="{28B1121B-B523-46BB-A985-FBEF66E1AF62}" presName="Subtitle" presStyleLbl="revTx" presStyleIdx="2" presStyleCnt="6">
        <dgm:presLayoutVars>
          <dgm:chMax val="0"/>
          <dgm:bulletEnabled/>
        </dgm:presLayoutVars>
      </dgm:prSet>
      <dgm:spPr/>
    </dgm:pt>
    <dgm:pt modelId="{765E7E99-8DB7-44BF-BB23-DC0874067C83}" type="pres">
      <dgm:prSet presAssocID="{28B1121B-B523-46BB-A985-FBEF66E1AF62}" presName="Description" presStyleLbl="revTx" presStyleIdx="3" presStyleCnt="6">
        <dgm:presLayoutVars>
          <dgm:bulletEnabled/>
        </dgm:presLayoutVars>
      </dgm:prSet>
      <dgm:spPr/>
    </dgm:pt>
    <dgm:pt modelId="{9F97CC34-718D-4333-B5DE-5E15F8B82AA6}" type="pres">
      <dgm:prSet presAssocID="{6CC6AEB9-C16C-4025-859B-DAF86F56C3D0}" presName="sibTrans" presStyleLbl="sibTrans2D1" presStyleIdx="0" presStyleCnt="0"/>
      <dgm:spPr/>
    </dgm:pt>
    <dgm:pt modelId="{1F9DFFCB-C279-467E-BAB8-DF9C70107365}" type="pres">
      <dgm:prSet presAssocID="{D471D411-A170-4E2C-8238-BCDD7F8B8F78}" presName="Composite" presStyleCnt="0"/>
      <dgm:spPr/>
    </dgm:pt>
    <dgm:pt modelId="{251E445F-FE9A-41CA-BEB6-D02517EFC141}" type="pres">
      <dgm:prSet presAssocID="{D471D411-A170-4E2C-8238-BCDD7F8B8F78}"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2672" r="10582" b="7"/>
          <a:stretch/>
        </a:blipFill>
      </dgm:spPr>
      <dgm:extLst>
        <a:ext uri="{E40237B7-FDA0-4F09-8148-C483321AD2D9}">
          <dgm14:cNvPr xmlns:dgm14="http://schemas.microsoft.com/office/drawing/2010/diagram" id="0" name="" descr="Candidate for interview"/>
        </a:ext>
      </dgm:extLst>
    </dgm:pt>
    <dgm:pt modelId="{64024EA2-9383-4C35-9200-8ECB34482195}" type="pres">
      <dgm:prSet presAssocID="{D471D411-A170-4E2C-8238-BCDD7F8B8F78}" presName="Subtitle" presStyleLbl="revTx" presStyleIdx="4" presStyleCnt="6">
        <dgm:presLayoutVars>
          <dgm:chMax val="0"/>
          <dgm:bulletEnabled/>
        </dgm:presLayoutVars>
      </dgm:prSet>
      <dgm:spPr/>
    </dgm:pt>
    <dgm:pt modelId="{3E477D8E-8745-4EAC-8EA4-D9BEF667A9C5}" type="pres">
      <dgm:prSet presAssocID="{D471D411-A170-4E2C-8238-BCDD7F8B8F78}" presName="Description" presStyleLbl="revTx" presStyleIdx="5" presStyleCnt="6">
        <dgm:presLayoutVars>
          <dgm:bulletEnabled/>
        </dgm:presLayoutVars>
      </dgm:prSet>
      <dgm:spPr/>
    </dgm:pt>
  </dgm:ptLst>
  <dgm:cxnLst>
    <dgm:cxn modelId="{EE0DA015-5E9F-4FF6-92FA-04159AFD151E}" type="presOf" srcId="{0E84A1FB-D09F-4E7F-B764-0B7811C1A584}" destId="{765E7E99-8DB7-44BF-BB23-DC0874067C83}" srcOrd="0" destOrd="0" presId="urn:microsoft.com/office/officeart/2024/3/layout/verticalVisualTextBlock1"/>
    <dgm:cxn modelId="{F9EF8D31-A48E-4783-B7FC-732E992C09D1}" srcId="{F91A8AF5-603C-43B9-B972-301A18B7B02F}" destId="{28B1121B-B523-46BB-A985-FBEF66E1AF62}" srcOrd="1" destOrd="0" parTransId="{5A35DF33-5FD9-4EF6-8469-D4629BF51B2D}" sibTransId="{6CC6AEB9-C16C-4025-859B-DAF86F56C3D0}"/>
    <dgm:cxn modelId="{C9A0663A-2AE8-4D84-844D-689E71EF741B}" srcId="{B4FC7010-92B4-4472-BC6F-0640ABD7AD64}" destId="{B6A2FC67-347C-45CA-BBB7-D8736AC11D4F}" srcOrd="0" destOrd="0" parTransId="{679EECF2-DC53-43A2-8503-2CC3773A3C78}" sibTransId="{CD9C34C7-B227-4308-8685-C54635EDAD74}"/>
    <dgm:cxn modelId="{A146C560-5A40-46B2-A090-0C784A31AE62}" srcId="{F91A8AF5-603C-43B9-B972-301A18B7B02F}" destId="{B4FC7010-92B4-4472-BC6F-0640ABD7AD64}" srcOrd="0" destOrd="0" parTransId="{FBEBC53E-6E72-4ED1-A30C-37D4073F29F0}" sibTransId="{7F6D9789-E7B1-49EE-AB19-77C3B466AC37}"/>
    <dgm:cxn modelId="{4F9DC350-6B8B-4048-8EA8-DAA818B235D3}" type="presOf" srcId="{F91A8AF5-603C-43B9-B972-301A18B7B02F}" destId="{CE63D20C-82A3-4E65-971B-25A227986B12}" srcOrd="0" destOrd="0" presId="urn:microsoft.com/office/officeart/2024/3/layout/verticalVisualTextBlock1"/>
    <dgm:cxn modelId="{D36A3D78-36EA-48F0-9D99-7EFEDBDC7E4E}" type="presOf" srcId="{B4FC7010-92B4-4472-BC6F-0640ABD7AD64}" destId="{1E600C0D-6738-466F-AC5E-718B4C034C3D}" srcOrd="0" destOrd="0" presId="urn:microsoft.com/office/officeart/2024/3/layout/verticalVisualTextBlock1"/>
    <dgm:cxn modelId="{B45EAE96-8F33-4A00-94FC-B4D29E905C53}" type="presOf" srcId="{B6A2FC67-347C-45CA-BBB7-D8736AC11D4F}" destId="{BE94B1EA-C813-429A-A759-D25EE2F45564}" srcOrd="0" destOrd="0" presId="urn:microsoft.com/office/officeart/2024/3/layout/verticalVisualTextBlock1"/>
    <dgm:cxn modelId="{A20E5599-2236-47FE-93B1-0F3AB631618E}" srcId="{28B1121B-B523-46BB-A985-FBEF66E1AF62}" destId="{0E84A1FB-D09F-4E7F-B764-0B7811C1A584}" srcOrd="0" destOrd="0" parTransId="{3222359A-A249-414F-B207-B9DF26F80543}" sibTransId="{BAD6593B-BBDC-4396-9432-9406C8AADAB3}"/>
    <dgm:cxn modelId="{7839E19A-260D-46B6-A715-7F3167428844}" type="presOf" srcId="{D69A0B29-3037-437C-BAB5-D20B003A72BB}" destId="{3E477D8E-8745-4EAC-8EA4-D9BEF667A9C5}" srcOrd="0" destOrd="0" presId="urn:microsoft.com/office/officeart/2024/3/layout/verticalVisualTextBlock1"/>
    <dgm:cxn modelId="{A7AA70AF-3908-474F-91E3-DFD70F5189BF}" type="presOf" srcId="{D471D411-A170-4E2C-8238-BCDD7F8B8F78}" destId="{64024EA2-9383-4C35-9200-8ECB34482195}" srcOrd="0" destOrd="0" presId="urn:microsoft.com/office/officeart/2024/3/layout/verticalVisualTextBlock1"/>
    <dgm:cxn modelId="{6BC0D7B2-4022-419E-B374-6E00EC41D2DE}" type="presOf" srcId="{7F6D9789-E7B1-49EE-AB19-77C3B466AC37}" destId="{56787945-1722-4AD1-9E70-4E4F1110F8E2}" srcOrd="0" destOrd="0" presId="urn:microsoft.com/office/officeart/2024/3/layout/verticalVisualTextBlock1"/>
    <dgm:cxn modelId="{B1B63EB3-BB37-4F19-ACE6-1591A25BEE05}" type="presOf" srcId="{28B1121B-B523-46BB-A985-FBEF66E1AF62}" destId="{89C1BCA9-F7E3-424D-B863-12B8421D33F9}" srcOrd="0" destOrd="0" presId="urn:microsoft.com/office/officeart/2024/3/layout/verticalVisualTextBlock1"/>
    <dgm:cxn modelId="{56EBBFBD-9CE6-4CD0-AE97-CCB4F4BE1CEE}" srcId="{D471D411-A170-4E2C-8238-BCDD7F8B8F78}" destId="{D69A0B29-3037-437C-BAB5-D20B003A72BB}" srcOrd="0" destOrd="0" parTransId="{EFD4A0FE-8179-4E46-BF8B-87D6848F1340}" sibTransId="{F04111E6-76AC-4CDA-8B2F-028B99F77A4A}"/>
    <dgm:cxn modelId="{808F12DE-F590-49BA-B8B7-5D1008C6C103}" type="presOf" srcId="{6CC6AEB9-C16C-4025-859B-DAF86F56C3D0}" destId="{9F97CC34-718D-4333-B5DE-5E15F8B82AA6}" srcOrd="0" destOrd="0" presId="urn:microsoft.com/office/officeart/2024/3/layout/verticalVisualTextBlock1"/>
    <dgm:cxn modelId="{5ED6E0E2-FB83-4D95-A24F-40122CE77A85}" srcId="{F91A8AF5-603C-43B9-B972-301A18B7B02F}" destId="{D471D411-A170-4E2C-8238-BCDD7F8B8F78}" srcOrd="2" destOrd="0" parTransId="{1DA4C127-989F-4116-AF3C-FEE2DE9CA54B}" sibTransId="{915D9AE1-75C0-4F59-A9B2-42C16F7D6290}"/>
    <dgm:cxn modelId="{2E6BB946-43EA-4169-9313-9477D50B7F3F}" type="presParOf" srcId="{CE63D20C-82A3-4E65-971B-25A227986B12}" destId="{5C8D107B-603E-4B3E-8AB6-878B13487504}" srcOrd="0" destOrd="0" presId="urn:microsoft.com/office/officeart/2024/3/layout/verticalVisualTextBlock1"/>
    <dgm:cxn modelId="{21ABEE9E-36EB-415D-A7B6-6D2E35A5903C}" type="presParOf" srcId="{5C8D107B-603E-4B3E-8AB6-878B13487504}" destId="{A171D832-CA96-43FB-B7F7-DB7EAAC9C08F}" srcOrd="0" destOrd="0" presId="urn:microsoft.com/office/officeart/2024/3/layout/verticalVisualTextBlock1"/>
    <dgm:cxn modelId="{E53602F6-61DF-498D-823F-D3A3670B0C1E}" type="presParOf" srcId="{5C8D107B-603E-4B3E-8AB6-878B13487504}" destId="{1E600C0D-6738-466F-AC5E-718B4C034C3D}" srcOrd="1" destOrd="0" presId="urn:microsoft.com/office/officeart/2024/3/layout/verticalVisualTextBlock1"/>
    <dgm:cxn modelId="{A2B1D708-C641-4722-AC9B-14CE300CA1C4}" type="presParOf" srcId="{5C8D107B-603E-4B3E-8AB6-878B13487504}" destId="{BE94B1EA-C813-429A-A759-D25EE2F45564}" srcOrd="2" destOrd="0" presId="urn:microsoft.com/office/officeart/2024/3/layout/verticalVisualTextBlock1"/>
    <dgm:cxn modelId="{639DF84E-9BD1-4CA1-AFE5-3CA6B0513E32}" type="presParOf" srcId="{CE63D20C-82A3-4E65-971B-25A227986B12}" destId="{56787945-1722-4AD1-9E70-4E4F1110F8E2}" srcOrd="1" destOrd="0" presId="urn:microsoft.com/office/officeart/2024/3/layout/verticalVisualTextBlock1"/>
    <dgm:cxn modelId="{7B500185-C5D9-444D-9F99-29BCA9C006A8}" type="presParOf" srcId="{CE63D20C-82A3-4E65-971B-25A227986B12}" destId="{28B8F2FA-5BAB-4E9B-A8BB-8C12EE797D9C}" srcOrd="2" destOrd="0" presId="urn:microsoft.com/office/officeart/2024/3/layout/verticalVisualTextBlock1"/>
    <dgm:cxn modelId="{7C26A7C4-3D7A-495F-9F87-BB258BC43C14}" type="presParOf" srcId="{28B8F2FA-5BAB-4E9B-A8BB-8C12EE797D9C}" destId="{4138C550-389E-4370-BCCC-6621C157721E}" srcOrd="0" destOrd="0" presId="urn:microsoft.com/office/officeart/2024/3/layout/verticalVisualTextBlock1"/>
    <dgm:cxn modelId="{6B1F62B5-49C5-427C-B9E6-FE8D9AB404CC}" type="presParOf" srcId="{28B8F2FA-5BAB-4E9B-A8BB-8C12EE797D9C}" destId="{89C1BCA9-F7E3-424D-B863-12B8421D33F9}" srcOrd="1" destOrd="0" presId="urn:microsoft.com/office/officeart/2024/3/layout/verticalVisualTextBlock1"/>
    <dgm:cxn modelId="{D65DD82F-A9E6-40A9-9F13-7063400789E6}" type="presParOf" srcId="{28B8F2FA-5BAB-4E9B-A8BB-8C12EE797D9C}" destId="{765E7E99-8DB7-44BF-BB23-DC0874067C83}" srcOrd="2" destOrd="0" presId="urn:microsoft.com/office/officeart/2024/3/layout/verticalVisualTextBlock1"/>
    <dgm:cxn modelId="{D78DE89D-3A00-41B7-B97C-689F33403EEA}" type="presParOf" srcId="{CE63D20C-82A3-4E65-971B-25A227986B12}" destId="{9F97CC34-718D-4333-B5DE-5E15F8B82AA6}" srcOrd="3" destOrd="0" presId="urn:microsoft.com/office/officeart/2024/3/layout/verticalVisualTextBlock1"/>
    <dgm:cxn modelId="{53DD6A24-FFEE-4305-8A2B-E0EDF277FE41}" type="presParOf" srcId="{CE63D20C-82A3-4E65-971B-25A227986B12}" destId="{1F9DFFCB-C279-467E-BAB8-DF9C70107365}" srcOrd="4" destOrd="0" presId="urn:microsoft.com/office/officeart/2024/3/layout/verticalVisualTextBlock1"/>
    <dgm:cxn modelId="{C5CB113A-D009-4258-9ED2-21279A6E0840}" type="presParOf" srcId="{1F9DFFCB-C279-467E-BAB8-DF9C70107365}" destId="{251E445F-FE9A-41CA-BEB6-D02517EFC141}" srcOrd="0" destOrd="0" presId="urn:microsoft.com/office/officeart/2024/3/layout/verticalVisualTextBlock1"/>
    <dgm:cxn modelId="{49BCF573-AF39-4407-A2B2-D3ECA3921620}" type="presParOf" srcId="{1F9DFFCB-C279-467E-BAB8-DF9C70107365}" destId="{64024EA2-9383-4C35-9200-8ECB34482195}" srcOrd="1" destOrd="0" presId="urn:microsoft.com/office/officeart/2024/3/layout/verticalVisualTextBlock1"/>
    <dgm:cxn modelId="{4C73DE35-3C44-43E3-BB66-B8812DE92E74}" type="presParOf" srcId="{1F9DFFCB-C279-467E-BAB8-DF9C70107365}" destId="{3E477D8E-8745-4EAC-8EA4-D9BEF667A9C5}"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1D832-CA96-43FB-B7F7-DB7EAAC9C08F}">
      <dsp:nvSpPr>
        <dsp:cNvPr id="0" name=""/>
        <dsp:cNvSpPr/>
      </dsp:nvSpPr>
      <dsp:spPr>
        <a:xfrm>
          <a:off x="0" y="0"/>
          <a:ext cx="1476138" cy="1476138"/>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6873" r="6382" b="7"/>
          <a:stretch/>
        </a:blipFill>
        <a:ln>
          <a:noFill/>
        </a:ln>
        <a:effectLst/>
      </dsp:spPr>
      <dsp:style>
        <a:lnRef idx="0">
          <a:scrgbClr r="0" g="0" b="0"/>
        </a:lnRef>
        <a:fillRef idx="3">
          <a:scrgbClr r="0" g="0" b="0"/>
        </a:fillRef>
        <a:effectRef idx="2">
          <a:scrgbClr r="0" g="0" b="0"/>
        </a:effectRef>
        <a:fontRef idx="minor">
          <a:schemeClr val="lt1"/>
        </a:fontRef>
      </dsp:style>
    </dsp:sp>
    <dsp:sp modelId="{1E600C0D-6738-466F-AC5E-718B4C034C3D}">
      <dsp:nvSpPr>
        <dsp:cNvPr id="0" name=""/>
        <dsp:cNvSpPr/>
      </dsp:nvSpPr>
      <dsp:spPr>
        <a:xfrm>
          <a:off x="1656138" y="0"/>
          <a:ext cx="8836297" cy="359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Positive Non-Verbal Signals</a:t>
          </a:r>
        </a:p>
      </dsp:txBody>
      <dsp:txXfrm>
        <a:off x="1656138" y="0"/>
        <a:ext cx="8836297" cy="359295"/>
      </dsp:txXfrm>
    </dsp:sp>
    <dsp:sp modelId="{BE94B1EA-C813-429A-A759-D25EE2F45564}">
      <dsp:nvSpPr>
        <dsp:cNvPr id="0" name=""/>
        <dsp:cNvSpPr/>
      </dsp:nvSpPr>
      <dsp:spPr>
        <a:xfrm>
          <a:off x="1656138" y="359295"/>
          <a:ext cx="8836297" cy="1116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Smiling, steady eye contact, and confident gestures create a positive impression during interviews.</a:t>
          </a:r>
        </a:p>
      </dsp:txBody>
      <dsp:txXfrm>
        <a:off x="1656138" y="359295"/>
        <a:ext cx="8836297" cy="1116843"/>
      </dsp:txXfrm>
    </dsp:sp>
    <dsp:sp modelId="{4138C550-389E-4370-BCCC-6621C157721E}">
      <dsp:nvSpPr>
        <dsp:cNvPr id="0" name=""/>
        <dsp:cNvSpPr/>
      </dsp:nvSpPr>
      <dsp:spPr>
        <a:xfrm>
          <a:off x="0" y="1594230"/>
          <a:ext cx="1476138" cy="1476138"/>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2896" r="15102" b="-3"/>
          <a:stretch/>
        </a:blipFill>
        <a:ln>
          <a:noFill/>
        </a:ln>
        <a:effectLst/>
      </dsp:spPr>
      <dsp:style>
        <a:lnRef idx="0">
          <a:scrgbClr r="0" g="0" b="0"/>
        </a:lnRef>
        <a:fillRef idx="3">
          <a:scrgbClr r="0" g="0" b="0"/>
        </a:fillRef>
        <a:effectRef idx="2">
          <a:scrgbClr r="0" g="0" b="0"/>
        </a:effectRef>
        <a:fontRef idx="minor">
          <a:schemeClr val="lt1"/>
        </a:fontRef>
      </dsp:style>
    </dsp:sp>
    <dsp:sp modelId="{89C1BCA9-F7E3-424D-B863-12B8421D33F9}">
      <dsp:nvSpPr>
        <dsp:cNvPr id="0" name=""/>
        <dsp:cNvSpPr/>
      </dsp:nvSpPr>
      <dsp:spPr>
        <a:xfrm>
          <a:off x="1656138" y="1594230"/>
          <a:ext cx="8836297" cy="359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Posture and Engagement</a:t>
          </a:r>
        </a:p>
      </dsp:txBody>
      <dsp:txXfrm>
        <a:off x="1656138" y="1594230"/>
        <a:ext cx="8836297" cy="359295"/>
      </dsp:txXfrm>
    </dsp:sp>
    <dsp:sp modelId="{765E7E99-8DB7-44BF-BB23-DC0874067C83}">
      <dsp:nvSpPr>
        <dsp:cNvPr id="0" name=""/>
        <dsp:cNvSpPr/>
      </dsp:nvSpPr>
      <dsp:spPr>
        <a:xfrm>
          <a:off x="1656138" y="1953525"/>
          <a:ext cx="8836297" cy="1116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Sitting upright and leaning slightly forward signals interest and engagement to the interviewer.</a:t>
          </a:r>
        </a:p>
      </dsp:txBody>
      <dsp:txXfrm>
        <a:off x="1656138" y="1953525"/>
        <a:ext cx="8836297" cy="1116843"/>
      </dsp:txXfrm>
    </dsp:sp>
    <dsp:sp modelId="{251E445F-FE9A-41CA-BEB6-D02517EFC141}">
      <dsp:nvSpPr>
        <dsp:cNvPr id="0" name=""/>
        <dsp:cNvSpPr/>
      </dsp:nvSpPr>
      <dsp:spPr>
        <a:xfrm>
          <a:off x="0" y="3188460"/>
          <a:ext cx="1476138" cy="1476138"/>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2672" r="10582" b="7"/>
          <a:stretch/>
        </a:blipFill>
        <a:ln>
          <a:noFill/>
        </a:ln>
        <a:effectLst/>
      </dsp:spPr>
      <dsp:style>
        <a:lnRef idx="0">
          <a:scrgbClr r="0" g="0" b="0"/>
        </a:lnRef>
        <a:fillRef idx="3">
          <a:scrgbClr r="0" g="0" b="0"/>
        </a:fillRef>
        <a:effectRef idx="2">
          <a:scrgbClr r="0" g="0" b="0"/>
        </a:effectRef>
        <a:fontRef idx="minor">
          <a:schemeClr val="lt1"/>
        </a:fontRef>
      </dsp:style>
    </dsp:sp>
    <dsp:sp modelId="{64024EA2-9383-4C35-9200-8ECB34482195}">
      <dsp:nvSpPr>
        <dsp:cNvPr id="0" name=""/>
        <dsp:cNvSpPr/>
      </dsp:nvSpPr>
      <dsp:spPr>
        <a:xfrm>
          <a:off x="1656138" y="3188460"/>
          <a:ext cx="8836297" cy="359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Avoiding Negative Habits</a:t>
          </a:r>
        </a:p>
      </dsp:txBody>
      <dsp:txXfrm>
        <a:off x="1656138" y="3188460"/>
        <a:ext cx="8836297" cy="359295"/>
      </dsp:txXfrm>
    </dsp:sp>
    <dsp:sp modelId="{3E477D8E-8745-4EAC-8EA4-D9BEF667A9C5}">
      <dsp:nvSpPr>
        <dsp:cNvPr id="0" name=""/>
        <dsp:cNvSpPr/>
      </dsp:nvSpPr>
      <dsp:spPr>
        <a:xfrm>
          <a:off x="1656138" y="3547755"/>
          <a:ext cx="8836297" cy="1116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Avoiding fidgeting and distracted movements helps maintain a professional and focused demeanor.</a:t>
          </a:r>
        </a:p>
      </dsp:txBody>
      <dsp:txXfrm>
        <a:off x="1656138" y="3547755"/>
        <a:ext cx="8836297" cy="1116843"/>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1F878C-95CE-474B-9E0F-7F9DA34CFAD0}" type="datetimeFigureOut">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70470E-ADA1-426F-95CF-1EC95AAA4AFF}" type="slidenum">
              <a:t>‹#›</a:t>
            </a:fld>
            <a:endParaRPr lang="en-US"/>
          </a:p>
        </p:txBody>
      </p:sp>
    </p:spTree>
    <p:extLst>
      <p:ext uri="{BB962C8B-B14F-4D97-AF65-F5344CB8AC3E}">
        <p14:creationId xmlns:p14="http://schemas.microsoft.com/office/powerpoint/2010/main" val="4269974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Interviews are your opportunity to showcase your strengths, experiences, and personality in a way that connects with employers. In this session, we’ll explore what makes a strong interview, learn proven techniques like the S.T.A.R. method, and practice strategies to handle both common and challenging questions. By the end, you’ll feel more confident and prepared to present yourself effectively in any interview setting.
</a:t>
            </a:r>
          </a:p>
        </p:txBody>
      </p:sp>
      <p:sp>
        <p:nvSpPr>
          <p:cNvPr id="4" name="Slide Number Placeholder 3"/>
          <p:cNvSpPr>
            <a:spLocks noGrp="1"/>
          </p:cNvSpPr>
          <p:nvPr>
            <p:ph type="sldNum" sz="quarter" idx="5"/>
          </p:nvPr>
        </p:nvSpPr>
        <p:spPr/>
        <p:txBody>
          <a:bodyPr/>
          <a:lstStyle/>
          <a:p>
            <a:fld id="{7C58C2E5-9AB0-426A-A90A-8F16FA2095F5}" type="slidenum">
              <a:t>1</a:t>
            </a:fld>
            <a:endParaRPr lang="en-US"/>
          </a:p>
        </p:txBody>
      </p:sp>
    </p:spTree>
    <p:extLst>
      <p:ext uri="{BB962C8B-B14F-4D97-AF65-F5344CB8AC3E}">
        <p14:creationId xmlns:p14="http://schemas.microsoft.com/office/powerpoint/2010/main" val="3968792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‘Sell This Object’ activity mirrors the dynamics of an interview because both require quick thinking, clear communication, and persuasive reasoning. In an interview, you often need to present your skills and experiences in a way that makes you stand out—similar to pitching an ordinary object as something valuable or unique. This exercise challenges you to think creatively under time constraints, adapt your message to your audience, and confidently articulate ideas, all of which are essential skills for handling unexpected or unconventional interview questions.”</a:t>
            </a:r>
          </a:p>
        </p:txBody>
      </p:sp>
      <p:sp>
        <p:nvSpPr>
          <p:cNvPr id="4" name="Slide Number Placeholder 3"/>
          <p:cNvSpPr>
            <a:spLocks noGrp="1"/>
          </p:cNvSpPr>
          <p:nvPr>
            <p:ph type="sldNum" sz="quarter" idx="5"/>
          </p:nvPr>
        </p:nvSpPr>
        <p:spPr/>
        <p:txBody>
          <a:bodyPr/>
          <a:lstStyle/>
          <a:p>
            <a:fld id="{5A70470E-ADA1-426F-95CF-1EC95AAA4AFF}" type="slidenum">
              <a:rPr lang="en-US" smtClean="0"/>
              <a:t>2</a:t>
            </a:fld>
            <a:endParaRPr lang="en-US"/>
          </a:p>
        </p:txBody>
      </p:sp>
    </p:spTree>
    <p:extLst>
      <p:ext uri="{BB962C8B-B14F-4D97-AF65-F5344CB8AC3E}">
        <p14:creationId xmlns:p14="http://schemas.microsoft.com/office/powerpoint/2010/main" val="1845726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an Interview?, Interviewing is a Skill
</a:t>
            </a:r>
          </a:p>
        </p:txBody>
      </p:sp>
      <p:sp>
        <p:nvSpPr>
          <p:cNvPr id="4" name="Slide Number Placeholder 3"/>
          <p:cNvSpPr>
            <a:spLocks noGrp="1"/>
          </p:cNvSpPr>
          <p:nvPr>
            <p:ph type="sldNum" sz="quarter" idx="5"/>
          </p:nvPr>
        </p:nvSpPr>
        <p:spPr/>
        <p:txBody>
          <a:bodyPr/>
          <a:lstStyle/>
          <a:p>
            <a:fld id="{7C58C2E5-9AB0-426A-A90A-8F16FA2095F5}" type="slidenum">
              <a:t>3</a:t>
            </a:fld>
            <a:endParaRPr lang="en-US"/>
          </a:p>
        </p:txBody>
      </p:sp>
    </p:spTree>
    <p:extLst>
      <p:ext uri="{BB962C8B-B14F-4D97-AF65-F5344CB8AC3E}">
        <p14:creationId xmlns:p14="http://schemas.microsoft.com/office/powerpoint/2010/main" val="62029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interview is a structured conversation between a job seeker and an employer, designed to assess mutual fit, skills, and readiness for a role. It is a two-way street where both parties evaluate each other. For the employer, it’s an opportunity to determine if the candidate aligns with the company’s culture and job requirements. For the candidate, it’s a chance to showcase qualifications, ask questions, and assess whether the organization meets their career goals. Interviews can be conducted in various formats including in-person, phone, video, or panel settings. Understanding the purpose and structure of interviews helps candidates prepare effectively and approach the experience with confidence.
</a:t>
            </a:r>
          </a:p>
        </p:txBody>
      </p:sp>
      <p:sp>
        <p:nvSpPr>
          <p:cNvPr id="4" name="Slide Number Placeholder 3"/>
          <p:cNvSpPr>
            <a:spLocks noGrp="1"/>
          </p:cNvSpPr>
          <p:nvPr>
            <p:ph type="sldNum" sz="quarter" idx="5"/>
          </p:nvPr>
        </p:nvSpPr>
        <p:spPr/>
        <p:txBody>
          <a:bodyPr/>
          <a:lstStyle/>
          <a:p>
            <a:fld id="{7C58C2E5-9AB0-426A-A90A-8F16FA2095F5}" type="slidenum">
              <a:t>4</a:t>
            </a:fld>
            <a:endParaRPr lang="en-US"/>
          </a:p>
        </p:txBody>
      </p:sp>
    </p:spTree>
    <p:extLst>
      <p:ext uri="{BB962C8B-B14F-4D97-AF65-F5344CB8AC3E}">
        <p14:creationId xmlns:p14="http://schemas.microsoft.com/office/powerpoint/2010/main" val="3732391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Interviewing is a skill that improves with practice, much like riding a bike. The more one engages in mock interviews, prepares responses, and reflects on performance, the more confident and effective they become. Nervousness is natural, especially when the stakes are high, but preparation can significantly reduce anxiety. Candidates should view each interview as a learning opportunity, refining their approach and gaining insights into employer expectations. Practicing with peers, using feedback rubrics, and simulating real interview environments are essential strategies for building interview competence.
</a:t>
            </a:r>
          </a:p>
        </p:txBody>
      </p:sp>
      <p:sp>
        <p:nvSpPr>
          <p:cNvPr id="4" name="Slide Number Placeholder 3"/>
          <p:cNvSpPr>
            <a:spLocks noGrp="1"/>
          </p:cNvSpPr>
          <p:nvPr>
            <p:ph type="sldNum" sz="quarter" idx="5"/>
          </p:nvPr>
        </p:nvSpPr>
        <p:spPr/>
        <p:txBody>
          <a:bodyPr/>
          <a:lstStyle/>
          <a:p>
            <a:fld id="{7C58C2E5-9AB0-426A-A90A-8F16FA2095F5}" type="slidenum">
              <a:t>5</a:t>
            </a:fld>
            <a:endParaRPr lang="en-US"/>
          </a:p>
        </p:txBody>
      </p:sp>
    </p:spTree>
    <p:extLst>
      <p:ext uri="{BB962C8B-B14F-4D97-AF65-F5344CB8AC3E}">
        <p14:creationId xmlns:p14="http://schemas.microsoft.com/office/powerpoint/2010/main" val="358280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interview process typically consists of five key segments: preparation, beginning, middle, end, and follow-up. Preparation involves researching the employer, reviewing the job description, and practicing responses. The beginning sets the tone with greetings and introductions. The middle includes the core of the conversation, where questions are asked and answered. The end wraps up with final questions and expressions of interest. Follow-up involves sending a thank-you note and reflecting on the experience. Understanding this structure helps candidates navigate interviews with clarity and purpose.
</a:t>
            </a:r>
          </a:p>
        </p:txBody>
      </p:sp>
      <p:sp>
        <p:nvSpPr>
          <p:cNvPr id="4" name="Slide Number Placeholder 3"/>
          <p:cNvSpPr>
            <a:spLocks noGrp="1"/>
          </p:cNvSpPr>
          <p:nvPr>
            <p:ph type="sldNum" sz="quarter" idx="5"/>
          </p:nvPr>
        </p:nvSpPr>
        <p:spPr/>
        <p:txBody>
          <a:bodyPr/>
          <a:lstStyle/>
          <a:p>
            <a:fld id="{7C58C2E5-9AB0-426A-A90A-8F16FA2095F5}" type="slidenum">
              <a:t>6</a:t>
            </a:fld>
            <a:endParaRPr lang="en-US"/>
          </a:p>
        </p:txBody>
      </p:sp>
    </p:spTree>
    <p:extLst>
      <p:ext uri="{BB962C8B-B14F-4D97-AF65-F5344CB8AC3E}">
        <p14:creationId xmlns:p14="http://schemas.microsoft.com/office/powerpoint/2010/main" val="1199871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
</a:t>
            </a:r>
          </a:p>
        </p:txBody>
      </p:sp>
      <p:sp>
        <p:nvSpPr>
          <p:cNvPr id="4" name="Slide Number Placeholder 3"/>
          <p:cNvSpPr>
            <a:spLocks noGrp="1"/>
          </p:cNvSpPr>
          <p:nvPr>
            <p:ph type="sldNum" sz="quarter" idx="5"/>
          </p:nvPr>
        </p:nvSpPr>
        <p:spPr/>
        <p:txBody>
          <a:bodyPr/>
          <a:lstStyle/>
          <a:p>
            <a:fld id="{7C58C2E5-9AB0-426A-A90A-8F16FA2095F5}" type="slidenum">
              <a:t>7</a:t>
            </a:fld>
            <a:endParaRPr lang="en-US"/>
          </a:p>
        </p:txBody>
      </p:sp>
    </p:spTree>
    <p:extLst>
      <p:ext uri="{BB962C8B-B14F-4D97-AF65-F5344CB8AC3E}">
        <p14:creationId xmlns:p14="http://schemas.microsoft.com/office/powerpoint/2010/main" val="1768762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Effective preparation includes researching the employer’s mission, culture, and recent news; reviewing the job description to understand required skills; practicing common interview questions; planning professional attire; and preparing thoughtful questions to ask the employer. Candidates should also ensure they get adequate rest before the interview and arrive early. These steps demonstrate professionalism and genuine interest in the role, setting a positive tone for the interview.
</a:t>
            </a:r>
          </a:p>
        </p:txBody>
      </p:sp>
      <p:sp>
        <p:nvSpPr>
          <p:cNvPr id="4" name="Slide Number Placeholder 3"/>
          <p:cNvSpPr>
            <a:spLocks noGrp="1"/>
          </p:cNvSpPr>
          <p:nvPr>
            <p:ph type="sldNum" sz="quarter" idx="5"/>
          </p:nvPr>
        </p:nvSpPr>
        <p:spPr/>
        <p:txBody>
          <a:bodyPr/>
          <a:lstStyle/>
          <a:p>
            <a:fld id="{7C58C2E5-9AB0-426A-A90A-8F16FA2095F5}" type="slidenum">
              <a:t>8</a:t>
            </a:fld>
            <a:endParaRPr lang="en-US"/>
          </a:p>
        </p:txBody>
      </p:sp>
    </p:spTree>
    <p:extLst>
      <p:ext uri="{BB962C8B-B14F-4D97-AF65-F5344CB8AC3E}">
        <p14:creationId xmlns:p14="http://schemas.microsoft.com/office/powerpoint/2010/main" val="14454501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Researching the employer involves understanding the company’s purpose, goals, products, services, and culture. Candidates should visit the company website, read news articles, and familiarize themselves with the job role and interviewers. This preparation enables candidates to tailor their responses, ask insightful questions, and demonstrate genuine interest. Employers appreciate candidates who take the time to learn about the organization, as it reflects initiative and enthusiasm.
</a:t>
            </a:r>
          </a:p>
        </p:txBody>
      </p:sp>
      <p:sp>
        <p:nvSpPr>
          <p:cNvPr id="4" name="Slide Number Placeholder 3"/>
          <p:cNvSpPr>
            <a:spLocks noGrp="1"/>
          </p:cNvSpPr>
          <p:nvPr>
            <p:ph type="sldNum" sz="quarter" idx="5"/>
          </p:nvPr>
        </p:nvSpPr>
        <p:spPr/>
        <p:txBody>
          <a:bodyPr/>
          <a:lstStyle/>
          <a:p>
            <a:fld id="{7C58C2E5-9AB0-426A-A90A-8F16FA2095F5}" type="slidenum">
              <a:t>9</a:t>
            </a:fld>
            <a:endParaRPr lang="en-US"/>
          </a:p>
        </p:txBody>
      </p:sp>
    </p:spTree>
    <p:extLst>
      <p:ext uri="{BB962C8B-B14F-4D97-AF65-F5344CB8AC3E}">
        <p14:creationId xmlns:p14="http://schemas.microsoft.com/office/powerpoint/2010/main" val="2600659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7C58C2E5-9AB0-426A-A90A-8F16FA2095F5}" type="slidenum">
              <a:t>10</a:t>
            </a:fld>
            <a:endParaRPr lang="en-US"/>
          </a:p>
        </p:txBody>
      </p:sp>
    </p:spTree>
    <p:extLst>
      <p:ext uri="{BB962C8B-B14F-4D97-AF65-F5344CB8AC3E}">
        <p14:creationId xmlns:p14="http://schemas.microsoft.com/office/powerpoint/2010/main" val="1171834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Dressing appropriately for an interview communicates professionalism, confidence, and respect for the opportunity. Candidates should wear attire that aligns with the company’s culture, ensuring cleanliness, neat grooming, and minimal accessories. The goal is to present oneself as a qualified and serious candidate. Reviewing a dress checklist and understanding expectations for different industries can help candidates make informed choices about their interview attire.
</a:t>
            </a:r>
          </a:p>
        </p:txBody>
      </p:sp>
      <p:sp>
        <p:nvSpPr>
          <p:cNvPr id="4" name="Slide Number Placeholder 3"/>
          <p:cNvSpPr>
            <a:spLocks noGrp="1"/>
          </p:cNvSpPr>
          <p:nvPr>
            <p:ph type="sldNum" sz="quarter" idx="5"/>
          </p:nvPr>
        </p:nvSpPr>
        <p:spPr/>
        <p:txBody>
          <a:bodyPr/>
          <a:lstStyle/>
          <a:p>
            <a:fld id="{7C58C2E5-9AB0-426A-A90A-8F16FA2095F5}" type="slidenum">
              <a:t>11</a:t>
            </a:fld>
            <a:endParaRPr lang="en-US"/>
          </a:p>
        </p:txBody>
      </p:sp>
    </p:spTree>
    <p:extLst>
      <p:ext uri="{BB962C8B-B14F-4D97-AF65-F5344CB8AC3E}">
        <p14:creationId xmlns:p14="http://schemas.microsoft.com/office/powerpoint/2010/main" val="1923341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70470E-ADA1-426F-95CF-1EC95AAA4AFF}" type="slidenum">
              <a:rPr lang="en-US" smtClean="0"/>
              <a:t>12</a:t>
            </a:fld>
            <a:endParaRPr lang="en-US"/>
          </a:p>
        </p:txBody>
      </p:sp>
    </p:spTree>
    <p:extLst>
      <p:ext uri="{BB962C8B-B14F-4D97-AF65-F5344CB8AC3E}">
        <p14:creationId xmlns:p14="http://schemas.microsoft.com/office/powerpoint/2010/main" val="22882036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Non-verbal communication plays a crucial role in interviews. Positive body language includes smiling, maintaining eye contact, sitting up straight, avoiding fidgeting, and using confident gestures. Leaning slightly forward shows engagement, while assertive posture conveys confidence. Candidates should be mindful of their body language throughout the interview, as it complements verbal responses and influences the interviewer’s perception.
</a:t>
            </a:r>
          </a:p>
        </p:txBody>
      </p:sp>
      <p:sp>
        <p:nvSpPr>
          <p:cNvPr id="4" name="Slide Number Placeholder 3"/>
          <p:cNvSpPr>
            <a:spLocks noGrp="1"/>
          </p:cNvSpPr>
          <p:nvPr>
            <p:ph type="sldNum" sz="quarter" idx="5"/>
          </p:nvPr>
        </p:nvSpPr>
        <p:spPr/>
        <p:txBody>
          <a:bodyPr/>
          <a:lstStyle/>
          <a:p>
            <a:fld id="{7C58C2E5-9AB0-426A-A90A-8F16FA2095F5}" type="slidenum">
              <a:t>13</a:t>
            </a:fld>
            <a:endParaRPr lang="en-US"/>
          </a:p>
        </p:txBody>
      </p:sp>
    </p:spTree>
    <p:extLst>
      <p:ext uri="{BB962C8B-B14F-4D97-AF65-F5344CB8AC3E}">
        <p14:creationId xmlns:p14="http://schemas.microsoft.com/office/powerpoint/2010/main" val="97468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interview tips include arriving early, being polite to everyone, shaking hands firmly, bringing copies of your resume, and using assertive body language. Candidates should introduce themselves confidently, maintain good eye contact, and express enthusiasm for the opportunity. These behaviors create a positive first impression and set the stage for a successful interview.
</a:t>
            </a:r>
          </a:p>
        </p:txBody>
      </p:sp>
      <p:sp>
        <p:nvSpPr>
          <p:cNvPr id="4" name="Slide Number Placeholder 3"/>
          <p:cNvSpPr>
            <a:spLocks noGrp="1"/>
          </p:cNvSpPr>
          <p:nvPr>
            <p:ph type="sldNum" sz="quarter" idx="5"/>
          </p:nvPr>
        </p:nvSpPr>
        <p:spPr/>
        <p:txBody>
          <a:bodyPr/>
          <a:lstStyle/>
          <a:p>
            <a:fld id="{7C58C2E5-9AB0-426A-A90A-8F16FA2095F5}" type="slidenum">
              <a:t>15</a:t>
            </a:fld>
            <a:endParaRPr lang="en-US"/>
          </a:p>
        </p:txBody>
      </p:sp>
    </p:spTree>
    <p:extLst>
      <p:ext uri="{BB962C8B-B14F-4D97-AF65-F5344CB8AC3E}">
        <p14:creationId xmlns:p14="http://schemas.microsoft.com/office/powerpoint/2010/main" val="844049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Answering Questions: STAR Method, Questions to Ask Employers, During and Ending the Interview
</a:t>
            </a:r>
          </a:p>
        </p:txBody>
      </p:sp>
      <p:sp>
        <p:nvSpPr>
          <p:cNvPr id="4" name="Slide Number Placeholder 3"/>
          <p:cNvSpPr>
            <a:spLocks noGrp="1"/>
          </p:cNvSpPr>
          <p:nvPr>
            <p:ph type="sldNum" sz="quarter" idx="5"/>
          </p:nvPr>
        </p:nvSpPr>
        <p:spPr/>
        <p:txBody>
          <a:bodyPr/>
          <a:lstStyle/>
          <a:p>
            <a:fld id="{7C58C2E5-9AB0-426A-A90A-8F16FA2095F5}" type="slidenum">
              <a:t>16</a:t>
            </a:fld>
            <a:endParaRPr lang="en-US"/>
          </a:p>
        </p:txBody>
      </p:sp>
    </p:spTree>
    <p:extLst>
      <p:ext uri="{BB962C8B-B14F-4D97-AF65-F5344CB8AC3E}">
        <p14:creationId xmlns:p14="http://schemas.microsoft.com/office/powerpoint/2010/main" val="3684919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slide breaks down the structured approach for answering behavioral interview questions using STAR. Emphasize that each step should be specific and detailed:</a:t>
            </a:r>
          </a:p>
          <a:p>
            <a:pPr>
              <a:buFont typeface="Arial" panose="020B0604020202020204" pitchFamily="34" charset="0"/>
              <a:buChar char="•"/>
            </a:pPr>
            <a:r>
              <a:rPr lang="en-US" b="1" dirty="0"/>
              <a:t>Situation or Task:</a:t>
            </a:r>
            <a:r>
              <a:rPr lang="en-US" dirty="0"/>
              <a:t> Encourage students to set the scene clearly. Stress that they should describe a real event, not a general statement, and avoid overly personal examples.</a:t>
            </a:r>
          </a:p>
          <a:p>
            <a:pPr>
              <a:buFont typeface="Arial" panose="020B0604020202020204" pitchFamily="34" charset="0"/>
              <a:buChar char="•"/>
            </a:pPr>
            <a:r>
              <a:rPr lang="en-US" b="1" dirty="0"/>
              <a:t>Action You Took:</a:t>
            </a:r>
            <a:r>
              <a:rPr lang="en-US" dirty="0"/>
              <a:t> Highlight that the focus must be on what </a:t>
            </a:r>
            <a:r>
              <a:rPr lang="en-US" i="1" dirty="0"/>
              <a:t>they</a:t>
            </a:r>
            <a:r>
              <a:rPr lang="en-US" dirty="0"/>
              <a:t> did, even in team settings. Remind them to use past tense and avoid hypothetical answers.</a:t>
            </a:r>
          </a:p>
          <a:p>
            <a:pPr>
              <a:buFont typeface="Arial" panose="020B0604020202020204" pitchFamily="34" charset="0"/>
              <a:buChar char="•"/>
            </a:pPr>
            <a:r>
              <a:rPr lang="en-US" b="1" dirty="0"/>
              <a:t>Results You Achieved:</a:t>
            </a:r>
            <a:r>
              <a:rPr lang="en-US" dirty="0"/>
              <a:t> Point out that this is where they show impact—what happened, what they accomplished, and what they learned.</a:t>
            </a:r>
          </a:p>
          <a:p>
            <a:pPr>
              <a:buFont typeface="Arial" panose="020B0604020202020204" pitchFamily="34" charset="0"/>
              <a:buChar char="•"/>
            </a:pPr>
            <a:r>
              <a:rPr lang="en-US" b="1" dirty="0"/>
              <a:t>Why Use It:</a:t>
            </a:r>
            <a:r>
              <a:rPr lang="en-US" dirty="0"/>
              <a:t> Reinforce that STAR helps create clear, focused answers that demonstrate problem-solving and decision-making skills.</a:t>
            </a:r>
          </a:p>
          <a:p>
            <a:pPr>
              <a:buFont typeface="Arial" panose="020B0604020202020204" pitchFamily="34" charset="0"/>
              <a:buChar char="•"/>
            </a:pPr>
            <a:endParaRPr lang="en-US" dirty="0"/>
          </a:p>
          <a:p>
            <a:pPr algn="l" latinLnBrk="0"/>
            <a:r>
              <a:rPr lang="en-US" b="0" i="0" dirty="0">
                <a:solidFill>
                  <a:srgbClr val="333333"/>
                </a:solidFill>
                <a:effectLst/>
                <a:latin typeface="Roboto" panose="02000000000000000000" pitchFamily="2" charset="0"/>
              </a:rPr>
              <a:t>It is always a good idea to have your result lead to a good outcome.  If, for some reason, the outcome was bad, be sure to point out that you learned from what you did and that you know not to do that particular action again. </a:t>
            </a:r>
          </a:p>
          <a:p>
            <a:pPr algn="l" latinLnBrk="0"/>
            <a:r>
              <a:rPr lang="en-US" b="0" i="0" dirty="0">
                <a:solidFill>
                  <a:srgbClr val="333333"/>
                </a:solidFill>
                <a:effectLst/>
                <a:latin typeface="Roboto" panose="02000000000000000000" pitchFamily="2" charset="0"/>
              </a:rPr>
              <a:t>For example..."What I have learned is in the future __________ is how I will react.  I now know how to respond properly".</a:t>
            </a:r>
          </a:p>
          <a:p>
            <a:pPr algn="l" latinLnBrk="0"/>
            <a:r>
              <a:rPr lang="en-US" b="0" i="0" dirty="0">
                <a:solidFill>
                  <a:srgbClr val="333333"/>
                </a:solidFill>
                <a:effectLst/>
                <a:latin typeface="Roboto" panose="02000000000000000000" pitchFamily="2" charset="0"/>
              </a:rPr>
              <a:t>Invite students to share quick examples for each step to make the concept practical. </a:t>
            </a:r>
          </a:p>
          <a:p>
            <a:pPr algn="l" latinLnBrk="0"/>
            <a:endParaRPr lang="en-US" b="0" i="0" dirty="0">
              <a:solidFill>
                <a:srgbClr val="333333"/>
              </a:solidFill>
              <a:effectLst/>
              <a:latin typeface="Roboto" panose="02000000000000000000" pitchFamily="2"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5A70470E-ADA1-426F-95CF-1EC95AAA4AFF}" type="slidenum">
              <a:rPr lang="en-US" smtClean="0"/>
              <a:t>17</a:t>
            </a:fld>
            <a:endParaRPr lang="en-US"/>
          </a:p>
        </p:txBody>
      </p:sp>
    </p:spTree>
    <p:extLst>
      <p:ext uri="{BB962C8B-B14F-4D97-AF65-F5344CB8AC3E}">
        <p14:creationId xmlns:p14="http://schemas.microsoft.com/office/powerpoint/2010/main" val="36774193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70470E-ADA1-426F-95CF-1EC95AAA4AFF}" type="slidenum">
              <a:rPr lang="en-US" smtClean="0"/>
              <a:t>19</a:t>
            </a:fld>
            <a:endParaRPr lang="en-US"/>
          </a:p>
        </p:txBody>
      </p:sp>
    </p:spTree>
    <p:extLst>
      <p:ext uri="{BB962C8B-B14F-4D97-AF65-F5344CB8AC3E}">
        <p14:creationId xmlns:p14="http://schemas.microsoft.com/office/powerpoint/2010/main" val="1734697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students to review the previous slides that explain the S.T.A.R. method in detail. Remind them that STAR stands for </a:t>
            </a:r>
            <a:r>
              <a:rPr lang="en-US" b="1" dirty="0"/>
              <a:t>Situation, Task, Action, Result</a:t>
            </a:r>
            <a:r>
              <a:rPr lang="en-US" dirty="0"/>
              <a:t>, and each part helps structure clear, impactful answers. Explain that the worksheet is designed to help them practice applying this technique to real interview questions. Encourage them to take their time, think of specific examples from past experiences, and write responses that follow the STAR format. Walk around to provide support and answer questions as they work.</a:t>
            </a:r>
          </a:p>
        </p:txBody>
      </p:sp>
      <p:sp>
        <p:nvSpPr>
          <p:cNvPr id="4" name="Slide Number Placeholder 3"/>
          <p:cNvSpPr>
            <a:spLocks noGrp="1"/>
          </p:cNvSpPr>
          <p:nvPr>
            <p:ph type="sldNum" sz="quarter" idx="5"/>
          </p:nvPr>
        </p:nvSpPr>
        <p:spPr/>
        <p:txBody>
          <a:bodyPr/>
          <a:lstStyle/>
          <a:p>
            <a:fld id="{5A70470E-ADA1-426F-95CF-1EC95AAA4AFF}" type="slidenum">
              <a:rPr lang="en-US" smtClean="0"/>
              <a:t>20</a:t>
            </a:fld>
            <a:endParaRPr lang="en-US"/>
          </a:p>
        </p:txBody>
      </p:sp>
    </p:spTree>
    <p:extLst>
      <p:ext uri="{BB962C8B-B14F-4D97-AF65-F5344CB8AC3E}">
        <p14:creationId xmlns:p14="http://schemas.microsoft.com/office/powerpoint/2010/main" val="19541239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https://wvk12-my.sharepoint.com/personal/jcantrel_wvesc_org/_layouts/15/Doc.aspx?sourcedoc=%7BB746C65F-8720-46E1-82CF-FFB36D583398%7D&amp;file=Interviews%20(2).pptx&amp;action=edit&amp;mobileredirect=true
At the end of an interview, candidates are often invited to ask questions. Thoughtful questions demonstrate interest and preparation. Examples include: 'What does success look like in this role?', 'How would you describe the team culture?', and 'What are the next steps in the hiring process?'. These questions should be based on prior research and tailored to the specific role and organization.
</a:t>
            </a:r>
          </a:p>
        </p:txBody>
      </p:sp>
      <p:sp>
        <p:nvSpPr>
          <p:cNvPr id="4" name="Slide Number Placeholder 3"/>
          <p:cNvSpPr>
            <a:spLocks noGrp="1"/>
          </p:cNvSpPr>
          <p:nvPr>
            <p:ph type="sldNum" sz="quarter" idx="5"/>
          </p:nvPr>
        </p:nvSpPr>
        <p:spPr/>
        <p:txBody>
          <a:bodyPr/>
          <a:lstStyle/>
          <a:p>
            <a:fld id="{7C58C2E5-9AB0-426A-A90A-8F16FA2095F5}" type="slidenum">
              <a:t>21</a:t>
            </a:fld>
            <a:endParaRPr lang="en-US"/>
          </a:p>
        </p:txBody>
      </p:sp>
    </p:spTree>
    <p:extLst>
      <p:ext uri="{BB962C8B-B14F-4D97-AF65-F5344CB8AC3E}">
        <p14:creationId xmlns:p14="http://schemas.microsoft.com/office/powerpoint/2010/main" val="1623913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https://wvk12-my.sharepoint.com/personal/jcantrel_wvesc_org/_layouts/15/Doc.aspx?sourcedoc=%7BB746C65F-8720-46E1-82CF-FFB36D583398%7D&amp;file=Interviews%20(2).pptx&amp;action=edit&amp;mobileredirect=true
During the interview, candidates should maintain good posture, stay positive, organize thoughts before responding, refer to their resume or portfolio, and express a willingness to learn. At the end, they should ask prepared questions, thank the interviewer, smile, and shake hands. These actions leave a lasting impression and reinforce the candidate’s professionalism and enthusiasm.
</a:t>
            </a:r>
          </a:p>
        </p:txBody>
      </p:sp>
      <p:sp>
        <p:nvSpPr>
          <p:cNvPr id="4" name="Slide Number Placeholder 3"/>
          <p:cNvSpPr>
            <a:spLocks noGrp="1"/>
          </p:cNvSpPr>
          <p:nvPr>
            <p:ph type="sldNum" sz="quarter" idx="5"/>
          </p:nvPr>
        </p:nvSpPr>
        <p:spPr/>
        <p:txBody>
          <a:bodyPr/>
          <a:lstStyle/>
          <a:p>
            <a:fld id="{7C58C2E5-9AB0-426A-A90A-8F16FA2095F5}" type="slidenum">
              <a:t>23</a:t>
            </a:fld>
            <a:endParaRPr lang="en-US"/>
          </a:p>
        </p:txBody>
      </p:sp>
    </p:spTree>
    <p:extLst>
      <p:ext uri="{BB962C8B-B14F-4D97-AF65-F5344CB8AC3E}">
        <p14:creationId xmlns:p14="http://schemas.microsoft.com/office/powerpoint/2010/main" val="18988242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https://wvk12-my.sharepoint.com/personal/jcantrel_wvesc_org/_layouts/15/Doc.aspx?sourcedoc=%7BB746C65F-8720-46E1-82CF-FFB36D583398%7D&amp;file=Interviews%20(2).pptx&amp;action=edit&amp;mobileredirect=true
Mock Interview Practice, Elevator Pitch Activity, Follow-Up Etiquette
</a:t>
            </a:r>
          </a:p>
        </p:txBody>
      </p:sp>
      <p:sp>
        <p:nvSpPr>
          <p:cNvPr id="4" name="Slide Number Placeholder 3"/>
          <p:cNvSpPr>
            <a:spLocks noGrp="1"/>
          </p:cNvSpPr>
          <p:nvPr>
            <p:ph type="sldNum" sz="quarter" idx="5"/>
          </p:nvPr>
        </p:nvSpPr>
        <p:spPr/>
        <p:txBody>
          <a:bodyPr/>
          <a:lstStyle/>
          <a:p>
            <a:fld id="{7C58C2E5-9AB0-426A-A90A-8F16FA2095F5}" type="slidenum">
              <a:t>24</a:t>
            </a:fld>
            <a:endParaRPr lang="en-US"/>
          </a:p>
        </p:txBody>
      </p:sp>
    </p:spTree>
    <p:extLst>
      <p:ext uri="{BB962C8B-B14F-4D97-AF65-F5344CB8AC3E}">
        <p14:creationId xmlns:p14="http://schemas.microsoft.com/office/powerpoint/2010/main" val="9905726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https://wvk12-my.sharepoint.com/personal/jcantrel_wvesc_org/_layouts/15/Doc.aspx?sourcedoc=%7BB746C65F-8720-46E1-82CF-FFB36D583398%7D&amp;file=Interviews%20(2).pptx&amp;action=edit&amp;mobileredirect=true
Mock interviews are valuable for building confidence and refining skills. Candidates can pair up to practice, focusing on tone, clarity, and body language. Peer feedback should include two positives and one suggestion. Using rubrics and rotating partners enhances the learning experience. Simulating real interview settings prepares candidates for actual interviews and helps identify areas for improvement.
</a:t>
            </a:r>
          </a:p>
        </p:txBody>
      </p:sp>
      <p:sp>
        <p:nvSpPr>
          <p:cNvPr id="4" name="Slide Number Placeholder 3"/>
          <p:cNvSpPr>
            <a:spLocks noGrp="1"/>
          </p:cNvSpPr>
          <p:nvPr>
            <p:ph type="sldNum" sz="quarter" idx="5"/>
          </p:nvPr>
        </p:nvSpPr>
        <p:spPr/>
        <p:txBody>
          <a:bodyPr/>
          <a:lstStyle/>
          <a:p>
            <a:fld id="{7C58C2E5-9AB0-426A-A90A-8F16FA2095F5}" type="slidenum">
              <a:t>25</a:t>
            </a:fld>
            <a:endParaRPr lang="en-US"/>
          </a:p>
        </p:txBody>
      </p:sp>
    </p:spTree>
    <p:extLst>
      <p:ext uri="{BB962C8B-B14F-4D97-AF65-F5344CB8AC3E}">
        <p14:creationId xmlns:p14="http://schemas.microsoft.com/office/powerpoint/2010/main" val="12948278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70470E-ADA1-426F-95CF-1EC95AAA4AFF}" type="slidenum">
              <a:rPr lang="en-US" smtClean="0"/>
              <a:t>26</a:t>
            </a:fld>
            <a:endParaRPr lang="en-US"/>
          </a:p>
        </p:txBody>
      </p:sp>
    </p:spTree>
    <p:extLst>
      <p:ext uri="{BB962C8B-B14F-4D97-AF65-F5344CB8AC3E}">
        <p14:creationId xmlns:p14="http://schemas.microsoft.com/office/powerpoint/2010/main" val="25009643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https://wvk12-my.sharepoint.com/personal/jcantrel_wvesc_org/_layouts/15/Doc.aspx?sourcedoc=%7BB746C65F-8720-46E1-82CF-FFB36D583398%7D&amp;file=Interviews%20(2).pptx&amp;action=edit&amp;mobileredirect=true
Following up after an interview is essential. Candidates should send a thank-you note within 24 hours, expressing appreciation and reiterating interest. The note can be handwritten or emailed and should be tailored to the specific interviewer. Reflecting on the interview helps identify strengths and areas for improvement. If no response is received, a polite follow-up call after a week is appropriate to inquire about the hiring decision.
</a:t>
            </a:r>
          </a:p>
        </p:txBody>
      </p:sp>
      <p:sp>
        <p:nvSpPr>
          <p:cNvPr id="4" name="Slide Number Placeholder 3"/>
          <p:cNvSpPr>
            <a:spLocks noGrp="1"/>
          </p:cNvSpPr>
          <p:nvPr>
            <p:ph type="sldNum" sz="quarter" idx="5"/>
          </p:nvPr>
        </p:nvSpPr>
        <p:spPr/>
        <p:txBody>
          <a:bodyPr/>
          <a:lstStyle/>
          <a:p>
            <a:fld id="{7C58C2E5-9AB0-426A-A90A-8F16FA2095F5}" type="slidenum">
              <a:t>27</a:t>
            </a:fld>
            <a:endParaRPr lang="en-US"/>
          </a:p>
        </p:txBody>
      </p:sp>
    </p:spTree>
    <p:extLst>
      <p:ext uri="{BB962C8B-B14F-4D97-AF65-F5344CB8AC3E}">
        <p14:creationId xmlns:p14="http://schemas.microsoft.com/office/powerpoint/2010/main" val="37397606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Interviews are opportunities for growth and self-presentation. Preparation and practice build confidence and competence. Candidates should stay positive, persistent, and open to learning from each experience. Viewing interviews as a skill to be developed empowers job seekers to approach each opportunity with readiness and enthusiasm.
</a:t>
            </a:r>
          </a:p>
        </p:txBody>
      </p:sp>
      <p:sp>
        <p:nvSpPr>
          <p:cNvPr id="4" name="Slide Number Placeholder 3"/>
          <p:cNvSpPr>
            <a:spLocks noGrp="1"/>
          </p:cNvSpPr>
          <p:nvPr>
            <p:ph type="sldNum" sz="quarter" idx="5"/>
          </p:nvPr>
        </p:nvSpPr>
        <p:spPr/>
        <p:txBody>
          <a:bodyPr/>
          <a:lstStyle/>
          <a:p>
            <a:fld id="{7C58C2E5-9AB0-426A-A90A-8F16FA2095F5}" type="slidenum">
              <a:t>28</a:t>
            </a:fld>
            <a:endParaRPr lang="en-US"/>
          </a:p>
        </p:txBody>
      </p:sp>
    </p:spTree>
    <p:extLst>
      <p:ext uri="{BB962C8B-B14F-4D97-AF65-F5344CB8AC3E}">
        <p14:creationId xmlns:p14="http://schemas.microsoft.com/office/powerpoint/2010/main" val="9462707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002" y="105879"/>
            <a:ext cx="6933398" cy="3832346"/>
          </a:xfrm>
        </p:spPr>
        <p:txBody>
          <a:bodyPr vert="horz" lIns="91440" tIns="45720" rIns="91440" bIns="45720" rtlCol="0" anchor="t">
            <a:normAutofit/>
          </a:bodyPr>
          <a:lstStyle>
            <a:lvl1pPr>
              <a:lnSpc>
                <a:spcPct val="90000"/>
              </a:lnSpc>
              <a:defRPr lang="en-US" sz="6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37892"/>
            <a:ext cx="4184904" cy="91801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13" name="Freeform: Shape 12">
            <a:extLst>
              <a:ext uri="{FF2B5EF4-FFF2-40B4-BE49-F238E27FC236}">
                <a16:creationId xmlns:a16="http://schemas.microsoft.com/office/drawing/2014/main" id="{B7D523F3-FDC7-CB09-72C3-675307026069}"/>
              </a:ext>
              <a:ext uri="{C183D7F6-B498-43B3-948B-1728B52AA6E4}">
                <adec:decorative xmlns:adec="http://schemas.microsoft.com/office/drawing/2017/decorative" val="1"/>
              </a:ext>
            </a:extLst>
          </p:cNvPr>
          <p:cNvSpPr/>
          <p:nvPr/>
        </p:nvSpPr>
        <p:spPr>
          <a:xfrm>
            <a:off x="7693152" y="0"/>
            <a:ext cx="4498848" cy="6089904"/>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10">
            <a:extLst>
              <a:ext uri="{FF2B5EF4-FFF2-40B4-BE49-F238E27FC236}">
                <a16:creationId xmlns:a16="http://schemas.microsoft.com/office/drawing/2014/main" id="{47046596-FFEC-0663-2F9B-19F442C8D1F7}"/>
              </a:ext>
            </a:extLst>
          </p:cNvPr>
          <p:cNvSpPr>
            <a:spLocks noGrp="1"/>
          </p:cNvSpPr>
          <p:nvPr>
            <p:ph type="pic" sz="quarter" idx="13" hasCustomPrompt="1"/>
          </p:nvPr>
        </p:nvSpPr>
        <p:spPr>
          <a:xfrm>
            <a:off x="7681816" y="0"/>
            <a:ext cx="4510185" cy="6096000"/>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9971339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10706100" cy="68391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74654" y="1506872"/>
            <a:ext cx="10693446" cy="4665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94539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3860" y="1376413"/>
            <a:ext cx="3834793" cy="2697480"/>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3860" y="4073893"/>
            <a:ext cx="3599210" cy="1162250"/>
          </a:xfrm>
        </p:spPr>
        <p:txBody>
          <a:bodyPr vert="horz" lIns="91440" tIns="45720" rIns="91440" bIns="45720" rtlCol="0" anchor="ctr">
            <a:normAutofit/>
          </a:bodyPr>
          <a:lstStyle>
            <a:lvl1pPr marL="0" indent="0">
              <a:lnSpc>
                <a:spcPct val="100000"/>
              </a:lnSpc>
              <a:buNone/>
              <a:defRPr lang="en-US" sz="1600" dirty="0"/>
            </a:lvl1pPr>
          </a:lstStyle>
          <a:p>
            <a:pPr lvl="0"/>
            <a:r>
              <a:rPr lang="en-US"/>
              <a:t>Click to edit Master subtitle style</a:t>
            </a:r>
          </a:p>
        </p:txBody>
      </p:sp>
      <p:sp>
        <p:nvSpPr>
          <p:cNvPr id="8" name="Picture Placeholder 10">
            <a:extLst>
              <a:ext uri="{FF2B5EF4-FFF2-40B4-BE49-F238E27FC236}">
                <a16:creationId xmlns:a16="http://schemas.microsoft.com/office/drawing/2014/main" id="{51CC2D7F-4DE5-3D21-470F-8B959A5C44D8}"/>
              </a:ext>
            </a:extLst>
          </p:cNvPr>
          <p:cNvSpPr>
            <a:spLocks noGrp="1"/>
          </p:cNvSpPr>
          <p:nvPr>
            <p:ph type="pic" sz="quarter" idx="13" hasCustomPrompt="1"/>
          </p:nvPr>
        </p:nvSpPr>
        <p:spPr>
          <a:xfrm>
            <a:off x="0" y="0"/>
            <a:ext cx="7274402" cy="6096000"/>
          </a:xfrm>
          <a:custGeom>
            <a:avLst/>
            <a:gdLst>
              <a:gd name="connsiteX0" fmla="*/ 0 w 7274402"/>
              <a:gd name="connsiteY0" fmla="*/ 0 h 6096000"/>
              <a:gd name="connsiteX1" fmla="*/ 7274402 w 7274402"/>
              <a:gd name="connsiteY1" fmla="*/ 0 h 6096000"/>
              <a:gd name="connsiteX2" fmla="*/ 7274402 w 7274402"/>
              <a:gd name="connsiteY2" fmla="*/ 5598011 h 6096000"/>
              <a:gd name="connsiteX3" fmla="*/ 6779450 w 7274402"/>
              <a:gd name="connsiteY3" fmla="*/ 6096000 h 6096000"/>
              <a:gd name="connsiteX4" fmla="*/ 0 w 7274402"/>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4402" h="6096000">
                <a:moveTo>
                  <a:pt x="0" y="0"/>
                </a:moveTo>
                <a:lnTo>
                  <a:pt x="7274402" y="0"/>
                </a:lnTo>
                <a:lnTo>
                  <a:pt x="7274402" y="5598011"/>
                </a:lnTo>
                <a:cubicBezTo>
                  <a:pt x="7274402" y="5873043"/>
                  <a:pt x="7052804" y="6096000"/>
                  <a:pt x="6779450" y="6096000"/>
                </a:cubicBezTo>
                <a:lnTo>
                  <a:pt x="0" y="60960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9865566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093" y="190500"/>
            <a:ext cx="3923894" cy="2673696"/>
          </a:xfrm>
        </p:spPr>
        <p:txBody>
          <a:bodyPr vert="horz" lIns="91440" tIns="45720" rIns="91440" bIns="45720" rtlCol="0" anchor="t">
            <a:normAutofit/>
          </a:bodyPr>
          <a:lstStyle>
            <a:lvl1pPr>
              <a:lnSpc>
                <a:spcPct val="95000"/>
              </a:lnSpc>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73751"/>
            <a:ext cx="3277380" cy="122894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8" name="Picture Placeholder 7">
            <a:extLst>
              <a:ext uri="{FF2B5EF4-FFF2-40B4-BE49-F238E27FC236}">
                <a16:creationId xmlns:a16="http://schemas.microsoft.com/office/drawing/2014/main" id="{1E33A8AF-9A38-4027-A746-F135FF75F2EF}"/>
              </a:ext>
            </a:extLst>
          </p:cNvPr>
          <p:cNvSpPr>
            <a:spLocks noGrp="1"/>
          </p:cNvSpPr>
          <p:nvPr>
            <p:ph type="pic" sz="quarter" idx="13" hasCustomPrompt="1"/>
          </p:nvPr>
        </p:nvSpPr>
        <p:spPr>
          <a:xfrm>
            <a:off x="4743585" y="0"/>
            <a:ext cx="7448415" cy="6093762"/>
          </a:xfrm>
          <a:custGeom>
            <a:avLst/>
            <a:gdLst>
              <a:gd name="connsiteX0" fmla="*/ 0 w 7448415"/>
              <a:gd name="connsiteY0" fmla="*/ 0 h 6093762"/>
              <a:gd name="connsiteX1" fmla="*/ 7448415 w 7448415"/>
              <a:gd name="connsiteY1" fmla="*/ 0 h 6093762"/>
              <a:gd name="connsiteX2" fmla="*/ 7448415 w 7448415"/>
              <a:gd name="connsiteY2" fmla="*/ 6093762 h 6093762"/>
              <a:gd name="connsiteX3" fmla="*/ 501521 w 7448415"/>
              <a:gd name="connsiteY3" fmla="*/ 6093762 h 6093762"/>
              <a:gd name="connsiteX4" fmla="*/ 0 w 7448415"/>
              <a:gd name="connsiteY4" fmla="*/ 5592240 h 6093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8415" h="6093762">
                <a:moveTo>
                  <a:pt x="0" y="0"/>
                </a:moveTo>
                <a:lnTo>
                  <a:pt x="7448415" y="0"/>
                </a:lnTo>
                <a:lnTo>
                  <a:pt x="7448415" y="6093762"/>
                </a:lnTo>
                <a:lnTo>
                  <a:pt x="501521" y="6093762"/>
                </a:lnTo>
                <a:cubicBezTo>
                  <a:pt x="224538" y="6093762"/>
                  <a:pt x="0" y="5869223"/>
                  <a:pt x="0" y="5592240"/>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2000" y="6329172"/>
            <a:ext cx="2816835"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5136934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02936"/>
            <a:ext cx="10858500" cy="850392"/>
          </a:xfrm>
        </p:spPr>
        <p:txBody>
          <a:bodyPr vert="horz" lIns="91440" tIns="45720" rIns="91440" bIns="45720" rtlCol="0" anchor="b">
            <a:normAutofit/>
          </a:bodyPr>
          <a:lstStyle>
            <a:lvl1pPr>
              <a:lnSpc>
                <a:spcPct val="90000"/>
              </a:lnSpc>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80176"/>
            <a:ext cx="10858500" cy="419100"/>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9" name="Picture Placeholder 7">
            <a:extLst>
              <a:ext uri="{FF2B5EF4-FFF2-40B4-BE49-F238E27FC236}">
                <a16:creationId xmlns:a16="http://schemas.microsoft.com/office/drawing/2014/main" id="{5E742D34-DBD4-0DEA-071F-32C82E7EB45A}"/>
              </a:ext>
            </a:extLst>
          </p:cNvPr>
          <p:cNvSpPr>
            <a:spLocks noGrp="1"/>
          </p:cNvSpPr>
          <p:nvPr>
            <p:ph type="pic" sz="quarter" idx="13" hasCustomPrompt="1"/>
          </p:nvPr>
        </p:nvSpPr>
        <p:spPr>
          <a:xfrm>
            <a:off x="0" y="0"/>
            <a:ext cx="11468100" cy="5018448"/>
          </a:xfrm>
          <a:custGeom>
            <a:avLst/>
            <a:gdLst>
              <a:gd name="connsiteX0" fmla="*/ 0 w 11468100"/>
              <a:gd name="connsiteY0" fmla="*/ 0 h 5091600"/>
              <a:gd name="connsiteX1" fmla="*/ 11468100 w 11468100"/>
              <a:gd name="connsiteY1" fmla="*/ 0 h 5091600"/>
              <a:gd name="connsiteX2" fmla="*/ 11468100 w 11468100"/>
              <a:gd name="connsiteY2" fmla="*/ 4590078 h 5091600"/>
              <a:gd name="connsiteX3" fmla="*/ 10966578 w 11468100"/>
              <a:gd name="connsiteY3" fmla="*/ 5091600 h 5091600"/>
              <a:gd name="connsiteX4" fmla="*/ 0 w 11468100"/>
              <a:gd name="connsiteY4" fmla="*/ 5091600 h 509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5091600">
                <a:moveTo>
                  <a:pt x="0" y="0"/>
                </a:moveTo>
                <a:lnTo>
                  <a:pt x="11468100" y="0"/>
                </a:lnTo>
                <a:lnTo>
                  <a:pt x="11468100" y="4590078"/>
                </a:lnTo>
                <a:cubicBezTo>
                  <a:pt x="11468100" y="4867061"/>
                  <a:pt x="11243561" y="5091600"/>
                  <a:pt x="10966578" y="5091600"/>
                </a:cubicBezTo>
                <a:lnTo>
                  <a:pt x="0" y="50916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 y="6629400"/>
            <a:ext cx="2805405" cy="228600"/>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11240" y="6629400"/>
            <a:ext cx="2376928" cy="228600"/>
          </a:xfrm>
        </p:spPr>
        <p:txBody>
          <a:bodyPr/>
          <a:lstStyle>
            <a:lvl1pPr>
              <a:defRPr>
                <a:solidFill>
                  <a:schemeClr val="tx2"/>
                </a:solidFill>
                <a:effectLst/>
              </a:defRPr>
            </a:lvl1p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3193" y="6629400"/>
            <a:ext cx="429207" cy="228600"/>
          </a:xfrm>
        </p:spPr>
        <p:txBody>
          <a:bodyPr/>
          <a:lstStyle>
            <a:lvl1pPr>
              <a:defRPr>
                <a:solidFill>
                  <a:schemeClr val="tx2"/>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6236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2345" y="250257"/>
            <a:ext cx="9692640" cy="4602845"/>
          </a:xfrm>
        </p:spPr>
        <p:txBody>
          <a:bodyPr vert="horz" lIns="91440" tIns="45720" rIns="91440" bIns="45720" rtlCol="0" anchor="t">
            <a:normAutofit/>
          </a:bodyPr>
          <a:lstStyle>
            <a:lvl1pPr>
              <a:lnSpc>
                <a:spcPct val="90000"/>
              </a:lnSpc>
              <a:defRPr lang="en-US" sz="8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1999" y="5053094"/>
            <a:ext cx="5253789" cy="847192"/>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8587493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60321" y="1904300"/>
            <a:ext cx="7084194" cy="2353755"/>
          </a:xfrm>
        </p:spPr>
        <p:txBody>
          <a:bodyPr anchor="ctr">
            <a:normAutofit/>
          </a:bodyPr>
          <a:lstStyle>
            <a:lvl1pPr algn="ctr">
              <a:lnSpc>
                <a:spcPct val="80000"/>
              </a:lnSpc>
              <a:defRPr sz="60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262965" y="4597167"/>
            <a:ext cx="5678905" cy="1082180"/>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4741724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 y="131670"/>
            <a:ext cx="12120283" cy="5093208"/>
          </a:xfrm>
        </p:spPr>
        <p:txBody>
          <a:bodyPr vert="horz" lIns="91440" tIns="45720" rIns="91440" bIns="45720" rtlCol="0" anchor="t">
            <a:normAutofit/>
          </a:bodyPr>
          <a:lstStyle>
            <a:lvl1pPr>
              <a:lnSpc>
                <a:spcPct val="85000"/>
              </a:lnSpc>
              <a:defRPr lang="en-US" sz="12500" spc="-5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5356548"/>
            <a:ext cx="6414887" cy="748417"/>
          </a:xfrm>
        </p:spPr>
        <p:txBody>
          <a:bodyPr vert="horz" lIns="91440" tIns="45720" rIns="91440" bIns="45720" rtlCol="0" anchor="ctr">
            <a:normAutofit/>
          </a:bodyPr>
          <a:lstStyle>
            <a:lvl1pPr marL="0" indent="0">
              <a:buNone/>
              <a:defRPr lang="en-US" sz="16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5566482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13702" y="1940943"/>
            <a:ext cx="8771340" cy="4917058"/>
          </a:xfrm>
        </p:spPr>
        <p:txBody>
          <a:bodyPr anchor="b">
            <a:normAutofit/>
          </a:bodyPr>
          <a:lstStyle>
            <a:lvl1pPr>
              <a:lnSpc>
                <a:spcPct val="90000"/>
              </a:lnSpc>
              <a:defRPr sz="7000">
                <a:solidFill>
                  <a:schemeClr val="accent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762000" y="64008"/>
            <a:ext cx="2816835" cy="338328"/>
          </a:xfrm>
        </p:spPr>
        <p:txBody>
          <a:bodyPr/>
          <a:lstStyle>
            <a:lvl1pPr>
              <a:defRPr>
                <a:solidFill>
                  <a:schemeClr val="accent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9290304" y="64008"/>
            <a:ext cx="1612674" cy="338328"/>
          </a:xfrm>
        </p:spPr>
        <p:txBody>
          <a:bodyPr/>
          <a:lstStyle>
            <a:lvl1pPr>
              <a:defRPr>
                <a:solidFill>
                  <a:schemeClr val="accent1"/>
                </a:solidFill>
              </a:defRPr>
            </a:lvl1p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055096" y="64008"/>
            <a:ext cx="457200" cy="338328"/>
          </a:xfrm>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7831167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2D3B99D-E6B2-4EE8-0A54-0FAA367757A0}"/>
              </a:ext>
              <a:ext uri="{C183D7F6-B498-43B3-948B-1728B52AA6E4}">
                <adec:decorative xmlns:adec="http://schemas.microsoft.com/office/drawing/2017/decorative" val="1"/>
              </a:ext>
            </a:extLst>
          </p:cNvPr>
          <p:cNvSpPr/>
          <p:nvPr/>
        </p:nvSpPr>
        <p:spPr>
          <a:xfrm>
            <a:off x="3735581" y="2721090"/>
            <a:ext cx="8456418" cy="4136911"/>
          </a:xfrm>
          <a:custGeom>
            <a:avLst/>
            <a:gdLst>
              <a:gd name="connsiteX0" fmla="*/ 501522 w 8456418"/>
              <a:gd name="connsiteY0" fmla="*/ 0 h 4136911"/>
              <a:gd name="connsiteX1" fmla="*/ 7315160 w 8456418"/>
              <a:gd name="connsiteY1" fmla="*/ 0 h 4136911"/>
              <a:gd name="connsiteX2" fmla="*/ 7389577 w 8456418"/>
              <a:gd name="connsiteY2" fmla="*/ 0 h 4136911"/>
              <a:gd name="connsiteX3" fmla="*/ 8456418 w 8456418"/>
              <a:gd name="connsiteY3" fmla="*/ 0 h 4136911"/>
              <a:gd name="connsiteX4" fmla="*/ 8456418 w 8456418"/>
              <a:gd name="connsiteY4" fmla="*/ 4136910 h 4136911"/>
              <a:gd name="connsiteX5" fmla="*/ 7389577 w 8456418"/>
              <a:gd name="connsiteY5" fmla="*/ 4136910 h 4136911"/>
              <a:gd name="connsiteX6" fmla="*/ 7389577 w 8456418"/>
              <a:gd name="connsiteY6" fmla="*/ 4136911 h 4136911"/>
              <a:gd name="connsiteX7" fmla="*/ 0 w 8456418"/>
              <a:gd name="connsiteY7" fmla="*/ 4136911 h 4136911"/>
              <a:gd name="connsiteX8" fmla="*/ 0 w 8456418"/>
              <a:gd name="connsiteY8" fmla="*/ 501522 h 4136911"/>
              <a:gd name="connsiteX9" fmla="*/ 501522 w 8456418"/>
              <a:gd name="connsiteY9" fmla="*/ 0 h 413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56418" h="4136911">
                <a:moveTo>
                  <a:pt x="501522" y="0"/>
                </a:moveTo>
                <a:lnTo>
                  <a:pt x="7315160" y="0"/>
                </a:lnTo>
                <a:lnTo>
                  <a:pt x="7389577" y="0"/>
                </a:lnTo>
                <a:lnTo>
                  <a:pt x="8456418" y="0"/>
                </a:lnTo>
                <a:lnTo>
                  <a:pt x="8456418" y="4136910"/>
                </a:lnTo>
                <a:lnTo>
                  <a:pt x="7389577" y="4136910"/>
                </a:lnTo>
                <a:lnTo>
                  <a:pt x="7389577" y="4136911"/>
                </a:lnTo>
                <a:lnTo>
                  <a:pt x="0" y="4136911"/>
                </a:lnTo>
                <a:lnTo>
                  <a:pt x="0" y="501522"/>
                </a:lnTo>
                <a:cubicBezTo>
                  <a:pt x="0" y="224539"/>
                  <a:pt x="224538" y="0"/>
                  <a:pt x="50152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38499" y="134751"/>
            <a:ext cx="11429601" cy="2213814"/>
          </a:xfrm>
        </p:spPr>
        <p:txBody>
          <a:bodyPr anchor="t">
            <a:normAutofit/>
          </a:bodyPr>
          <a:lstStyle>
            <a:lvl1pPr>
              <a:lnSpc>
                <a:spcPct val="80000"/>
              </a:lnSpc>
              <a:defRPr sz="9000">
                <a:solidFill>
                  <a:schemeClr val="accent1"/>
                </a:solidFill>
              </a:defRPr>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267200" y="3124200"/>
            <a:ext cx="7200900" cy="2971800"/>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75292546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141316" y="154198"/>
            <a:ext cx="11326784" cy="1770855"/>
          </a:xfrm>
        </p:spPr>
        <p:txBody>
          <a:bodyPr anchor="t">
            <a:noAutofit/>
          </a:bodyPr>
          <a:lstStyle>
            <a:lvl1pPr>
              <a:lnSpc>
                <a:spcPct val="80000"/>
              </a:lnSpc>
              <a:defRPr sz="8800">
                <a:solidFill>
                  <a:schemeClr val="accent1"/>
                </a:solidFill>
              </a:defRPr>
            </a:lvl1pPr>
          </a:lstStyle>
          <a:p>
            <a:r>
              <a:rPr lang="en-US"/>
              <a:t>Agenda</a:t>
            </a:r>
          </a:p>
        </p:txBody>
      </p:sp>
      <p:sp>
        <p:nvSpPr>
          <p:cNvPr id="16" name="Picture Placeholder 15">
            <a:extLst>
              <a:ext uri="{FF2B5EF4-FFF2-40B4-BE49-F238E27FC236}">
                <a16:creationId xmlns:a16="http://schemas.microsoft.com/office/drawing/2014/main" id="{DFF180EE-9609-8056-7D1A-0AB8C9676916}"/>
              </a:ext>
            </a:extLst>
          </p:cNvPr>
          <p:cNvSpPr>
            <a:spLocks noGrp="1"/>
          </p:cNvSpPr>
          <p:nvPr>
            <p:ph type="pic" sz="quarter" idx="15" hasCustomPrompt="1"/>
          </p:nvPr>
        </p:nvSpPr>
        <p:spPr>
          <a:xfrm>
            <a:off x="0" y="2266752"/>
            <a:ext cx="6871018" cy="4591248"/>
          </a:xfrm>
          <a:custGeom>
            <a:avLst/>
            <a:gdLst>
              <a:gd name="connsiteX0" fmla="*/ 0 w 6871018"/>
              <a:gd name="connsiteY0" fmla="*/ 0 h 4591248"/>
              <a:gd name="connsiteX1" fmla="*/ 6369496 w 6871018"/>
              <a:gd name="connsiteY1" fmla="*/ 0 h 4591248"/>
              <a:gd name="connsiteX2" fmla="*/ 6871018 w 6871018"/>
              <a:gd name="connsiteY2" fmla="*/ 501522 h 4591248"/>
              <a:gd name="connsiteX3" fmla="*/ 6871018 w 6871018"/>
              <a:gd name="connsiteY3" fmla="*/ 4591248 h 4591248"/>
              <a:gd name="connsiteX4" fmla="*/ 0 w 6871018"/>
              <a:gd name="connsiteY4" fmla="*/ 4591248 h 459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1018" h="4591248">
                <a:moveTo>
                  <a:pt x="0" y="0"/>
                </a:moveTo>
                <a:lnTo>
                  <a:pt x="6369496" y="0"/>
                </a:lnTo>
                <a:cubicBezTo>
                  <a:pt x="6646479" y="0"/>
                  <a:pt x="6871018" y="224539"/>
                  <a:pt x="6871018" y="501522"/>
                </a:cubicBezTo>
                <a:lnTo>
                  <a:pt x="6871018" y="4591248"/>
                </a:lnTo>
                <a:lnTo>
                  <a:pt x="0" y="4591248"/>
                </a:lnTo>
                <a:close/>
              </a:path>
            </a:pathLst>
          </a:custGeom>
          <a:blipFill>
            <a:blip r:embed="rId2">
              <a:alphaModFix amt="75000"/>
            </a:blip>
            <a:stretch>
              <a:fillRect/>
            </a:stretch>
          </a:blipFill>
        </p:spPr>
        <p:txBody>
          <a:bodyPr wrap="square">
            <a:noAutofit/>
          </a:bodyPr>
          <a:lstStyle>
            <a:lvl1pPr marL="0" indent="0">
              <a:buNone/>
              <a:defRPr/>
            </a:lvl1pPr>
          </a:lstStyle>
          <a:p>
            <a:r>
              <a:rPr lang="en-US"/>
              <a:t>  </a:t>
            </a:r>
          </a:p>
        </p:txBody>
      </p:sp>
      <p:sp>
        <p:nvSpPr>
          <p:cNvPr id="10" name="Freeform: Shape 9">
            <a:extLst>
              <a:ext uri="{FF2B5EF4-FFF2-40B4-BE49-F238E27FC236}">
                <a16:creationId xmlns:a16="http://schemas.microsoft.com/office/drawing/2014/main" id="{0ED03D8A-5554-BC86-D031-989A4FC017F9}"/>
              </a:ext>
              <a:ext uri="{C183D7F6-B498-43B3-948B-1728B52AA6E4}">
                <adec:decorative xmlns:adec="http://schemas.microsoft.com/office/drawing/2017/decorative" val="1"/>
              </a:ext>
            </a:extLst>
          </p:cNvPr>
          <p:cNvSpPr/>
          <p:nvPr/>
        </p:nvSpPr>
        <p:spPr>
          <a:xfrm>
            <a:off x="7084170" y="2266752"/>
            <a:ext cx="5107831" cy="4591248"/>
          </a:xfrm>
          <a:custGeom>
            <a:avLst/>
            <a:gdLst>
              <a:gd name="connsiteX0" fmla="*/ 501521 w 5107831"/>
              <a:gd name="connsiteY0" fmla="*/ 0 h 4591248"/>
              <a:gd name="connsiteX1" fmla="*/ 5107831 w 5107831"/>
              <a:gd name="connsiteY1" fmla="*/ 0 h 4591248"/>
              <a:gd name="connsiteX2" fmla="*/ 5107831 w 5107831"/>
              <a:gd name="connsiteY2" fmla="*/ 4591248 h 4591248"/>
              <a:gd name="connsiteX3" fmla="*/ 0 w 5107831"/>
              <a:gd name="connsiteY3" fmla="*/ 4591248 h 4591248"/>
              <a:gd name="connsiteX4" fmla="*/ 0 w 5107831"/>
              <a:gd name="connsiteY4" fmla="*/ 501522 h 4591248"/>
              <a:gd name="connsiteX5" fmla="*/ 501521 w 5107831"/>
              <a:gd name="connsiteY5" fmla="*/ 0 h 459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7831" h="4591248">
                <a:moveTo>
                  <a:pt x="501521" y="0"/>
                </a:moveTo>
                <a:lnTo>
                  <a:pt x="5107831" y="0"/>
                </a:lnTo>
                <a:lnTo>
                  <a:pt x="5107831" y="4591248"/>
                </a:lnTo>
                <a:lnTo>
                  <a:pt x="0" y="4591248"/>
                </a:lnTo>
                <a:lnTo>
                  <a:pt x="0" y="501522"/>
                </a:lnTo>
                <a:cubicBezTo>
                  <a:pt x="0" y="224539"/>
                  <a:pt x="224538" y="0"/>
                  <a:pt x="50152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597833" y="2762450"/>
            <a:ext cx="3870267" cy="3333549"/>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97833" y="6329172"/>
            <a:ext cx="2020539"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498169" y="6329172"/>
            <a:ext cx="1405916" cy="338328"/>
          </a:xfrm>
        </p:spPr>
        <p:txBody>
          <a:bodyPr/>
          <a:lstStyle>
            <a:lvl1pPr>
              <a:defRPr>
                <a:solidFill>
                  <a:schemeClr val="tx1"/>
                </a:solidFill>
                <a:effectLst/>
              </a:defRPr>
            </a:lvl1p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9391815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208428" y="5434066"/>
            <a:ext cx="11259672" cy="1340631"/>
          </a:xfrm>
        </p:spPr>
        <p:txBody>
          <a:bodyPr anchor="ctr">
            <a:noAutofit/>
          </a:bodyPr>
          <a:lstStyle>
            <a:lvl1pPr>
              <a:lnSpc>
                <a:spcPct val="80000"/>
              </a:lnSpc>
              <a:defRPr sz="9200">
                <a:solidFill>
                  <a:schemeClr val="accent1"/>
                </a:solidFill>
              </a:defRPr>
            </a:lvl1pPr>
          </a:lstStyle>
          <a:p>
            <a:r>
              <a:rPr lang="en-US"/>
              <a:t>Agenda</a:t>
            </a:r>
          </a:p>
        </p:txBody>
      </p:sp>
      <p:sp>
        <p:nvSpPr>
          <p:cNvPr id="4" name="Picture Placeholder 3">
            <a:extLst>
              <a:ext uri="{FF2B5EF4-FFF2-40B4-BE49-F238E27FC236}">
                <a16:creationId xmlns:a16="http://schemas.microsoft.com/office/drawing/2014/main" id="{9A527762-C88B-23BA-9A3F-621F88C685CC}"/>
              </a:ext>
            </a:extLst>
          </p:cNvPr>
          <p:cNvSpPr>
            <a:spLocks noGrp="1"/>
          </p:cNvSpPr>
          <p:nvPr>
            <p:ph type="pic" sz="quarter" idx="15" hasCustomPrompt="1"/>
          </p:nvPr>
        </p:nvSpPr>
        <p:spPr>
          <a:xfrm>
            <a:off x="0" y="1"/>
            <a:ext cx="7075656" cy="5017475"/>
          </a:xfrm>
          <a:custGeom>
            <a:avLst/>
            <a:gdLst>
              <a:gd name="connsiteX0" fmla="*/ 0 w 7075656"/>
              <a:gd name="connsiteY0" fmla="*/ 0 h 5017475"/>
              <a:gd name="connsiteX1" fmla="*/ 7075656 w 7075656"/>
              <a:gd name="connsiteY1" fmla="*/ 0 h 5017475"/>
              <a:gd name="connsiteX2" fmla="*/ 7075656 w 7075656"/>
              <a:gd name="connsiteY2" fmla="*/ 4515953 h 5017475"/>
              <a:gd name="connsiteX3" fmla="*/ 6574134 w 7075656"/>
              <a:gd name="connsiteY3" fmla="*/ 5017475 h 5017475"/>
              <a:gd name="connsiteX4" fmla="*/ 0 w 7075656"/>
              <a:gd name="connsiteY4" fmla="*/ 5017475 h 501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656" h="5017475">
                <a:moveTo>
                  <a:pt x="0" y="0"/>
                </a:moveTo>
                <a:lnTo>
                  <a:pt x="7075656" y="0"/>
                </a:lnTo>
                <a:lnTo>
                  <a:pt x="7075656" y="4515953"/>
                </a:lnTo>
                <a:cubicBezTo>
                  <a:pt x="7075656" y="4792936"/>
                  <a:pt x="6851117" y="5017475"/>
                  <a:pt x="6574134" y="5017475"/>
                </a:cubicBezTo>
                <a:lnTo>
                  <a:pt x="0" y="5017475"/>
                </a:lnTo>
                <a:close/>
              </a:path>
            </a:pathLst>
          </a:custGeom>
          <a:blipFill>
            <a:blip r:embed="rId2">
              <a:alphaModFix amt="75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701094" y="791110"/>
            <a:ext cx="3767006" cy="4226366"/>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01094" y="190984"/>
            <a:ext cx="2713574"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829799" y="190984"/>
            <a:ext cx="1074285" cy="338328"/>
          </a:xfrm>
        </p:spPr>
        <p:txBody>
          <a:bodyPr/>
          <a:lstStyle>
            <a:lvl1pPr>
              <a:defRPr>
                <a:solidFill>
                  <a:schemeClr val="tx1"/>
                </a:solidFill>
                <a:effectLst/>
              </a:defRPr>
            </a:lvl1p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190984"/>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68612727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89871" y="1717296"/>
            <a:ext cx="5618603" cy="1189805"/>
          </a:xfrm>
        </p:spPr>
        <p:txBody>
          <a:bodyPr anchor="b">
            <a:normAutofit/>
          </a:bodyPr>
          <a:lstStyle>
            <a:lvl1pPr algn="ctr">
              <a:defRPr sz="25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4734" y="3138477"/>
            <a:ext cx="4428877" cy="2116570"/>
          </a:xfrm>
        </p:spPr>
        <p:txBody>
          <a:bodyPr vert="horz" lIns="91440" tIns="45720" rIns="91440" bIns="45720" rtlCol="0">
            <a:normAutofit/>
          </a:bodyPr>
          <a:lstStyle>
            <a:lvl1pPr marL="0" indent="0" algn="ctr">
              <a:buNone/>
              <a:defRPr lang="en-US" sz="1400" dirty="0"/>
            </a:lvl1pPr>
            <a:lvl2pPr marL="228600" indent="0" algn="ctr">
              <a:buNone/>
              <a:defRPr lang="en-US" sz="1200" dirty="0"/>
            </a:lvl2pPr>
            <a:lvl3pPr marL="457200" indent="0" algn="ctr">
              <a:buNone/>
              <a:defRPr lang="en-US" sz="1100" dirty="0"/>
            </a:lvl3pPr>
            <a:lvl4pPr marL="685800" indent="0" algn="ctr">
              <a:buNone/>
              <a:defRPr lang="en-US" sz="1100" dirty="0"/>
            </a:lvl4pPr>
            <a:lvl5pPr marL="914400" indent="0" algn="ctr">
              <a:buNone/>
              <a:defRPr lang="en-US" sz="1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41269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39160" y="1993392"/>
            <a:ext cx="3097924" cy="2160355"/>
          </a:xfrm>
        </p:spPr>
        <p:txBody>
          <a:bodyPr anchor="t">
            <a:normAutofit/>
          </a:bodyPr>
          <a:lstStyle>
            <a:lvl1pPr>
              <a:defRPr sz="25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39103" y="1993392"/>
            <a:ext cx="4856097" cy="35387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655604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42625" y="1508760"/>
            <a:ext cx="3390442" cy="2857500"/>
          </a:xfrm>
        </p:spPr>
        <p:txBody>
          <a:bodyPr anchor="t">
            <a:normAutofit/>
          </a:bodyPr>
          <a:lstStyle>
            <a:lvl1pPr>
              <a:defRPr sz="25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57596" y="1508760"/>
            <a:ext cx="5233669" cy="413187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795648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19200" y="1097280"/>
            <a:ext cx="3205908" cy="3428174"/>
          </a:xfrm>
        </p:spPr>
        <p:txBody>
          <a:bodyPr anchor="t">
            <a:normAutofit/>
          </a:bodyPr>
          <a:lstStyle>
            <a:lvl1pPr>
              <a:defRPr sz="25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46320" y="1098484"/>
            <a:ext cx="6126480" cy="507371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2955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3367238" cy="2031205"/>
          </a:xfrm>
        </p:spPr>
        <p:txBody>
          <a:bodyPr anchor="t">
            <a:normAutofit/>
          </a:bodyPr>
          <a:lstStyle>
            <a:lvl1pPr>
              <a:defRPr sz="25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998" y="822960"/>
            <a:ext cx="7087401" cy="534924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009174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60520" y="822960"/>
            <a:ext cx="7305005" cy="972657"/>
          </a:xfrm>
        </p:spPr>
        <p:txBody>
          <a:bodyPr anchor="t"/>
          <a:lstStyle/>
          <a:p>
            <a:r>
              <a:rPr lang="en-US"/>
              <a:t>Click to edit Master title style</a:t>
            </a:r>
          </a:p>
        </p:txBody>
      </p:sp>
      <p:sp>
        <p:nvSpPr>
          <p:cNvPr id="9" name="Picture Placeholder 8">
            <a:extLst>
              <a:ext uri="{FF2B5EF4-FFF2-40B4-BE49-F238E27FC236}">
                <a16:creationId xmlns:a16="http://schemas.microsoft.com/office/drawing/2014/main" id="{F1613FF0-3917-A83C-848B-3D1932393483}"/>
              </a:ext>
            </a:extLst>
          </p:cNvPr>
          <p:cNvSpPr>
            <a:spLocks noGrp="1"/>
          </p:cNvSpPr>
          <p:nvPr>
            <p:ph type="pic" sz="quarter" idx="15" hasCustomPrompt="1"/>
          </p:nvPr>
        </p:nvSpPr>
        <p:spPr>
          <a:xfrm>
            <a:off x="0" y="0"/>
            <a:ext cx="3493008" cy="6107204"/>
          </a:xfrm>
          <a:custGeom>
            <a:avLst/>
            <a:gdLst>
              <a:gd name="connsiteX0" fmla="*/ 0 w 3493008"/>
              <a:gd name="connsiteY0" fmla="*/ 0 h 6107204"/>
              <a:gd name="connsiteX1" fmla="*/ 3493008 w 3493008"/>
              <a:gd name="connsiteY1" fmla="*/ 0 h 6107204"/>
              <a:gd name="connsiteX2" fmla="*/ 3493008 w 3493008"/>
              <a:gd name="connsiteY2" fmla="*/ 5602161 h 6107204"/>
              <a:gd name="connsiteX3" fmla="*/ 2991486 w 3493008"/>
              <a:gd name="connsiteY3" fmla="*/ 6107204 h 6107204"/>
              <a:gd name="connsiteX4" fmla="*/ 0 w 3493008"/>
              <a:gd name="connsiteY4" fmla="*/ 6107204 h 610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3008" h="6107204">
                <a:moveTo>
                  <a:pt x="0" y="0"/>
                </a:moveTo>
                <a:lnTo>
                  <a:pt x="3493008" y="0"/>
                </a:lnTo>
                <a:lnTo>
                  <a:pt x="3493008" y="5602161"/>
                </a:lnTo>
                <a:cubicBezTo>
                  <a:pt x="3493008" y="5881089"/>
                  <a:pt x="3268469" y="6107204"/>
                  <a:pt x="2991486" y="6107204"/>
                </a:cubicBezTo>
                <a:lnTo>
                  <a:pt x="0" y="61072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63095" y="1993392"/>
            <a:ext cx="7305005" cy="41208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3282902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7196328" cy="1068324"/>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996440"/>
            <a:ext cx="719632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2090" y="6329172"/>
            <a:ext cx="2816835"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974104" y="6329172"/>
            <a:ext cx="2660904" cy="338328"/>
          </a:xfrm>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809836"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
        <p:nvSpPr>
          <p:cNvPr id="11" name="Picture Placeholder 10">
            <a:extLst>
              <a:ext uri="{FF2B5EF4-FFF2-40B4-BE49-F238E27FC236}">
                <a16:creationId xmlns:a16="http://schemas.microsoft.com/office/drawing/2014/main" id="{8BBFAFCD-BCC9-C2BB-355B-1D08B9A7708D}"/>
              </a:ext>
            </a:extLst>
          </p:cNvPr>
          <p:cNvSpPr>
            <a:spLocks noGrp="1"/>
          </p:cNvSpPr>
          <p:nvPr>
            <p:ph type="pic" sz="quarter" idx="15" hasCustomPrompt="1"/>
          </p:nvPr>
        </p:nvSpPr>
        <p:spPr>
          <a:xfrm>
            <a:off x="8698986" y="758460"/>
            <a:ext cx="3493014" cy="6099541"/>
          </a:xfrm>
          <a:custGeom>
            <a:avLst/>
            <a:gdLst>
              <a:gd name="connsiteX0" fmla="*/ 501522 w 3493014"/>
              <a:gd name="connsiteY0" fmla="*/ 0 h 6099541"/>
              <a:gd name="connsiteX1" fmla="*/ 3493014 w 3493014"/>
              <a:gd name="connsiteY1" fmla="*/ 0 h 6099541"/>
              <a:gd name="connsiteX2" fmla="*/ 3493014 w 3493014"/>
              <a:gd name="connsiteY2" fmla="*/ 6099541 h 6099541"/>
              <a:gd name="connsiteX3" fmla="*/ 0 w 3493014"/>
              <a:gd name="connsiteY3" fmla="*/ 6099541 h 6099541"/>
              <a:gd name="connsiteX4" fmla="*/ 0 w 3493014"/>
              <a:gd name="connsiteY4" fmla="*/ 501522 h 6099541"/>
              <a:gd name="connsiteX5" fmla="*/ 501522 w 3493014"/>
              <a:gd name="connsiteY5" fmla="*/ 0 h 609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3014" h="6099541">
                <a:moveTo>
                  <a:pt x="501522" y="0"/>
                </a:moveTo>
                <a:lnTo>
                  <a:pt x="3493014" y="0"/>
                </a:lnTo>
                <a:lnTo>
                  <a:pt x="3493014" y="6099541"/>
                </a:lnTo>
                <a:lnTo>
                  <a:pt x="0" y="6099541"/>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486051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478799" y="374904"/>
            <a:ext cx="8029143" cy="9144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640F6D4C-AB58-61E2-820C-26713F7162B4}"/>
              </a:ext>
            </a:extLst>
          </p:cNvPr>
          <p:cNvSpPr>
            <a:spLocks noGrp="1"/>
          </p:cNvSpPr>
          <p:nvPr>
            <p:ph type="pic" sz="quarter" idx="15" hasCustomPrompt="1"/>
          </p:nvPr>
        </p:nvSpPr>
        <p:spPr>
          <a:xfrm>
            <a:off x="1" y="0"/>
            <a:ext cx="2812577" cy="6096000"/>
          </a:xfrm>
          <a:custGeom>
            <a:avLst/>
            <a:gdLst>
              <a:gd name="connsiteX0" fmla="*/ 0 w 2812577"/>
              <a:gd name="connsiteY0" fmla="*/ 0 h 6096000"/>
              <a:gd name="connsiteX1" fmla="*/ 2812577 w 2812577"/>
              <a:gd name="connsiteY1" fmla="*/ 0 h 6096000"/>
              <a:gd name="connsiteX2" fmla="*/ 2812577 w 2812577"/>
              <a:gd name="connsiteY2" fmla="*/ 5594478 h 6096000"/>
              <a:gd name="connsiteX3" fmla="*/ 2311055 w 2812577"/>
              <a:gd name="connsiteY3" fmla="*/ 6096000 h 6096000"/>
              <a:gd name="connsiteX4" fmla="*/ 0 w 2812577"/>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5594478"/>
                </a:lnTo>
                <a:cubicBezTo>
                  <a:pt x="2812577" y="5871461"/>
                  <a:pt x="2588038" y="6096000"/>
                  <a:pt x="2311055" y="6096000"/>
                </a:cubicBezTo>
                <a:lnTo>
                  <a:pt x="0" y="6096000"/>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478798" y="1444752"/>
            <a:ext cx="8029144"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478799"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12432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365760"/>
            <a:ext cx="7935953" cy="9144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444752"/>
            <a:ext cx="7935953"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365D02ED-881B-AC26-9FB1-E0C7AC5229CD}"/>
              </a:ext>
            </a:extLst>
          </p:cNvPr>
          <p:cNvSpPr>
            <a:spLocks noGrp="1"/>
          </p:cNvSpPr>
          <p:nvPr>
            <p:ph type="pic" sz="quarter" idx="15" hasCustomPrompt="1"/>
          </p:nvPr>
        </p:nvSpPr>
        <p:spPr>
          <a:xfrm>
            <a:off x="9379423" y="0"/>
            <a:ext cx="2812577" cy="6096000"/>
          </a:xfrm>
          <a:custGeom>
            <a:avLst/>
            <a:gdLst>
              <a:gd name="connsiteX0" fmla="*/ 0 w 2812577"/>
              <a:gd name="connsiteY0" fmla="*/ 0 h 6096000"/>
              <a:gd name="connsiteX1" fmla="*/ 2812577 w 2812577"/>
              <a:gd name="connsiteY1" fmla="*/ 0 h 6096000"/>
              <a:gd name="connsiteX2" fmla="*/ 2812577 w 2812577"/>
              <a:gd name="connsiteY2" fmla="*/ 6096000 h 6096000"/>
              <a:gd name="connsiteX3" fmla="*/ 501522 w 2812577"/>
              <a:gd name="connsiteY3" fmla="*/ 6096000 h 6096000"/>
              <a:gd name="connsiteX4" fmla="*/ 0 w 281257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6096000"/>
                </a:lnTo>
                <a:lnTo>
                  <a:pt x="501522" y="6096000"/>
                </a:lnTo>
                <a:cubicBezTo>
                  <a:pt x="224539" y="6096000"/>
                  <a:pt x="0" y="5871461"/>
                  <a:pt x="0" y="5594478"/>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52392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1301" y="822960"/>
            <a:ext cx="5986799" cy="109210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3253D553-C5F3-3129-9E70-5FFBFDC9ECE7}"/>
              </a:ext>
            </a:extLst>
          </p:cNvPr>
          <p:cNvSpPr>
            <a:spLocks noGrp="1"/>
          </p:cNvSpPr>
          <p:nvPr>
            <p:ph type="pic" sz="quarter" idx="15" hasCustomPrompt="1"/>
          </p:nvPr>
        </p:nvSpPr>
        <p:spPr>
          <a:xfrm>
            <a:off x="0" y="0"/>
            <a:ext cx="4785141" cy="6096000"/>
          </a:xfrm>
          <a:custGeom>
            <a:avLst/>
            <a:gdLst>
              <a:gd name="connsiteX0" fmla="*/ 0 w 4785141"/>
              <a:gd name="connsiteY0" fmla="*/ 0 h 6096000"/>
              <a:gd name="connsiteX1" fmla="*/ 4785141 w 4785141"/>
              <a:gd name="connsiteY1" fmla="*/ 0 h 6096000"/>
              <a:gd name="connsiteX2" fmla="*/ 4785141 w 4785141"/>
              <a:gd name="connsiteY2" fmla="*/ 5594478 h 6096000"/>
              <a:gd name="connsiteX3" fmla="*/ 4283619 w 4785141"/>
              <a:gd name="connsiteY3" fmla="*/ 6096000 h 6096000"/>
              <a:gd name="connsiteX4" fmla="*/ 0 w 4785141"/>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141" h="6096000">
                <a:moveTo>
                  <a:pt x="0" y="0"/>
                </a:moveTo>
                <a:lnTo>
                  <a:pt x="4785141" y="0"/>
                </a:lnTo>
                <a:lnTo>
                  <a:pt x="4785141" y="5594478"/>
                </a:lnTo>
                <a:cubicBezTo>
                  <a:pt x="4785141" y="5871461"/>
                  <a:pt x="4560602" y="6096000"/>
                  <a:pt x="4283619" y="6096000"/>
                </a:cubicBezTo>
                <a:lnTo>
                  <a:pt x="0" y="60960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481302" y="1996440"/>
            <a:ext cx="598679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187018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6" y="822960"/>
            <a:ext cx="6140334" cy="973212"/>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71725" y="1996440"/>
            <a:ext cx="6140335" cy="4099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31088019-00EC-C5EE-FDBA-3FD6E5C52EF8}"/>
              </a:ext>
            </a:extLst>
          </p:cNvPr>
          <p:cNvSpPr>
            <a:spLocks noGrp="1"/>
          </p:cNvSpPr>
          <p:nvPr>
            <p:ph type="pic" sz="quarter" idx="15" hasCustomPrompt="1"/>
          </p:nvPr>
        </p:nvSpPr>
        <p:spPr>
          <a:xfrm>
            <a:off x="7619999" y="0"/>
            <a:ext cx="4572001" cy="6095689"/>
          </a:xfrm>
          <a:custGeom>
            <a:avLst/>
            <a:gdLst>
              <a:gd name="connsiteX0" fmla="*/ 0 w 4572001"/>
              <a:gd name="connsiteY0" fmla="*/ 0 h 6095689"/>
              <a:gd name="connsiteX1" fmla="*/ 4572001 w 4572001"/>
              <a:gd name="connsiteY1" fmla="*/ 0 h 6095689"/>
              <a:gd name="connsiteX2" fmla="*/ 4572001 w 4572001"/>
              <a:gd name="connsiteY2" fmla="*/ 6095689 h 6095689"/>
              <a:gd name="connsiteX3" fmla="*/ 501522 w 4572001"/>
              <a:gd name="connsiteY3" fmla="*/ 6095689 h 6095689"/>
              <a:gd name="connsiteX4" fmla="*/ 0 w 4572001"/>
              <a:gd name="connsiteY4" fmla="*/ 5590205 h 6095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1" h="6095689">
                <a:moveTo>
                  <a:pt x="0" y="0"/>
                </a:moveTo>
                <a:lnTo>
                  <a:pt x="4572001" y="0"/>
                </a:lnTo>
                <a:lnTo>
                  <a:pt x="4572001" y="6095689"/>
                </a:lnTo>
                <a:lnTo>
                  <a:pt x="501522" y="6095689"/>
                </a:lnTo>
                <a:cubicBezTo>
                  <a:pt x="224539" y="6095689"/>
                  <a:pt x="0" y="5869376"/>
                  <a:pt x="0" y="559020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F1B30B23-B6C4-3723-57BA-D70C99D0320B}"/>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B5CB376B-27E9-4CDA-655E-2AE645F1DE44}"/>
              </a:ext>
            </a:extLst>
          </p:cNvPr>
          <p:cNvSpPr>
            <a:spLocks noGrp="1"/>
          </p:cNvSpPr>
          <p:nvPr>
            <p:ph type="dt" sz="half" idx="16"/>
          </p:nvPr>
        </p:nvSpPr>
        <p:spPr/>
        <p:txBody>
          <a:bodyPr/>
          <a:lstStyle/>
          <a:p>
            <a:fld id="{D7E3ECEC-7E7B-4FB9-BAE8-5C10F12795EA}" type="datetimeFigureOut">
              <a:rPr lang="en-US" smtClean="0"/>
              <a:t>1/29/2026</a:t>
            </a:fld>
            <a:endParaRPr lang="en-US"/>
          </a:p>
        </p:txBody>
      </p:sp>
      <p:sp>
        <p:nvSpPr>
          <p:cNvPr id="10" name="Slide Number Placeholder 9">
            <a:extLst>
              <a:ext uri="{FF2B5EF4-FFF2-40B4-BE49-F238E27FC236}">
                <a16:creationId xmlns:a16="http://schemas.microsoft.com/office/drawing/2014/main" id="{4EC5A43C-DD1F-E7E6-BBC8-F953BC288BB0}"/>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77551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p>
        </p:txBody>
      </p:sp>
      <p:sp>
        <p:nvSpPr>
          <p:cNvPr id="3" name="Picture Placeholder 2">
            <a:extLst>
              <a:ext uri="{FF2B5EF4-FFF2-40B4-BE49-F238E27FC236}">
                <a16:creationId xmlns:a16="http://schemas.microsoft.com/office/drawing/2014/main" id="{4DBFBCB5-4A7B-F7B3-9AAF-F908FB128AB0}"/>
              </a:ext>
            </a:extLst>
          </p:cNvPr>
          <p:cNvSpPr>
            <a:spLocks noGrp="1"/>
          </p:cNvSpPr>
          <p:nvPr>
            <p:ph type="pic" sz="quarter" idx="15" hasCustomPrompt="1"/>
          </p:nvPr>
        </p:nvSpPr>
        <p:spPr>
          <a:xfrm>
            <a:off x="0" y="0"/>
            <a:ext cx="6548534" cy="6100464"/>
          </a:xfrm>
          <a:custGeom>
            <a:avLst/>
            <a:gdLst>
              <a:gd name="connsiteX0" fmla="*/ 0 w 6548534"/>
              <a:gd name="connsiteY0" fmla="*/ 0 h 6100464"/>
              <a:gd name="connsiteX1" fmla="*/ 6548534 w 6548534"/>
              <a:gd name="connsiteY1" fmla="*/ 0 h 6100464"/>
              <a:gd name="connsiteX2" fmla="*/ 6548534 w 6548534"/>
              <a:gd name="connsiteY2" fmla="*/ 5595865 h 6100464"/>
              <a:gd name="connsiteX3" fmla="*/ 6047012 w 6548534"/>
              <a:gd name="connsiteY3" fmla="*/ 6100464 h 6100464"/>
              <a:gd name="connsiteX4" fmla="*/ 0 w 6548534"/>
              <a:gd name="connsiteY4" fmla="*/ 6100464 h 6100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534" h="6100464">
                <a:moveTo>
                  <a:pt x="0" y="0"/>
                </a:moveTo>
                <a:lnTo>
                  <a:pt x="6548534" y="0"/>
                </a:lnTo>
                <a:lnTo>
                  <a:pt x="6548534" y="5595865"/>
                </a:lnTo>
                <a:cubicBezTo>
                  <a:pt x="6548534" y="5874548"/>
                  <a:pt x="6323995" y="6100464"/>
                  <a:pt x="6047012" y="6100464"/>
                </a:cubicBezTo>
                <a:lnTo>
                  <a:pt x="0" y="61004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11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8F54AB8-6B4D-C00F-7A9F-6627E7066D2A}"/>
              </a:ext>
            </a:extLst>
          </p:cNvPr>
          <p:cNvSpPr>
            <a:spLocks noGrp="1"/>
          </p:cNvSpPr>
          <p:nvPr>
            <p:ph type="ftr" sz="quarter" idx="17"/>
          </p:nvPr>
        </p:nvSpPr>
        <p:spPr/>
        <p:txBody>
          <a:bodyPr/>
          <a:lstStyle/>
          <a:p>
            <a:endParaRPr lang="en-US"/>
          </a:p>
        </p:txBody>
      </p:sp>
      <p:sp>
        <p:nvSpPr>
          <p:cNvPr id="4" name="Date Placeholder 3">
            <a:extLst>
              <a:ext uri="{FF2B5EF4-FFF2-40B4-BE49-F238E27FC236}">
                <a16:creationId xmlns:a16="http://schemas.microsoft.com/office/drawing/2014/main" id="{DC218C63-B1E1-78F4-CF24-6991FB09C1C4}"/>
              </a:ext>
            </a:extLst>
          </p:cNvPr>
          <p:cNvSpPr>
            <a:spLocks noGrp="1"/>
          </p:cNvSpPr>
          <p:nvPr>
            <p:ph type="dt" sz="half" idx="16"/>
          </p:nvPr>
        </p:nvSpPr>
        <p:spPr/>
        <p:txBody>
          <a:bodyPr/>
          <a:lstStyle/>
          <a:p>
            <a:fld id="{D7E3ECEC-7E7B-4FB9-BAE8-5C10F12795EA}" type="datetimeFigureOut">
              <a:rPr lang="en-US" smtClean="0"/>
              <a:t>1/29/2026</a:t>
            </a:fld>
            <a:endParaRPr lang="en-US"/>
          </a:p>
        </p:txBody>
      </p:sp>
      <p:sp>
        <p:nvSpPr>
          <p:cNvPr id="10" name="Slide Number Placeholder 9">
            <a:extLst>
              <a:ext uri="{FF2B5EF4-FFF2-40B4-BE49-F238E27FC236}">
                <a16:creationId xmlns:a16="http://schemas.microsoft.com/office/drawing/2014/main" id="{BD268E9B-F4A2-5ABF-D43A-3BF4DCADB3FB}"/>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247215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4" y="822961"/>
            <a:ext cx="4177554" cy="1031240"/>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1725" y="1993392"/>
            <a:ext cx="4177553" cy="4102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CD2D7B58-DFF6-BC00-8544-64FC5F7EED57}"/>
              </a:ext>
            </a:extLst>
          </p:cNvPr>
          <p:cNvSpPr>
            <a:spLocks noGrp="1"/>
          </p:cNvSpPr>
          <p:nvPr>
            <p:ph type="pic" sz="quarter" idx="15" hasCustomPrompt="1"/>
          </p:nvPr>
        </p:nvSpPr>
        <p:spPr>
          <a:xfrm>
            <a:off x="5643722" y="0"/>
            <a:ext cx="6548279" cy="6105855"/>
          </a:xfrm>
          <a:custGeom>
            <a:avLst/>
            <a:gdLst>
              <a:gd name="connsiteX0" fmla="*/ 0 w 6548279"/>
              <a:gd name="connsiteY0" fmla="*/ 0 h 6105855"/>
              <a:gd name="connsiteX1" fmla="*/ 6548279 w 6548279"/>
              <a:gd name="connsiteY1" fmla="*/ 0 h 6105855"/>
              <a:gd name="connsiteX2" fmla="*/ 6548279 w 6548279"/>
              <a:gd name="connsiteY2" fmla="*/ 6105855 h 6105855"/>
              <a:gd name="connsiteX3" fmla="*/ 501522 w 6548279"/>
              <a:gd name="connsiteY3" fmla="*/ 6105855 h 6105855"/>
              <a:gd name="connsiteX4" fmla="*/ 0 w 6548279"/>
              <a:gd name="connsiteY4" fmla="*/ 5600680 h 6105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279" h="6105855">
                <a:moveTo>
                  <a:pt x="0" y="0"/>
                </a:moveTo>
                <a:lnTo>
                  <a:pt x="6548279" y="0"/>
                </a:lnTo>
                <a:lnTo>
                  <a:pt x="6548279" y="6105855"/>
                </a:lnTo>
                <a:lnTo>
                  <a:pt x="501522" y="6105855"/>
                </a:lnTo>
                <a:cubicBezTo>
                  <a:pt x="224539" y="6105855"/>
                  <a:pt x="0" y="5879680"/>
                  <a:pt x="0" y="560068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966140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p>
        </p:txBody>
      </p:sp>
      <p:sp>
        <p:nvSpPr>
          <p:cNvPr id="19" name="Picture Placeholder 18">
            <a:extLst>
              <a:ext uri="{FF2B5EF4-FFF2-40B4-BE49-F238E27FC236}">
                <a16:creationId xmlns:a16="http://schemas.microsoft.com/office/drawing/2014/main" id="{03AE08AD-600E-B6CB-33D0-F11CE0529C45}"/>
              </a:ext>
            </a:extLst>
          </p:cNvPr>
          <p:cNvSpPr>
            <a:spLocks noGrp="1"/>
          </p:cNvSpPr>
          <p:nvPr>
            <p:ph type="pic" sz="quarter" idx="15" hasCustomPrompt="1"/>
          </p:nvPr>
        </p:nvSpPr>
        <p:spPr>
          <a:xfrm>
            <a:off x="1" y="765214"/>
            <a:ext cx="6559827" cy="6092786"/>
          </a:xfrm>
          <a:custGeom>
            <a:avLst/>
            <a:gdLst>
              <a:gd name="connsiteX0" fmla="*/ 0 w 6559827"/>
              <a:gd name="connsiteY0" fmla="*/ 0 h 6092786"/>
              <a:gd name="connsiteX1" fmla="*/ 6058305 w 6559827"/>
              <a:gd name="connsiteY1" fmla="*/ 0 h 6092786"/>
              <a:gd name="connsiteX2" fmla="*/ 6559827 w 6559827"/>
              <a:gd name="connsiteY2" fmla="*/ 501522 h 6092786"/>
              <a:gd name="connsiteX3" fmla="*/ 6559827 w 6559827"/>
              <a:gd name="connsiteY3" fmla="*/ 6092786 h 6092786"/>
              <a:gd name="connsiteX4" fmla="*/ 0 w 6559827"/>
              <a:gd name="connsiteY4" fmla="*/ 6092786 h 6092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9827" h="6092786">
                <a:moveTo>
                  <a:pt x="0" y="0"/>
                </a:moveTo>
                <a:lnTo>
                  <a:pt x="6058305" y="0"/>
                </a:lnTo>
                <a:cubicBezTo>
                  <a:pt x="6335288" y="0"/>
                  <a:pt x="6559827" y="224539"/>
                  <a:pt x="6559827" y="501522"/>
                </a:cubicBezTo>
                <a:lnTo>
                  <a:pt x="6559827" y="6092786"/>
                </a:lnTo>
                <a:lnTo>
                  <a:pt x="0" y="6092786"/>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071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3069" y="6329172"/>
            <a:ext cx="281683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01199" y="6329172"/>
            <a:ext cx="1387589" cy="338328"/>
          </a:xfrm>
        </p:spPr>
        <p:txBody>
          <a:bodyPr/>
          <a:lstStyle>
            <a:lvl1pPr>
              <a:defRPr>
                <a:solidFill>
                  <a:schemeClr val="tx1"/>
                </a:solidFill>
                <a:effectLst/>
              </a:defRPr>
            </a:lvl1p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5096" y="6329172"/>
            <a:ext cx="454437"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46265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324"/>
            <a:ext cx="2959272" cy="1630841"/>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8096" y="2590800"/>
            <a:ext cx="2959272" cy="3505200"/>
          </a:xfrm>
        </p:spPr>
        <p:txBody>
          <a:bodyPr vert="horz" lIns="91440" tIns="45720" rIns="91440" bIns="45720" rtlCol="0">
            <a:normAutofit/>
          </a:bodyPr>
          <a:lstStyle>
            <a:lvl1pPr marL="285750" indent="-285750">
              <a:buFont typeface="Arial" panose="020B0604020202020204" pitchFamily="34" charset="0"/>
              <a:buChar char="•"/>
              <a:defRPr lang="en-US" dirty="0"/>
            </a:lvl1pPr>
            <a:lvl2pPr marL="400050" indent="-171450">
              <a:buFont typeface="Arial" panose="020B0604020202020204" pitchFamily="34" charset="0"/>
              <a:buChar char="•"/>
              <a:defRPr lang="en-US" dirty="0"/>
            </a:lvl2pPr>
            <a:lvl3pPr marL="628650" indent="-171450">
              <a:buFont typeface="Arial" panose="020B0604020202020204" pitchFamily="34" charset="0"/>
              <a:buChar char="•"/>
              <a:defRPr lang="en-US" dirty="0"/>
            </a:lvl3pPr>
            <a:lvl4pPr marL="857250" indent="-171450">
              <a:buFont typeface="Arial" panose="020B0604020202020204" pitchFamily="34" charset="0"/>
              <a:buChar char="•"/>
              <a:defRPr lang="en-US" dirty="0"/>
            </a:lvl4pPr>
            <a:lvl5pPr marL="1085850"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7648"/>
            <a:ext cx="18336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01773" y="6318659"/>
            <a:ext cx="1092885" cy="338328"/>
          </a:xfrm>
        </p:spPr>
        <p:txBody>
          <a:bodyPr/>
          <a:lstStyle>
            <a:lvl1pPr>
              <a:defRPr>
                <a:solidFill>
                  <a:schemeClr val="tx1"/>
                </a:solidFill>
                <a:effectLst/>
              </a:defRPr>
            </a:lvl1p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94658" y="6318659"/>
            <a:ext cx="457200" cy="338328"/>
          </a:xfrm>
        </p:spPr>
        <p:txBody>
          <a:bodyPr/>
          <a:lstStyle/>
          <a:p>
            <a:fld id="{235F31FF-4816-4A7C-BAEE-4B5C41A91EB1}" type="slidenum">
              <a:rPr lang="en-US" smtClean="0"/>
              <a:t>‹#›</a:t>
            </a:fld>
            <a:endParaRPr lang="en-US"/>
          </a:p>
        </p:txBody>
      </p:sp>
      <p:sp>
        <p:nvSpPr>
          <p:cNvPr id="12" name="Picture Placeholder 11">
            <a:extLst>
              <a:ext uri="{FF2B5EF4-FFF2-40B4-BE49-F238E27FC236}">
                <a16:creationId xmlns:a16="http://schemas.microsoft.com/office/drawing/2014/main" id="{0A8E9606-29A0-9DB6-D153-C4863559DC60}"/>
              </a:ext>
            </a:extLst>
          </p:cNvPr>
          <p:cNvSpPr>
            <a:spLocks noGrp="1"/>
          </p:cNvSpPr>
          <p:nvPr>
            <p:ph type="pic" sz="quarter" idx="15" hasCustomPrompt="1"/>
          </p:nvPr>
        </p:nvSpPr>
        <p:spPr>
          <a:xfrm>
            <a:off x="4383033" y="765213"/>
            <a:ext cx="7808967" cy="6092787"/>
          </a:xfrm>
          <a:custGeom>
            <a:avLst/>
            <a:gdLst>
              <a:gd name="connsiteX0" fmla="*/ 501522 w 7808967"/>
              <a:gd name="connsiteY0" fmla="*/ 0 h 6092787"/>
              <a:gd name="connsiteX1" fmla="*/ 7808967 w 7808967"/>
              <a:gd name="connsiteY1" fmla="*/ 0 h 6092787"/>
              <a:gd name="connsiteX2" fmla="*/ 7808967 w 7808967"/>
              <a:gd name="connsiteY2" fmla="*/ 6092787 h 6092787"/>
              <a:gd name="connsiteX3" fmla="*/ 0 w 7808967"/>
              <a:gd name="connsiteY3" fmla="*/ 6092787 h 6092787"/>
              <a:gd name="connsiteX4" fmla="*/ 0 w 7808967"/>
              <a:gd name="connsiteY4" fmla="*/ 501522 h 6092787"/>
              <a:gd name="connsiteX5" fmla="*/ 501522 w 7808967"/>
              <a:gd name="connsiteY5" fmla="*/ 0 h 609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8967" h="6092787">
                <a:moveTo>
                  <a:pt x="501522" y="0"/>
                </a:moveTo>
                <a:lnTo>
                  <a:pt x="7808967" y="0"/>
                </a:lnTo>
                <a:lnTo>
                  <a:pt x="7808967" y="6092787"/>
                </a:lnTo>
                <a:lnTo>
                  <a:pt x="0" y="6092787"/>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559167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4842437"/>
            <a:ext cx="3636745" cy="1253564"/>
          </a:xfrm>
        </p:spPr>
        <p:txBody>
          <a:bodyPr anchor="t">
            <a:noAutofit/>
          </a:bodyPr>
          <a:lstStyle>
            <a:lvl1pPr>
              <a:defRPr sz="2500"/>
            </a:lvl1pPr>
          </a:lstStyle>
          <a:p>
            <a:r>
              <a:rPr lang="en-US"/>
              <a:t>Click to edit Master title style</a:t>
            </a:r>
          </a:p>
        </p:txBody>
      </p:sp>
      <p:sp>
        <p:nvSpPr>
          <p:cNvPr id="9" name="Picture Placeholder 3">
            <a:extLst>
              <a:ext uri="{FF2B5EF4-FFF2-40B4-BE49-F238E27FC236}">
                <a16:creationId xmlns:a16="http://schemas.microsoft.com/office/drawing/2014/main" id="{D90D792C-BF4F-3E3A-5C82-8AA602818235}"/>
              </a:ext>
            </a:extLst>
          </p:cNvPr>
          <p:cNvSpPr>
            <a:spLocks noGrp="1"/>
          </p:cNvSpPr>
          <p:nvPr>
            <p:ph type="pic" sz="quarter" idx="15" hasCustomPrompt="1"/>
          </p:nvPr>
        </p:nvSpPr>
        <p:spPr>
          <a:xfrm>
            <a:off x="0" y="0"/>
            <a:ext cx="11468100" cy="4354140"/>
          </a:xfrm>
          <a:custGeom>
            <a:avLst/>
            <a:gdLst>
              <a:gd name="connsiteX0" fmla="*/ 0 w 11468100"/>
              <a:gd name="connsiteY0" fmla="*/ 0 h 4354140"/>
              <a:gd name="connsiteX1" fmla="*/ 11468100 w 11468100"/>
              <a:gd name="connsiteY1" fmla="*/ 0 h 4354140"/>
              <a:gd name="connsiteX2" fmla="*/ 11468100 w 11468100"/>
              <a:gd name="connsiteY2" fmla="*/ 3852618 h 4354140"/>
              <a:gd name="connsiteX3" fmla="*/ 10965387 w 11468100"/>
              <a:gd name="connsiteY3" fmla="*/ 4354140 h 4354140"/>
              <a:gd name="connsiteX4" fmla="*/ 0 w 11468100"/>
              <a:gd name="connsiteY4" fmla="*/ 4354140 h 435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4354140">
                <a:moveTo>
                  <a:pt x="0" y="0"/>
                </a:moveTo>
                <a:lnTo>
                  <a:pt x="11468100" y="0"/>
                </a:lnTo>
                <a:lnTo>
                  <a:pt x="11468100" y="3852618"/>
                </a:lnTo>
                <a:cubicBezTo>
                  <a:pt x="11468100" y="4129601"/>
                  <a:pt x="11243028" y="4354140"/>
                  <a:pt x="10965387" y="4354140"/>
                </a:cubicBezTo>
                <a:lnTo>
                  <a:pt x="0" y="435414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89635" y="4854632"/>
            <a:ext cx="6579807" cy="139376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8593401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4095740"/>
            <a:ext cx="3242191" cy="1704459"/>
          </a:xfrm>
        </p:spPr>
        <p:txBody>
          <a:bodyPr anchor="t">
            <a:noAutofit/>
          </a:bodyPr>
          <a:lstStyle>
            <a:lvl1pPr>
              <a:defRPr sz="2500"/>
            </a:lvl1pPr>
          </a:lstStyle>
          <a:p>
            <a:r>
              <a:rPr lang="en-US"/>
              <a:t>Click to edit Master title style</a:t>
            </a:r>
          </a:p>
        </p:txBody>
      </p:sp>
      <p:sp>
        <p:nvSpPr>
          <p:cNvPr id="9" name="Picture Placeholder 8">
            <a:extLst>
              <a:ext uri="{FF2B5EF4-FFF2-40B4-BE49-F238E27FC236}">
                <a16:creationId xmlns:a16="http://schemas.microsoft.com/office/drawing/2014/main" id="{C842B8C5-7416-8C92-3E56-737867305A74}"/>
              </a:ext>
            </a:extLst>
          </p:cNvPr>
          <p:cNvSpPr>
            <a:spLocks noGrp="1"/>
          </p:cNvSpPr>
          <p:nvPr>
            <p:ph type="pic" sz="quarter" idx="15" hasCustomPrompt="1"/>
          </p:nvPr>
        </p:nvSpPr>
        <p:spPr>
          <a:xfrm>
            <a:off x="0" y="0"/>
            <a:ext cx="11468100" cy="3659602"/>
          </a:xfrm>
          <a:custGeom>
            <a:avLst/>
            <a:gdLst>
              <a:gd name="connsiteX0" fmla="*/ 0 w 11468100"/>
              <a:gd name="connsiteY0" fmla="*/ 0 h 3659602"/>
              <a:gd name="connsiteX1" fmla="*/ 11468100 w 11468100"/>
              <a:gd name="connsiteY1" fmla="*/ 0 h 3659602"/>
              <a:gd name="connsiteX2" fmla="*/ 11468100 w 11468100"/>
              <a:gd name="connsiteY2" fmla="*/ 3158080 h 3659602"/>
              <a:gd name="connsiteX3" fmla="*/ 10964923 w 11468100"/>
              <a:gd name="connsiteY3" fmla="*/ 3659602 h 3659602"/>
              <a:gd name="connsiteX4" fmla="*/ 0 w 11468100"/>
              <a:gd name="connsiteY4" fmla="*/ 3659602 h 365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659602">
                <a:moveTo>
                  <a:pt x="0" y="0"/>
                </a:moveTo>
                <a:lnTo>
                  <a:pt x="11468100" y="0"/>
                </a:lnTo>
                <a:lnTo>
                  <a:pt x="11468100" y="3158080"/>
                </a:lnTo>
                <a:cubicBezTo>
                  <a:pt x="11468100" y="3435063"/>
                  <a:pt x="11242820" y="3659602"/>
                  <a:pt x="10964923" y="3659602"/>
                </a:cubicBezTo>
                <a:lnTo>
                  <a:pt x="0" y="365960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4095740"/>
            <a:ext cx="7092745" cy="200601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4792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159974" cy="1612741"/>
          </a:xfrm>
        </p:spPr>
        <p:txBody>
          <a:bodyPr anchor="t">
            <a:noAutofit/>
          </a:bodyPr>
          <a:lstStyle>
            <a:lvl1pPr>
              <a:defRPr sz="2500"/>
            </a:lvl1pPr>
          </a:lstStyle>
          <a:p>
            <a:r>
              <a:rPr lang="en-US"/>
              <a:t>Click to edit Master title style</a:t>
            </a:r>
          </a:p>
        </p:txBody>
      </p:sp>
      <p:sp>
        <p:nvSpPr>
          <p:cNvPr id="9" name="Footer Placeholder 8">
            <a:extLst>
              <a:ext uri="{FF2B5EF4-FFF2-40B4-BE49-F238E27FC236}">
                <a16:creationId xmlns:a16="http://schemas.microsoft.com/office/drawing/2014/main" id="{C0D06C70-6C8E-0F10-743F-047DC1563DEE}"/>
              </a:ext>
            </a:extLst>
          </p:cNvPr>
          <p:cNvSpPr>
            <a:spLocks noGrp="1"/>
          </p:cNvSpPr>
          <p:nvPr>
            <p:ph type="ftr" sz="quarter" idx="17"/>
          </p:nvPr>
        </p:nvSpPr>
        <p:spPr>
          <a:xfrm>
            <a:off x="772090" y="64008"/>
            <a:ext cx="2816835" cy="338328"/>
          </a:xfrm>
        </p:spPr>
        <p:txBody>
          <a:bodyPr/>
          <a:lstStyle/>
          <a:p>
            <a:endParaRPr lang="en-US"/>
          </a:p>
        </p:txBody>
      </p:sp>
      <p:sp>
        <p:nvSpPr>
          <p:cNvPr id="3" name="Date Placeholder 2">
            <a:extLst>
              <a:ext uri="{FF2B5EF4-FFF2-40B4-BE49-F238E27FC236}">
                <a16:creationId xmlns:a16="http://schemas.microsoft.com/office/drawing/2014/main" id="{984B292A-7A06-6DDC-E8C4-EBEEF5A46C03}"/>
              </a:ext>
            </a:extLst>
          </p:cNvPr>
          <p:cNvSpPr>
            <a:spLocks noGrp="1"/>
          </p:cNvSpPr>
          <p:nvPr>
            <p:ph type="dt" sz="half" idx="16"/>
          </p:nvPr>
        </p:nvSpPr>
        <p:spPr>
          <a:xfrm>
            <a:off x="9291411" y="64008"/>
            <a:ext cx="1612674" cy="338328"/>
          </a:xfrm>
        </p:spPr>
        <p:txBody>
          <a:bodyPr/>
          <a:lstStyle/>
          <a:p>
            <a:fld id="{D7E3ECEC-7E7B-4FB9-BAE8-5C10F12795EA}" type="datetimeFigureOut">
              <a:rPr lang="en-US" smtClean="0"/>
              <a:t>1/29/2026</a:t>
            </a:fld>
            <a:endParaRPr lang="en-US"/>
          </a:p>
        </p:txBody>
      </p:sp>
      <p:sp>
        <p:nvSpPr>
          <p:cNvPr id="10" name="Slide Number Placeholder 9">
            <a:extLst>
              <a:ext uri="{FF2B5EF4-FFF2-40B4-BE49-F238E27FC236}">
                <a16:creationId xmlns:a16="http://schemas.microsoft.com/office/drawing/2014/main" id="{5D35E09C-E9FB-8393-0705-FD349F06C4C1}"/>
              </a:ext>
            </a:extLst>
          </p:cNvPr>
          <p:cNvSpPr>
            <a:spLocks noGrp="1"/>
          </p:cNvSpPr>
          <p:nvPr>
            <p:ph type="sldNum" sz="quarter" idx="18"/>
          </p:nvPr>
        </p:nvSpPr>
        <p:spPr>
          <a:xfrm>
            <a:off x="11050742" y="64008"/>
            <a:ext cx="457200" cy="338328"/>
          </a:xfrm>
        </p:spPr>
        <p:txBody>
          <a:bodyPr/>
          <a:lstStyle/>
          <a:p>
            <a:fld id="{235F31FF-4816-4A7C-BAEE-4B5C41A91EB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822959"/>
            <a:ext cx="7092745" cy="19986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90B4482-E492-864A-9429-7F3F86067CBD}"/>
              </a:ext>
            </a:extLst>
          </p:cNvPr>
          <p:cNvSpPr>
            <a:spLocks noGrp="1"/>
          </p:cNvSpPr>
          <p:nvPr>
            <p:ph type="pic" sz="quarter" idx="15" hasCustomPrompt="1"/>
          </p:nvPr>
        </p:nvSpPr>
        <p:spPr>
          <a:xfrm>
            <a:off x="0" y="3268078"/>
            <a:ext cx="11468100" cy="3589922"/>
          </a:xfrm>
          <a:custGeom>
            <a:avLst/>
            <a:gdLst>
              <a:gd name="connsiteX0" fmla="*/ 0 w 11468100"/>
              <a:gd name="connsiteY0" fmla="*/ 0 h 3589922"/>
              <a:gd name="connsiteX1" fmla="*/ 10964923 w 11468100"/>
              <a:gd name="connsiteY1" fmla="*/ 0 h 3589922"/>
              <a:gd name="connsiteX2" fmla="*/ 11468100 w 11468100"/>
              <a:gd name="connsiteY2" fmla="*/ 501522 h 3589922"/>
              <a:gd name="connsiteX3" fmla="*/ 11468100 w 11468100"/>
              <a:gd name="connsiteY3" fmla="*/ 3589922 h 3589922"/>
              <a:gd name="connsiteX4" fmla="*/ 0 w 11468100"/>
              <a:gd name="connsiteY4" fmla="*/ 3589922 h 3589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589922">
                <a:moveTo>
                  <a:pt x="0" y="0"/>
                </a:moveTo>
                <a:lnTo>
                  <a:pt x="10964923" y="0"/>
                </a:lnTo>
                <a:cubicBezTo>
                  <a:pt x="11242820" y="0"/>
                  <a:pt x="11468100" y="224539"/>
                  <a:pt x="11468100" y="501522"/>
                </a:cubicBezTo>
                <a:lnTo>
                  <a:pt x="11468100" y="3589922"/>
                </a:lnTo>
                <a:lnTo>
                  <a:pt x="0" y="3589922"/>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691466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3316097"/>
            <a:ext cx="3242191" cy="1704459"/>
          </a:xfrm>
        </p:spPr>
        <p:txBody>
          <a:bodyPr anchor="t">
            <a:noAutofit/>
          </a:bodyPr>
          <a:lstStyle>
            <a:lvl1pPr>
              <a:defRPr sz="2500"/>
            </a:lvl1pPr>
          </a:lstStyle>
          <a:p>
            <a:r>
              <a:rPr lang="en-US"/>
              <a:t>Click to edit Master title style</a:t>
            </a:r>
          </a:p>
        </p:txBody>
      </p:sp>
      <p:sp>
        <p:nvSpPr>
          <p:cNvPr id="4" name="Picture Placeholder 3">
            <a:extLst>
              <a:ext uri="{FF2B5EF4-FFF2-40B4-BE49-F238E27FC236}">
                <a16:creationId xmlns:a16="http://schemas.microsoft.com/office/drawing/2014/main" id="{D6389053-627F-50C3-46B2-6517FF15D614}"/>
              </a:ext>
            </a:extLst>
          </p:cNvPr>
          <p:cNvSpPr>
            <a:spLocks noGrp="1"/>
          </p:cNvSpPr>
          <p:nvPr>
            <p:ph type="pic" sz="quarter" idx="15" hasCustomPrompt="1"/>
          </p:nvPr>
        </p:nvSpPr>
        <p:spPr>
          <a:xfrm>
            <a:off x="0" y="1"/>
            <a:ext cx="11468100" cy="2879959"/>
          </a:xfrm>
          <a:custGeom>
            <a:avLst/>
            <a:gdLst>
              <a:gd name="connsiteX0" fmla="*/ 0 w 11468100"/>
              <a:gd name="connsiteY0" fmla="*/ 0 h 2879959"/>
              <a:gd name="connsiteX1" fmla="*/ 11468100 w 11468100"/>
              <a:gd name="connsiteY1" fmla="*/ 0 h 2879959"/>
              <a:gd name="connsiteX2" fmla="*/ 11468100 w 11468100"/>
              <a:gd name="connsiteY2" fmla="*/ 2378437 h 2879959"/>
              <a:gd name="connsiteX3" fmla="*/ 10964923 w 11468100"/>
              <a:gd name="connsiteY3" fmla="*/ 2879959 h 2879959"/>
              <a:gd name="connsiteX4" fmla="*/ 0 w 11468100"/>
              <a:gd name="connsiteY4" fmla="*/ 2879959 h 287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2879959">
                <a:moveTo>
                  <a:pt x="0" y="0"/>
                </a:moveTo>
                <a:lnTo>
                  <a:pt x="11468100" y="0"/>
                </a:lnTo>
                <a:lnTo>
                  <a:pt x="11468100" y="2378437"/>
                </a:lnTo>
                <a:cubicBezTo>
                  <a:pt x="11468100" y="2655420"/>
                  <a:pt x="11242820" y="2879959"/>
                  <a:pt x="10964923" y="2879959"/>
                </a:cubicBezTo>
                <a:lnTo>
                  <a:pt x="0" y="287995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3316096"/>
            <a:ext cx="7092745" cy="28529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943917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04428"/>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5F790B68-0230-A98B-796E-2C008AC2CC5D}"/>
              </a:ext>
            </a:extLst>
          </p:cNvPr>
          <p:cNvSpPr>
            <a:spLocks noGrp="1"/>
          </p:cNvSpPr>
          <p:nvPr>
            <p:ph type="pic" sz="quarter" idx="15" hasCustomPrompt="1"/>
          </p:nvPr>
        </p:nvSpPr>
        <p:spPr>
          <a:xfrm>
            <a:off x="0" y="1750092"/>
            <a:ext cx="6553940" cy="5107908"/>
          </a:xfrm>
          <a:custGeom>
            <a:avLst/>
            <a:gdLst>
              <a:gd name="connsiteX0" fmla="*/ 0 w 6553940"/>
              <a:gd name="connsiteY0" fmla="*/ 0 h 5107908"/>
              <a:gd name="connsiteX1" fmla="*/ 6118541 w 6553940"/>
              <a:gd name="connsiteY1" fmla="*/ 0 h 5107908"/>
              <a:gd name="connsiteX2" fmla="*/ 6553940 w 6553940"/>
              <a:gd name="connsiteY2" fmla="*/ 439618 h 5107908"/>
              <a:gd name="connsiteX3" fmla="*/ 6553940 w 6553940"/>
              <a:gd name="connsiteY3" fmla="*/ 5107908 h 5107908"/>
              <a:gd name="connsiteX4" fmla="*/ 0 w 6553940"/>
              <a:gd name="connsiteY4" fmla="*/ 5107908 h 510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3940" h="5107908">
                <a:moveTo>
                  <a:pt x="0" y="0"/>
                </a:moveTo>
                <a:lnTo>
                  <a:pt x="6118541" y="0"/>
                </a:lnTo>
                <a:cubicBezTo>
                  <a:pt x="6359005" y="0"/>
                  <a:pt x="6553940" y="196824"/>
                  <a:pt x="6553940" y="439618"/>
                </a:cubicBezTo>
                <a:lnTo>
                  <a:pt x="6553940" y="5107908"/>
                </a:lnTo>
                <a:lnTo>
                  <a:pt x="0" y="510790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199994" y="1679171"/>
            <a:ext cx="4268106" cy="44930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99994" y="6389695"/>
            <a:ext cx="218382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3704" y="6389695"/>
            <a:ext cx="1625600" cy="338328"/>
          </a:xfrm>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5200" y="638969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086835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59"/>
            <a:ext cx="4811167" cy="916991"/>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40936EEA-460B-E34D-8B9C-832ADF15E401}"/>
              </a:ext>
            </a:extLst>
          </p:cNvPr>
          <p:cNvSpPr>
            <a:spLocks noGrp="1"/>
          </p:cNvSpPr>
          <p:nvPr>
            <p:ph type="pic" sz="quarter" idx="15" hasCustomPrompt="1"/>
          </p:nvPr>
        </p:nvSpPr>
        <p:spPr>
          <a:xfrm>
            <a:off x="1" y="1958288"/>
            <a:ext cx="5620853" cy="4899713"/>
          </a:xfrm>
          <a:custGeom>
            <a:avLst/>
            <a:gdLst>
              <a:gd name="connsiteX0" fmla="*/ 0 w 5620853"/>
              <a:gd name="connsiteY0" fmla="*/ 0 h 4899713"/>
              <a:gd name="connsiteX1" fmla="*/ 5119331 w 5620853"/>
              <a:gd name="connsiteY1" fmla="*/ 0 h 4899713"/>
              <a:gd name="connsiteX2" fmla="*/ 5620853 w 5620853"/>
              <a:gd name="connsiteY2" fmla="*/ 501522 h 4899713"/>
              <a:gd name="connsiteX3" fmla="*/ 5620853 w 5620853"/>
              <a:gd name="connsiteY3" fmla="*/ 4899713 h 4899713"/>
              <a:gd name="connsiteX4" fmla="*/ 0 w 5620853"/>
              <a:gd name="connsiteY4" fmla="*/ 4899713 h 489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853" h="4899713">
                <a:moveTo>
                  <a:pt x="0" y="0"/>
                </a:moveTo>
                <a:lnTo>
                  <a:pt x="5119331" y="0"/>
                </a:lnTo>
                <a:cubicBezTo>
                  <a:pt x="5396314" y="0"/>
                  <a:pt x="5620853" y="224539"/>
                  <a:pt x="5620853" y="501522"/>
                </a:cubicBezTo>
                <a:lnTo>
                  <a:pt x="5620853" y="4899713"/>
                </a:lnTo>
                <a:lnTo>
                  <a:pt x="0" y="4899713"/>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314184" y="822960"/>
            <a:ext cx="5153915" cy="527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11795" y="6387559"/>
            <a:ext cx="286839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31917" y="6387559"/>
            <a:ext cx="1658678" cy="338328"/>
          </a:xfrm>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5" y="6387559"/>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34605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383280" cy="1269365"/>
          </a:xfrm>
        </p:spPr>
        <p:txBody>
          <a:bodyPr anchor="t">
            <a:normAutofit/>
          </a:bodyPr>
          <a:lstStyle>
            <a:lvl1pPr>
              <a:defRPr sz="2500"/>
            </a:lvl1pPr>
          </a:lstStyle>
          <a:p>
            <a:r>
              <a:rPr lang="en-US"/>
              <a:t>Click to edit Master title style</a:t>
            </a:r>
          </a:p>
        </p:txBody>
      </p:sp>
      <p:sp>
        <p:nvSpPr>
          <p:cNvPr id="11" name="Picture Placeholder 9">
            <a:extLst>
              <a:ext uri="{FF2B5EF4-FFF2-40B4-BE49-F238E27FC236}">
                <a16:creationId xmlns:a16="http://schemas.microsoft.com/office/drawing/2014/main" id="{2E39E907-908A-148E-8CF0-2C3161E428B4}"/>
              </a:ext>
            </a:extLst>
          </p:cNvPr>
          <p:cNvSpPr>
            <a:spLocks noGrp="1"/>
          </p:cNvSpPr>
          <p:nvPr>
            <p:ph type="pic" sz="quarter" idx="15" hasCustomPrompt="1"/>
          </p:nvPr>
        </p:nvSpPr>
        <p:spPr>
          <a:xfrm>
            <a:off x="1" y="2387462"/>
            <a:ext cx="4145281" cy="4470539"/>
          </a:xfrm>
          <a:custGeom>
            <a:avLst/>
            <a:gdLst>
              <a:gd name="connsiteX0" fmla="*/ 0 w 4145281"/>
              <a:gd name="connsiteY0" fmla="*/ 0 h 4470539"/>
              <a:gd name="connsiteX1" fmla="*/ 3629230 w 4145281"/>
              <a:gd name="connsiteY1" fmla="*/ 0 h 4470539"/>
              <a:gd name="connsiteX2" fmla="*/ 4145281 w 4145281"/>
              <a:gd name="connsiteY2" fmla="*/ 516051 h 4470539"/>
              <a:gd name="connsiteX3" fmla="*/ 4145281 w 4145281"/>
              <a:gd name="connsiteY3" fmla="*/ 4470539 h 4470539"/>
              <a:gd name="connsiteX4" fmla="*/ 0 w 4145281"/>
              <a:gd name="connsiteY4" fmla="*/ 4470539 h 4470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1" h="4470539">
                <a:moveTo>
                  <a:pt x="0" y="0"/>
                </a:moveTo>
                <a:lnTo>
                  <a:pt x="3629230" y="0"/>
                </a:lnTo>
                <a:cubicBezTo>
                  <a:pt x="3914237" y="0"/>
                  <a:pt x="4145281" y="231044"/>
                  <a:pt x="4145281" y="516051"/>
                </a:cubicBezTo>
                <a:lnTo>
                  <a:pt x="4145281" y="4470539"/>
                </a:lnTo>
                <a:lnTo>
                  <a:pt x="0" y="447053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39479" y="781685"/>
            <a:ext cx="6628621" cy="5390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146266" y="6388215"/>
            <a:ext cx="296900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32999" y="6388215"/>
            <a:ext cx="2558901" cy="338328"/>
          </a:xfrm>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3" y="638821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5748437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 uri="{C183D7F6-B498-43B3-948B-1728B52AA6E4}">
                <adec:decorative xmlns:adec="http://schemas.microsoft.com/office/drawing/2017/decorative" val="1"/>
              </a:ext>
            </a:extLst>
          </p:cNvPr>
          <p:cNvSpPr/>
          <p:nvPr/>
        </p:nvSpPr>
        <p:spPr>
          <a:xfrm>
            <a:off x="-1524" y="0"/>
            <a:ext cx="12192000" cy="6858000"/>
          </a:xfrm>
          <a:prstGeom prst="rect">
            <a:avLst/>
          </a:prstGeom>
          <a:solidFill>
            <a:schemeClr val="accent3">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solidFill>
                <a:latin typeface="+mj-lt"/>
              </a:defRPr>
            </a:lvl1pPr>
          </a:lstStyle>
          <a:p>
            <a:pPr lvl="0"/>
            <a:r>
              <a:rPr lang="en-US"/>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1/29/2026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24765867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F3547126-466C-18B0-8C04-007D93615CD9}"/>
              </a:ext>
              <a:ext uri="{C183D7F6-B498-43B3-948B-1728B52AA6E4}">
                <adec:decorative xmlns:adec="http://schemas.microsoft.com/office/drawing/2017/decorative" val="1"/>
              </a:ext>
            </a:extLst>
          </p:cNvPr>
          <p:cNvSpPr/>
          <p:nvPr/>
        </p:nvSpPr>
        <p:spPr>
          <a:xfrm>
            <a:off x="0" y="-1"/>
            <a:ext cx="11208688" cy="5154130"/>
          </a:xfrm>
          <a:custGeom>
            <a:avLst/>
            <a:gdLst>
              <a:gd name="connsiteX0" fmla="*/ 0 w 11208688"/>
              <a:gd name="connsiteY0" fmla="*/ 0 h 5154130"/>
              <a:gd name="connsiteX1" fmla="*/ 11208688 w 11208688"/>
              <a:gd name="connsiteY1" fmla="*/ 0 h 5154130"/>
              <a:gd name="connsiteX2" fmla="*/ 11208688 w 11208688"/>
              <a:gd name="connsiteY2" fmla="*/ 526471 h 5154130"/>
              <a:gd name="connsiteX3" fmla="*/ 11208688 w 11208688"/>
              <a:gd name="connsiteY3" fmla="*/ 4126137 h 5154130"/>
              <a:gd name="connsiteX4" fmla="*/ 11208688 w 11208688"/>
              <a:gd name="connsiteY4" fmla="*/ 4652608 h 5154130"/>
              <a:gd name="connsiteX5" fmla="*/ 10707166 w 11208688"/>
              <a:gd name="connsiteY5" fmla="*/ 5154130 h 5154130"/>
              <a:gd name="connsiteX6" fmla="*/ 0 w 11208688"/>
              <a:gd name="connsiteY6" fmla="*/ 5154130 h 5154130"/>
              <a:gd name="connsiteX7" fmla="*/ 0 w 11208688"/>
              <a:gd name="connsiteY7" fmla="*/ 4627659 h 5154130"/>
              <a:gd name="connsiteX8" fmla="*/ 0 w 11208688"/>
              <a:gd name="connsiteY8" fmla="*/ 526471 h 515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08688" h="5154130">
                <a:moveTo>
                  <a:pt x="0" y="0"/>
                </a:moveTo>
                <a:lnTo>
                  <a:pt x="11208688" y="0"/>
                </a:lnTo>
                <a:lnTo>
                  <a:pt x="11208688" y="526471"/>
                </a:lnTo>
                <a:lnTo>
                  <a:pt x="11208688" y="4126137"/>
                </a:lnTo>
                <a:lnTo>
                  <a:pt x="11208688" y="4652608"/>
                </a:lnTo>
                <a:cubicBezTo>
                  <a:pt x="11208688" y="4929591"/>
                  <a:pt x="10984149" y="5154130"/>
                  <a:pt x="10707166" y="5154130"/>
                </a:cubicBezTo>
                <a:lnTo>
                  <a:pt x="0" y="5154130"/>
                </a:lnTo>
                <a:lnTo>
                  <a:pt x="0" y="4627659"/>
                </a:lnTo>
                <a:lnTo>
                  <a:pt x="0" y="5264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72089" y="5483352"/>
            <a:ext cx="10361130" cy="848177"/>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1015" y="684412"/>
            <a:ext cx="10592204" cy="4122998"/>
          </a:xfrm>
        </p:spPr>
        <p:txBody>
          <a:bodyPr vert="horz" lIns="91440" tIns="45720" rIns="91440" bIns="45720" rtlCol="0" anchor="b">
            <a:normAutofit/>
          </a:bodyPr>
          <a:lstStyle>
            <a:lvl1pPr marL="0" indent="0">
              <a:lnSpc>
                <a:spcPct val="90000"/>
              </a:lnSpc>
              <a:buNone/>
              <a:defRPr lang="en-US" sz="27800" spc="-200" baseline="0" dirty="0">
                <a:solidFill>
                  <a:schemeClr val="accent1"/>
                </a:solidFill>
                <a:latin typeface="+mj-lt"/>
              </a:defRPr>
            </a:lvl1pPr>
          </a:lstStyle>
          <a:p>
            <a:pPr lvl="0"/>
            <a:r>
              <a:rPr lang="en-US"/>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1/29/2026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68604114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D0AA79A0-CEA9-1C5C-A8CA-D3F95D56333A}"/>
              </a:ext>
              <a:ext uri="{C183D7F6-B498-43B3-948B-1728B52AA6E4}">
                <adec:decorative xmlns:adec="http://schemas.microsoft.com/office/drawing/2017/decorative" val="1"/>
              </a:ext>
            </a:extLst>
          </p:cNvPr>
          <p:cNvSpPr/>
          <p:nvPr/>
        </p:nvSpPr>
        <p:spPr>
          <a:xfrm>
            <a:off x="0" y="4757010"/>
            <a:ext cx="11208688" cy="2100988"/>
          </a:xfrm>
          <a:custGeom>
            <a:avLst/>
            <a:gdLst>
              <a:gd name="connsiteX0" fmla="*/ 0 w 11208688"/>
              <a:gd name="connsiteY0" fmla="*/ 0 h 2100988"/>
              <a:gd name="connsiteX1" fmla="*/ 10707166 w 11208688"/>
              <a:gd name="connsiteY1" fmla="*/ 0 h 2100988"/>
              <a:gd name="connsiteX2" fmla="*/ 11208688 w 11208688"/>
              <a:gd name="connsiteY2" fmla="*/ 501522 h 2100988"/>
              <a:gd name="connsiteX3" fmla="*/ 11208688 w 11208688"/>
              <a:gd name="connsiteY3" fmla="*/ 2100988 h 2100988"/>
              <a:gd name="connsiteX4" fmla="*/ 0 w 11208688"/>
              <a:gd name="connsiteY4" fmla="*/ 2100988 h 2100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100988">
                <a:moveTo>
                  <a:pt x="0" y="0"/>
                </a:moveTo>
                <a:lnTo>
                  <a:pt x="10707166" y="0"/>
                </a:lnTo>
                <a:cubicBezTo>
                  <a:pt x="10984149" y="0"/>
                  <a:pt x="11208688" y="224539"/>
                  <a:pt x="11208688" y="501522"/>
                </a:cubicBezTo>
                <a:lnTo>
                  <a:pt x="11208688" y="2100988"/>
                </a:lnTo>
                <a:lnTo>
                  <a:pt x="0" y="2100988"/>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F2C5FBA-F4AA-552B-2245-767D47272F3B}"/>
              </a:ext>
              <a:ext uri="{C183D7F6-B498-43B3-948B-1728B52AA6E4}">
                <adec:decorative xmlns:adec="http://schemas.microsoft.com/office/drawing/2017/decorative" val="1"/>
              </a:ext>
            </a:extLst>
          </p:cNvPr>
          <p:cNvSpPr/>
          <p:nvPr/>
        </p:nvSpPr>
        <p:spPr>
          <a:xfrm>
            <a:off x="0" y="1"/>
            <a:ext cx="11208688" cy="4627659"/>
          </a:xfrm>
          <a:custGeom>
            <a:avLst/>
            <a:gdLst>
              <a:gd name="connsiteX0" fmla="*/ 0 w 11208688"/>
              <a:gd name="connsiteY0" fmla="*/ 0 h 4627659"/>
              <a:gd name="connsiteX1" fmla="*/ 11208688 w 11208688"/>
              <a:gd name="connsiteY1" fmla="*/ 0 h 4627659"/>
              <a:gd name="connsiteX2" fmla="*/ 11208688 w 11208688"/>
              <a:gd name="connsiteY2" fmla="*/ 4126137 h 4627659"/>
              <a:gd name="connsiteX3" fmla="*/ 10707166 w 11208688"/>
              <a:gd name="connsiteY3" fmla="*/ 4627659 h 4627659"/>
              <a:gd name="connsiteX4" fmla="*/ 0 w 11208688"/>
              <a:gd name="connsiteY4" fmla="*/ 4627659 h 462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4627659">
                <a:moveTo>
                  <a:pt x="0" y="0"/>
                </a:moveTo>
                <a:lnTo>
                  <a:pt x="11208688" y="0"/>
                </a:lnTo>
                <a:lnTo>
                  <a:pt x="11208688" y="4126137"/>
                </a:lnTo>
                <a:cubicBezTo>
                  <a:pt x="11208688" y="4403120"/>
                  <a:pt x="10984149" y="4627659"/>
                  <a:pt x="10707166" y="4627659"/>
                </a:cubicBezTo>
                <a:lnTo>
                  <a:pt x="0" y="462765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30760"/>
            <a:ext cx="9738852" cy="1017639"/>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9328" y="420624"/>
            <a:ext cx="10592204" cy="4112875"/>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1/29/2026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532959607"/>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34677EE2-225B-FA02-73B9-DFB5D013592F}"/>
              </a:ext>
              <a:ext uri="{C183D7F6-B498-43B3-948B-1728B52AA6E4}">
                <adec:decorative xmlns:adec="http://schemas.microsoft.com/office/drawing/2017/decorative" val="1"/>
              </a:ext>
            </a:extLst>
          </p:cNvPr>
          <p:cNvSpPr/>
          <p:nvPr/>
        </p:nvSpPr>
        <p:spPr>
          <a:xfrm>
            <a:off x="0" y="4783948"/>
            <a:ext cx="11208688" cy="2074052"/>
          </a:xfrm>
          <a:custGeom>
            <a:avLst/>
            <a:gdLst>
              <a:gd name="connsiteX0" fmla="*/ 0 w 11208688"/>
              <a:gd name="connsiteY0" fmla="*/ 0 h 2074052"/>
              <a:gd name="connsiteX1" fmla="*/ 10707166 w 11208688"/>
              <a:gd name="connsiteY1" fmla="*/ 0 h 2074052"/>
              <a:gd name="connsiteX2" fmla="*/ 11208688 w 11208688"/>
              <a:gd name="connsiteY2" fmla="*/ 501522 h 2074052"/>
              <a:gd name="connsiteX3" fmla="*/ 11208688 w 11208688"/>
              <a:gd name="connsiteY3" fmla="*/ 2074052 h 2074052"/>
              <a:gd name="connsiteX4" fmla="*/ 0 w 11208688"/>
              <a:gd name="connsiteY4" fmla="*/ 2074052 h 2074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074052">
                <a:moveTo>
                  <a:pt x="0" y="0"/>
                </a:moveTo>
                <a:lnTo>
                  <a:pt x="10707166" y="0"/>
                </a:lnTo>
                <a:cubicBezTo>
                  <a:pt x="10984149" y="0"/>
                  <a:pt x="11208688" y="224539"/>
                  <a:pt x="11208688" y="501522"/>
                </a:cubicBezTo>
                <a:lnTo>
                  <a:pt x="11208688" y="2074052"/>
                </a:lnTo>
                <a:lnTo>
                  <a:pt x="0" y="207405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49809"/>
            <a:ext cx="9768348" cy="1109078"/>
          </a:xfrm>
        </p:spPr>
        <p:txBody>
          <a:bodyPr vert="horz" lIns="91440" tIns="45720" rIns="91440" bIns="45720" rtlCol="0" anchor="ctr">
            <a:normAutofit/>
          </a:bodyPr>
          <a:lstStyle>
            <a:lvl1pPr>
              <a:lnSpc>
                <a:spcPct val="100000"/>
              </a:lnSpc>
              <a:defRPr lang="en-US" sz="2400" dirty="0">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341968"/>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a:t>##%</a:t>
            </a:r>
          </a:p>
        </p:txBody>
      </p:sp>
      <p:sp>
        <p:nvSpPr>
          <p:cNvPr id="8" name="Footer Placeholder 7">
            <a:extLst>
              <a:ext uri="{FF2B5EF4-FFF2-40B4-BE49-F238E27FC236}">
                <a16:creationId xmlns:a16="http://schemas.microsoft.com/office/drawing/2014/main" id="{881EFD95-05D4-9FAB-FCB7-D3A2AB29456D}"/>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1D5117C2-BE70-9A87-4113-2ECE3F1A43BF}"/>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1/29/2026</a:t>
            </a:fld>
            <a:endParaRPr lang="en-US"/>
          </a:p>
        </p:txBody>
      </p:sp>
      <p:sp>
        <p:nvSpPr>
          <p:cNvPr id="9" name="Slide Number Placeholder 8">
            <a:extLst>
              <a:ext uri="{FF2B5EF4-FFF2-40B4-BE49-F238E27FC236}">
                <a16:creationId xmlns:a16="http://schemas.microsoft.com/office/drawing/2014/main" id="{33776532-A6F1-5788-D1D1-3F91B5B3B7D7}"/>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5136855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4CBAD94-77D4-9CC1-DE93-BFA7FA5FBBB6}"/>
              </a:ext>
              <a:ext uri="{C183D7F6-B498-43B3-948B-1728B52AA6E4}">
                <adec:decorative xmlns:adec="http://schemas.microsoft.com/office/drawing/2017/decorative" val="1"/>
              </a:ext>
            </a:extLst>
          </p:cNvPr>
          <p:cNvSpPr/>
          <p:nvPr/>
        </p:nvSpPr>
        <p:spPr>
          <a:xfrm>
            <a:off x="772090" y="0"/>
            <a:ext cx="11419910" cy="6096000"/>
          </a:xfrm>
          <a:custGeom>
            <a:avLst/>
            <a:gdLst>
              <a:gd name="connsiteX0" fmla="*/ 0 w 11419910"/>
              <a:gd name="connsiteY0" fmla="*/ 0 h 6096000"/>
              <a:gd name="connsiteX1" fmla="*/ 11419910 w 11419910"/>
              <a:gd name="connsiteY1" fmla="*/ 0 h 6096000"/>
              <a:gd name="connsiteX2" fmla="*/ 11419910 w 11419910"/>
              <a:gd name="connsiteY2" fmla="*/ 6096000 h 6096000"/>
              <a:gd name="connsiteX3" fmla="*/ 501522 w 11419910"/>
              <a:gd name="connsiteY3" fmla="*/ 6096000 h 6096000"/>
              <a:gd name="connsiteX4" fmla="*/ 0 w 11419910"/>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9910" h="6096000">
                <a:moveTo>
                  <a:pt x="0" y="0"/>
                </a:moveTo>
                <a:lnTo>
                  <a:pt x="11419910" y="0"/>
                </a:lnTo>
                <a:lnTo>
                  <a:pt x="11419910" y="6096000"/>
                </a:lnTo>
                <a:lnTo>
                  <a:pt x="501522" y="6096000"/>
                </a:lnTo>
                <a:cubicBezTo>
                  <a:pt x="224539" y="6096000"/>
                  <a:pt x="0" y="5871461"/>
                  <a:pt x="0" y="5594478"/>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0575" y="863029"/>
            <a:ext cx="9383510" cy="4685017"/>
          </a:xfrm>
        </p:spPr>
        <p:txBody>
          <a:bodyPr anchor="b">
            <a:noAutofit/>
          </a:bodyPr>
          <a:lstStyle>
            <a:lvl1pPr marL="0" indent="0">
              <a:lnSpc>
                <a:spcPct val="90000"/>
              </a:lnSpc>
              <a:buNone/>
              <a:defRPr sz="6600" b="0"/>
            </a:lvl1pPr>
            <a:lvl2pPr marL="228600" indent="0">
              <a:lnSpc>
                <a:spcPct val="90000"/>
              </a:lnSpc>
              <a:buNone/>
              <a:defRPr sz="6000" b="0"/>
            </a:lvl2pPr>
            <a:lvl3pPr marL="457200" indent="0">
              <a:lnSpc>
                <a:spcPct val="90000"/>
              </a:lnSpc>
              <a:buNone/>
              <a:defRPr sz="5400" b="0"/>
            </a:lvl3pPr>
            <a:lvl4pPr marL="685800" indent="0">
              <a:lnSpc>
                <a:spcPct val="90000"/>
              </a:lnSpc>
              <a:buNone/>
              <a:defRPr sz="4800" b="0"/>
            </a:lvl4pPr>
            <a:lvl5pPr marL="914400" indent="0">
              <a:lnSpc>
                <a:spcPct val="90000"/>
              </a:lnSpc>
              <a:buNone/>
              <a:defRPr sz="4400" b="0"/>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31128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4592" y="94592"/>
            <a:ext cx="11617947" cy="5752531"/>
          </a:xfrm>
        </p:spPr>
        <p:txBody>
          <a:bodyPr anchor="t">
            <a:noAutofit/>
          </a:bodyPr>
          <a:lstStyle>
            <a:lvl1pPr marL="0" indent="0">
              <a:lnSpc>
                <a:spcPct val="90000"/>
              </a:lnSpc>
              <a:buNone/>
              <a:defRPr sz="7200" b="0" cap="all" spc="-100" baseline="0">
                <a:solidFill>
                  <a:schemeClr val="accent1"/>
                </a:solidFill>
              </a:defRPr>
            </a:lvl1pPr>
            <a:lvl2pPr marL="228600" indent="0">
              <a:lnSpc>
                <a:spcPct val="90000"/>
              </a:lnSpc>
              <a:buNone/>
              <a:defRPr sz="7200" b="0" cap="all" spc="-100" baseline="0">
                <a:solidFill>
                  <a:schemeClr val="accent1"/>
                </a:solidFill>
              </a:defRPr>
            </a:lvl2pPr>
            <a:lvl3pPr marL="457200" indent="0">
              <a:lnSpc>
                <a:spcPct val="90000"/>
              </a:lnSpc>
              <a:buNone/>
              <a:defRPr sz="7200" b="0" cap="all" spc="-100" baseline="0">
                <a:solidFill>
                  <a:schemeClr val="accent1"/>
                </a:solidFill>
              </a:defRPr>
            </a:lvl3pPr>
            <a:lvl4pPr marL="685800" indent="0">
              <a:lnSpc>
                <a:spcPct val="90000"/>
              </a:lnSpc>
              <a:buNone/>
              <a:defRPr sz="7200" b="0" cap="all" spc="-100" baseline="0">
                <a:solidFill>
                  <a:schemeClr val="accent1"/>
                </a:solidFill>
              </a:defRPr>
            </a:lvl4pPr>
            <a:lvl5pPr marL="914400" indent="0">
              <a:lnSpc>
                <a:spcPct val="90000"/>
              </a:lnSpc>
              <a:buNone/>
              <a:defRPr sz="7200" b="0" cap="all" spc="-100" baseline="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271115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0E08BE8-EB98-F551-F5ED-FE16CE82FBB9}"/>
              </a:ext>
              <a:ext uri="{C183D7F6-B498-43B3-948B-1728B52AA6E4}">
                <adec:decorative xmlns:adec="http://schemas.microsoft.com/office/drawing/2017/decorative" val="1"/>
              </a:ext>
            </a:extLst>
          </p:cNvPr>
          <p:cNvSpPr/>
          <p:nvPr/>
        </p:nvSpPr>
        <p:spPr>
          <a:xfrm>
            <a:off x="1" y="0"/>
            <a:ext cx="11139327" cy="5821522"/>
          </a:xfrm>
          <a:custGeom>
            <a:avLst/>
            <a:gdLst>
              <a:gd name="connsiteX0" fmla="*/ 0 w 11139327"/>
              <a:gd name="connsiteY0" fmla="*/ 0 h 5821522"/>
              <a:gd name="connsiteX1" fmla="*/ 11139327 w 11139327"/>
              <a:gd name="connsiteY1" fmla="*/ 0 h 5821522"/>
              <a:gd name="connsiteX2" fmla="*/ 11139327 w 11139327"/>
              <a:gd name="connsiteY2" fmla="*/ 5320000 h 5821522"/>
              <a:gd name="connsiteX3" fmla="*/ 10637805 w 11139327"/>
              <a:gd name="connsiteY3" fmla="*/ 5821522 h 5821522"/>
              <a:gd name="connsiteX4" fmla="*/ 0 w 11139327"/>
              <a:gd name="connsiteY4" fmla="*/ 5821522 h 5821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9327" h="5821522">
                <a:moveTo>
                  <a:pt x="0" y="0"/>
                </a:moveTo>
                <a:lnTo>
                  <a:pt x="11139327" y="0"/>
                </a:lnTo>
                <a:lnTo>
                  <a:pt x="11139327" y="5320000"/>
                </a:lnTo>
                <a:cubicBezTo>
                  <a:pt x="11139327" y="5596983"/>
                  <a:pt x="10914788" y="5821522"/>
                  <a:pt x="10637805" y="5821522"/>
                </a:cubicBezTo>
                <a:lnTo>
                  <a:pt x="0" y="582152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90418" y="288194"/>
            <a:ext cx="9976207" cy="5025678"/>
          </a:xfrm>
        </p:spPr>
        <p:txBody>
          <a:bodyPr anchor="t">
            <a:noAutofit/>
          </a:bodyPr>
          <a:lstStyle>
            <a:lvl1pPr marL="0" indent="0">
              <a:lnSpc>
                <a:spcPct val="90000"/>
              </a:lnSpc>
              <a:buNone/>
              <a:defRPr sz="6600" b="0" cap="all" spc="-100" baseline="0">
                <a:solidFill>
                  <a:schemeClr val="accent1"/>
                </a:solidFill>
              </a:defRPr>
            </a:lvl1pPr>
            <a:lvl2pPr marL="228600" indent="0">
              <a:lnSpc>
                <a:spcPct val="90000"/>
              </a:lnSpc>
              <a:buNone/>
              <a:defRPr sz="6600" b="0" cap="all" spc="-100" baseline="0">
                <a:solidFill>
                  <a:schemeClr val="accent1"/>
                </a:solidFill>
              </a:defRPr>
            </a:lvl2pPr>
            <a:lvl3pPr marL="457200" indent="0">
              <a:lnSpc>
                <a:spcPct val="90000"/>
              </a:lnSpc>
              <a:buNone/>
              <a:defRPr sz="6600" b="0" cap="all" spc="-100" baseline="0">
                <a:solidFill>
                  <a:schemeClr val="accent1"/>
                </a:solidFill>
              </a:defRPr>
            </a:lvl3pPr>
            <a:lvl4pPr marL="685800" indent="0">
              <a:lnSpc>
                <a:spcPct val="90000"/>
              </a:lnSpc>
              <a:buNone/>
              <a:defRPr sz="6600" b="0" cap="all" spc="-100" baseline="0">
                <a:solidFill>
                  <a:schemeClr val="accent1"/>
                </a:solidFill>
              </a:defRPr>
            </a:lvl4pPr>
            <a:lvl5pPr marL="914400" indent="0">
              <a:lnSpc>
                <a:spcPct val="90000"/>
              </a:lnSpc>
              <a:buNone/>
              <a:defRPr sz="6600" b="0" cap="all" spc="-100" baseline="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766689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AB2664E-ED20-1581-CFBA-A89627E3FD59}"/>
              </a:ext>
              <a:ext uri="{C183D7F6-B498-43B3-948B-1728B52AA6E4}">
                <adec:decorative xmlns:adec="http://schemas.microsoft.com/office/drawing/2017/decorative" val="1"/>
              </a:ext>
            </a:extLst>
          </p:cNvPr>
          <p:cNvSpPr/>
          <p:nvPr/>
        </p:nvSpPr>
        <p:spPr>
          <a:xfrm>
            <a:off x="1" y="0"/>
            <a:ext cx="10719069" cy="5585244"/>
          </a:xfrm>
          <a:custGeom>
            <a:avLst/>
            <a:gdLst>
              <a:gd name="connsiteX0" fmla="*/ 0 w 10719069"/>
              <a:gd name="connsiteY0" fmla="*/ 0 h 5585244"/>
              <a:gd name="connsiteX1" fmla="*/ 10719069 w 10719069"/>
              <a:gd name="connsiteY1" fmla="*/ 0 h 5585244"/>
              <a:gd name="connsiteX2" fmla="*/ 10719069 w 10719069"/>
              <a:gd name="connsiteY2" fmla="*/ 5083722 h 5585244"/>
              <a:gd name="connsiteX3" fmla="*/ 10217547 w 10719069"/>
              <a:gd name="connsiteY3" fmla="*/ 5585244 h 5585244"/>
              <a:gd name="connsiteX4" fmla="*/ 0 w 10719069"/>
              <a:gd name="connsiteY4" fmla="*/ 5585244 h 558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069" h="5585244">
                <a:moveTo>
                  <a:pt x="0" y="0"/>
                </a:moveTo>
                <a:lnTo>
                  <a:pt x="10719069" y="0"/>
                </a:lnTo>
                <a:lnTo>
                  <a:pt x="10719069" y="5083722"/>
                </a:lnTo>
                <a:cubicBezTo>
                  <a:pt x="10719069" y="5360705"/>
                  <a:pt x="10494530" y="5585244"/>
                  <a:pt x="10217547" y="5585244"/>
                </a:cubicBezTo>
                <a:lnTo>
                  <a:pt x="0" y="5585244"/>
                </a:lnTo>
                <a:close/>
              </a:path>
            </a:pathLst>
          </a:cu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1515" y="606176"/>
            <a:ext cx="9339210" cy="4530904"/>
          </a:xfrm>
        </p:spPr>
        <p:txBody>
          <a:bodyPr anchor="b">
            <a:normAutofit/>
          </a:bodyPr>
          <a:lstStyle>
            <a:lvl1pPr marL="0" indent="0">
              <a:lnSpc>
                <a:spcPct val="90000"/>
              </a:lnSpc>
              <a:buNone/>
              <a:defRPr sz="6600" b="0" cap="none" baseline="0">
                <a:solidFill>
                  <a:schemeClr val="accent1"/>
                </a:solidFill>
              </a:defRPr>
            </a:lvl1pPr>
            <a:lvl2pPr marL="228600" indent="0">
              <a:lnSpc>
                <a:spcPct val="90000"/>
              </a:lnSpc>
              <a:buNone/>
              <a:defRPr sz="6000" b="0" cap="none" baseline="0">
                <a:solidFill>
                  <a:schemeClr val="accent1"/>
                </a:solidFill>
              </a:defRPr>
            </a:lvl2pPr>
            <a:lvl3pPr marL="457200" indent="0">
              <a:lnSpc>
                <a:spcPct val="90000"/>
              </a:lnSpc>
              <a:buNone/>
              <a:defRPr sz="5400" b="0" cap="none" baseline="0">
                <a:solidFill>
                  <a:schemeClr val="accent1"/>
                </a:solidFill>
              </a:defRPr>
            </a:lvl3pPr>
            <a:lvl4pPr marL="685800" indent="0">
              <a:lnSpc>
                <a:spcPct val="90000"/>
              </a:lnSpc>
              <a:buNone/>
              <a:defRPr sz="4800" b="0" cap="none" baseline="0">
                <a:solidFill>
                  <a:schemeClr val="accent1"/>
                </a:solidFill>
              </a:defRPr>
            </a:lvl4pPr>
            <a:lvl5pPr marL="914400" indent="0">
              <a:lnSpc>
                <a:spcPct val="90000"/>
              </a:lnSpc>
              <a:buNone/>
              <a:defRPr sz="4400" b="0" cap="none" baseline="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D7E3ECEC-7E7B-4FB9-BAE8-5C10F12795EA}" type="datetimeFigureOut">
              <a:rPr lang="en-US" smtClean="0"/>
              <a:t>1/29/2026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36662946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43032" y="1455226"/>
            <a:ext cx="10152770" cy="5065498"/>
          </a:xfrm>
        </p:spPr>
        <p:txBody>
          <a:bodyPr anchor="b">
            <a:normAutofit/>
          </a:bodyPr>
          <a:lstStyle>
            <a:lvl1pPr marL="0" indent="0">
              <a:lnSpc>
                <a:spcPct val="90000"/>
              </a:lnSpc>
              <a:buNone/>
              <a:defRPr sz="7200" b="0">
                <a:solidFill>
                  <a:schemeClr val="accent1"/>
                </a:solidFill>
              </a:defRPr>
            </a:lvl1pPr>
            <a:lvl2pPr marL="228600" indent="0">
              <a:lnSpc>
                <a:spcPct val="90000"/>
              </a:lnSpc>
              <a:buNone/>
              <a:defRPr sz="6600" b="0">
                <a:solidFill>
                  <a:schemeClr val="accent1"/>
                </a:solidFill>
              </a:defRPr>
            </a:lvl2pPr>
            <a:lvl3pPr marL="457200" indent="0">
              <a:lnSpc>
                <a:spcPct val="90000"/>
              </a:lnSpc>
              <a:buNone/>
              <a:defRPr sz="6000" b="0">
                <a:solidFill>
                  <a:schemeClr val="accent1"/>
                </a:solidFill>
              </a:defRPr>
            </a:lvl3pPr>
            <a:lvl4pPr marL="685800" indent="0">
              <a:lnSpc>
                <a:spcPct val="90000"/>
              </a:lnSpc>
              <a:buNone/>
              <a:defRPr sz="5400" b="0">
                <a:solidFill>
                  <a:schemeClr val="accent1"/>
                </a:solidFill>
              </a:defRPr>
            </a:lvl4pPr>
            <a:lvl5pPr marL="914400" indent="0">
              <a:lnSpc>
                <a:spcPct val="90000"/>
              </a:lnSpc>
              <a:buNone/>
              <a:defRPr sz="48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68096" y="64008"/>
            <a:ext cx="3569995" cy="338328"/>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91411" y="64008"/>
            <a:ext cx="1612674" cy="338328"/>
          </a:xfrm>
        </p:spPr>
        <p:txBody>
          <a:bodyPr/>
          <a:lstStyle/>
          <a:p>
            <a:fld id="{D7E3ECEC-7E7B-4FB9-BAE8-5C10F12795EA}" type="datetimeFigureOut">
              <a:rPr lang="en-US" smtClean="0"/>
              <a:t>1/29/2026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55096" y="64008"/>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1609952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72090" y="5085707"/>
            <a:ext cx="8968722" cy="757309"/>
          </a:xfrm>
        </p:spPr>
        <p:txBody>
          <a:bodyPr anchor="t">
            <a:normAutofit/>
          </a:bodyPr>
          <a:lstStyle>
            <a:lvl1pPr>
              <a:lnSpc>
                <a:spcPct val="120000"/>
              </a:lnSpc>
              <a:defRPr sz="160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821934"/>
            <a:ext cx="8968722" cy="3742116"/>
          </a:xfrm>
        </p:spPr>
        <p:txBody>
          <a:bodyPr anchor="t">
            <a:normAutofit/>
          </a:bodyPr>
          <a:lstStyle>
            <a:lvl1pPr marL="137160" indent="-137160">
              <a:lnSpc>
                <a:spcPct val="100000"/>
              </a:lnSpc>
              <a:spcBef>
                <a:spcPts val="0"/>
              </a:spcBef>
              <a:buNone/>
              <a:defRPr sz="6000">
                <a:solidFill>
                  <a:schemeClr val="accent1"/>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379772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8096" y="4965192"/>
            <a:ext cx="9841113" cy="1289304"/>
          </a:xfrm>
        </p:spPr>
        <p:txBody>
          <a:bodyPr anchor="ctr">
            <a:normAutofit/>
          </a:bodyPr>
          <a:lstStyle>
            <a:lvl1pPr>
              <a:lnSpc>
                <a:spcPct val="120000"/>
              </a:lnSpc>
              <a:defRPr sz="1800" b="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729465"/>
            <a:ext cx="9841114" cy="3814182"/>
          </a:xfrm>
        </p:spPr>
        <p:txBody>
          <a:bodyPr anchor="t">
            <a:normAutofit/>
          </a:bodyPr>
          <a:lstStyle>
            <a:lvl1pPr marL="137160" indent="-137160">
              <a:lnSpc>
                <a:spcPct val="90000"/>
              </a:lnSpc>
              <a:spcBef>
                <a:spcPts val="0"/>
              </a:spcBef>
              <a:buNone/>
              <a:defRPr sz="7200">
                <a:solidFill>
                  <a:schemeClr val="accent1"/>
                </a:solidFill>
                <a:latin typeface="+mj-lt"/>
              </a:defRPr>
            </a:lvl1pPr>
          </a:lstStyle>
          <a:p>
            <a:pPr lvl="0"/>
            <a:r>
              <a:rPr lang="en-US"/>
              <a:t>Click to edit Quote</a:t>
            </a:r>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D7E3ECEC-7E7B-4FB9-BAE8-5C10F12795EA}" type="datetimeFigureOut">
              <a:rPr lang="en-US" smtClean="0"/>
              <a:t>1/29/2026</a:t>
            </a:fld>
            <a:endParaRPr lang="en-US"/>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501234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43F357D-01B6-71AD-58FF-26C551B8D6F8}"/>
              </a:ext>
              <a:ext uri="{C183D7F6-B498-43B3-948B-1728B52AA6E4}">
                <adec:decorative xmlns:adec="http://schemas.microsoft.com/office/drawing/2017/decorative" val="1"/>
              </a:ext>
            </a:extLst>
          </p:cNvPr>
          <p:cNvSpPr/>
          <p:nvPr/>
        </p:nvSpPr>
        <p:spPr>
          <a:xfrm rot="10800000" flipH="1">
            <a:off x="0" y="5155892"/>
            <a:ext cx="11468099" cy="1702107"/>
          </a:xfrm>
          <a:custGeom>
            <a:avLst/>
            <a:gdLst>
              <a:gd name="connsiteX0" fmla="*/ 10322569 w 10836926"/>
              <a:gd name="connsiteY0" fmla="*/ 1702107 h 1702107"/>
              <a:gd name="connsiteX1" fmla="*/ 0 w 10836926"/>
              <a:gd name="connsiteY1" fmla="*/ 1702107 h 1702107"/>
              <a:gd name="connsiteX2" fmla="*/ 0 w 10836926"/>
              <a:gd name="connsiteY2" fmla="*/ 0 h 1702107"/>
              <a:gd name="connsiteX3" fmla="*/ 10836926 w 10836926"/>
              <a:gd name="connsiteY3" fmla="*/ 0 h 1702107"/>
              <a:gd name="connsiteX4" fmla="*/ 10836926 w 10836926"/>
              <a:gd name="connsiteY4" fmla="*/ 1187751 h 1702107"/>
              <a:gd name="connsiteX5" fmla="*/ 10322569 w 10836926"/>
              <a:gd name="connsiteY5" fmla="*/ 1702107 h 1702107"/>
              <a:gd name="connsiteX0" fmla="*/ 10990389 w 11504746"/>
              <a:gd name="connsiteY0" fmla="*/ 1702107 h 1702107"/>
              <a:gd name="connsiteX1" fmla="*/ 0 w 11504746"/>
              <a:gd name="connsiteY1" fmla="*/ 1702107 h 1702107"/>
              <a:gd name="connsiteX2" fmla="*/ 667820 w 11504746"/>
              <a:gd name="connsiteY2" fmla="*/ 0 h 1702107"/>
              <a:gd name="connsiteX3" fmla="*/ 11504746 w 11504746"/>
              <a:gd name="connsiteY3" fmla="*/ 0 h 1702107"/>
              <a:gd name="connsiteX4" fmla="*/ 11504746 w 11504746"/>
              <a:gd name="connsiteY4" fmla="*/ 1187751 h 1702107"/>
              <a:gd name="connsiteX5" fmla="*/ 10990389 w 11504746"/>
              <a:gd name="connsiteY5" fmla="*/ 1702107 h 1702107"/>
              <a:gd name="connsiteX0" fmla="*/ 11000664 w 11515021"/>
              <a:gd name="connsiteY0" fmla="*/ 1702107 h 1702107"/>
              <a:gd name="connsiteX1" fmla="*/ 10275 w 11515021"/>
              <a:gd name="connsiteY1" fmla="*/ 1702107 h 1702107"/>
              <a:gd name="connsiteX2" fmla="*/ 0 w 11515021"/>
              <a:gd name="connsiteY2" fmla="*/ 0 h 1702107"/>
              <a:gd name="connsiteX3" fmla="*/ 11515021 w 11515021"/>
              <a:gd name="connsiteY3" fmla="*/ 0 h 1702107"/>
              <a:gd name="connsiteX4" fmla="*/ 11515021 w 11515021"/>
              <a:gd name="connsiteY4" fmla="*/ 1187751 h 1702107"/>
              <a:gd name="connsiteX5" fmla="*/ 11000664 w 11515021"/>
              <a:gd name="connsiteY5" fmla="*/ 1702107 h 170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5021" h="1702107">
                <a:moveTo>
                  <a:pt x="11000664" y="1702107"/>
                </a:moveTo>
                <a:lnTo>
                  <a:pt x="10275" y="1702107"/>
                </a:lnTo>
                <a:lnTo>
                  <a:pt x="0" y="0"/>
                </a:lnTo>
                <a:lnTo>
                  <a:pt x="11515021" y="0"/>
                </a:lnTo>
                <a:lnTo>
                  <a:pt x="11515021" y="1187751"/>
                </a:lnTo>
                <a:cubicBezTo>
                  <a:pt x="11515021" y="1471822"/>
                  <a:pt x="11284736" y="1702107"/>
                  <a:pt x="11000664" y="1702107"/>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438381" y="5684948"/>
            <a:ext cx="9060691" cy="643997"/>
          </a:xfrm>
        </p:spPr>
        <p:txBody>
          <a:bodyPr anchor="ctr">
            <a:normAutofit/>
          </a:bodyPr>
          <a:lstStyle>
            <a:lvl1pPr algn="r">
              <a:lnSpc>
                <a:spcPct val="120000"/>
              </a:lnSpc>
              <a:defRPr sz="160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38382" y="1027417"/>
            <a:ext cx="9060691" cy="3400746"/>
          </a:xfrm>
        </p:spPr>
        <p:txBody>
          <a:bodyPr anchor="ctr">
            <a:normAutofit/>
          </a:bodyPr>
          <a:lstStyle>
            <a:lvl1pPr marL="137160" indent="-137160">
              <a:lnSpc>
                <a:spcPct val="100000"/>
              </a:lnSpc>
              <a:spcBef>
                <a:spcPts val="0"/>
              </a:spcBef>
              <a:buNone/>
              <a:defRPr sz="4800">
                <a:solidFill>
                  <a:schemeClr val="accent1"/>
                </a:solidFill>
                <a:latin typeface="+mj-lt"/>
              </a:defRPr>
            </a:lvl1pPr>
          </a:lstStyle>
          <a:p>
            <a:pPr lvl="0"/>
            <a:r>
              <a:rPr lang="en-US"/>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772090" y="6382512"/>
            <a:ext cx="2816835" cy="338328"/>
          </a:xfrm>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a:xfrm>
            <a:off x="9291411" y="6382512"/>
            <a:ext cx="1612674" cy="338328"/>
          </a:xfrm>
        </p:spPr>
        <p:txBody>
          <a:bodyPr/>
          <a:lstStyle/>
          <a:p>
            <a:fld id="{D7E3ECEC-7E7B-4FB9-BAE8-5C10F12795EA}" type="datetimeFigureOut">
              <a:rPr lang="en-US" smtClean="0"/>
              <a:t>1/29/2026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408640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A777E9-52E4-B265-D19D-C179BB567FA4}"/>
              </a:ext>
              <a:ext uri="{C183D7F6-B498-43B3-948B-1728B52AA6E4}">
                <adec:decorative xmlns:adec="http://schemas.microsoft.com/office/drawing/2017/decorative" val="1"/>
              </a:ext>
            </a:extLst>
          </p:cNvPr>
          <p:cNvSpPr/>
          <p:nvPr/>
        </p:nvSpPr>
        <p:spPr>
          <a:xfrm>
            <a:off x="0" y="0"/>
            <a:ext cx="10809939" cy="5148072"/>
          </a:xfrm>
          <a:custGeom>
            <a:avLst/>
            <a:gdLst>
              <a:gd name="connsiteX0" fmla="*/ 0 w 10809939"/>
              <a:gd name="connsiteY0" fmla="*/ 0 h 5148072"/>
              <a:gd name="connsiteX1" fmla="*/ 10809939 w 10809939"/>
              <a:gd name="connsiteY1" fmla="*/ 0 h 5148072"/>
              <a:gd name="connsiteX2" fmla="*/ 10809939 w 10809939"/>
              <a:gd name="connsiteY2" fmla="*/ 4646550 h 5148072"/>
              <a:gd name="connsiteX3" fmla="*/ 10308417 w 10809939"/>
              <a:gd name="connsiteY3" fmla="*/ 5148072 h 5148072"/>
              <a:gd name="connsiteX4" fmla="*/ 0 w 10809939"/>
              <a:gd name="connsiteY4" fmla="*/ 5148072 h 51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148072">
                <a:moveTo>
                  <a:pt x="0" y="0"/>
                </a:moveTo>
                <a:lnTo>
                  <a:pt x="10809939" y="0"/>
                </a:lnTo>
                <a:lnTo>
                  <a:pt x="10809939" y="4646550"/>
                </a:lnTo>
                <a:cubicBezTo>
                  <a:pt x="10809939" y="4923533"/>
                  <a:pt x="10585400" y="5148072"/>
                  <a:pt x="10308417" y="5148072"/>
                </a:cubicBezTo>
                <a:lnTo>
                  <a:pt x="0" y="5148072"/>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7446" y="5518298"/>
            <a:ext cx="8964384" cy="818494"/>
          </a:xfrm>
        </p:spPr>
        <p:txBody>
          <a:bodyPr anchor="ctr">
            <a:normAutofit/>
          </a:bodyPr>
          <a:lstStyle>
            <a:lvl1pPr>
              <a:lnSpc>
                <a:spcPct val="120000"/>
              </a:lnSpc>
              <a:defRPr sz="1600" b="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7446" y="750013"/>
            <a:ext cx="8733760" cy="3800721"/>
          </a:xfrm>
        </p:spPr>
        <p:txBody>
          <a:bodyPr anchor="t">
            <a:normAutofit/>
          </a:bodyPr>
          <a:lstStyle>
            <a:lvl1pPr marL="137160" indent="-137160">
              <a:lnSpc>
                <a:spcPct val="90000"/>
              </a:lnSpc>
              <a:spcBef>
                <a:spcPts val="0"/>
              </a:spcBef>
              <a:buNone/>
              <a:defRPr sz="5400">
                <a:solidFill>
                  <a:schemeClr val="accent1"/>
                </a:solidFill>
                <a:latin typeface="+mj-lt"/>
              </a:defRPr>
            </a:lvl1pPr>
          </a:lstStyle>
          <a:p>
            <a:pPr lvl="0"/>
            <a:r>
              <a:rPr lang="en-US"/>
              <a:t>Click to edit Quote</a:t>
            </a:r>
          </a:p>
        </p:txBody>
      </p:sp>
      <p:sp>
        <p:nvSpPr>
          <p:cNvPr id="8" name="Footer Placeholder 7">
            <a:extLst>
              <a:ext uri="{FF2B5EF4-FFF2-40B4-BE49-F238E27FC236}">
                <a16:creationId xmlns:a16="http://schemas.microsoft.com/office/drawing/2014/main" id="{0AD62116-941C-252B-AE63-2508CE4FDD3F}"/>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23547C88-24DC-DAA1-274D-9715ED6805BC}"/>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1/29/2026</a:t>
            </a:fld>
            <a:endParaRPr lang="en-US"/>
          </a:p>
        </p:txBody>
      </p:sp>
      <p:sp>
        <p:nvSpPr>
          <p:cNvPr id="10" name="Slide Number Placeholder 9">
            <a:extLst>
              <a:ext uri="{FF2B5EF4-FFF2-40B4-BE49-F238E27FC236}">
                <a16:creationId xmlns:a16="http://schemas.microsoft.com/office/drawing/2014/main" id="{A921AC9D-428B-1CE3-499F-1289B47D5F26}"/>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68216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3">
            <a:alpha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EBA2EC2-4347-818C-501D-DEEA9CA0D13B}"/>
              </a:ext>
              <a:ext uri="{C183D7F6-B498-43B3-948B-1728B52AA6E4}">
                <adec:decorative xmlns:adec="http://schemas.microsoft.com/office/drawing/2017/decorative" val="1"/>
              </a:ext>
            </a:extLst>
          </p:cNvPr>
          <p:cNvSpPr/>
          <p:nvPr/>
        </p:nvSpPr>
        <p:spPr>
          <a:xfrm>
            <a:off x="1" y="-1"/>
            <a:ext cx="10809939" cy="5617255"/>
          </a:xfrm>
          <a:custGeom>
            <a:avLst/>
            <a:gdLst>
              <a:gd name="connsiteX0" fmla="*/ 0 w 10809939"/>
              <a:gd name="connsiteY0" fmla="*/ 0 h 5638868"/>
              <a:gd name="connsiteX1" fmla="*/ 10809939 w 10809939"/>
              <a:gd name="connsiteY1" fmla="*/ 0 h 5638868"/>
              <a:gd name="connsiteX2" fmla="*/ 10809939 w 10809939"/>
              <a:gd name="connsiteY2" fmla="*/ 5116914 h 5638868"/>
              <a:gd name="connsiteX3" fmla="*/ 10287986 w 10809939"/>
              <a:gd name="connsiteY3" fmla="*/ 5638868 h 5638868"/>
              <a:gd name="connsiteX4" fmla="*/ 0 w 10809939"/>
              <a:gd name="connsiteY4" fmla="*/ 5638868 h 56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638868">
                <a:moveTo>
                  <a:pt x="0" y="0"/>
                </a:moveTo>
                <a:lnTo>
                  <a:pt x="10809939" y="0"/>
                </a:lnTo>
                <a:lnTo>
                  <a:pt x="10809939" y="5116914"/>
                </a:lnTo>
                <a:cubicBezTo>
                  <a:pt x="10809939" y="5405181"/>
                  <a:pt x="10576253" y="5638868"/>
                  <a:pt x="10287986" y="5638868"/>
                </a:cubicBezTo>
                <a:lnTo>
                  <a:pt x="0" y="5638868"/>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2876765" y="4318612"/>
            <a:ext cx="7364515" cy="996027"/>
          </a:xfrm>
        </p:spPr>
        <p:txBody>
          <a:bodyPr anchor="ctr">
            <a:normAutofit/>
          </a:bodyPr>
          <a:lstStyle>
            <a:lvl1pPr algn="r">
              <a:lnSpc>
                <a:spcPct val="120000"/>
              </a:lnSpc>
              <a:defRPr sz="1400" b="0" spc="100"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8096" y="647700"/>
            <a:ext cx="9473184" cy="3670912"/>
          </a:xfrm>
        </p:spPr>
        <p:txBody>
          <a:bodyPr anchor="ctr">
            <a:normAutofit/>
          </a:bodyPr>
          <a:lstStyle>
            <a:lvl1pPr marL="137160" indent="-137160">
              <a:lnSpc>
                <a:spcPct val="100000"/>
              </a:lnSpc>
              <a:spcBef>
                <a:spcPts val="0"/>
              </a:spcBef>
              <a:buNone/>
              <a:defRPr sz="4800">
                <a:solidFill>
                  <a:schemeClr val="tx2"/>
                </a:solidFill>
                <a:latin typeface="+mj-lt"/>
              </a:defRPr>
            </a:lvl1pPr>
          </a:lstStyle>
          <a:p>
            <a:pPr lvl="0"/>
            <a:r>
              <a:rPr lang="en-US"/>
              <a:t>Click to edit Quote</a:t>
            </a:r>
          </a:p>
        </p:txBody>
      </p:sp>
      <p:sp>
        <p:nvSpPr>
          <p:cNvPr id="12" name="Footer Placeholder 11">
            <a:extLst>
              <a:ext uri="{FF2B5EF4-FFF2-40B4-BE49-F238E27FC236}">
                <a16:creationId xmlns:a16="http://schemas.microsoft.com/office/drawing/2014/main" id="{B68D110F-CED3-F33A-EDD7-57811187B5A8}"/>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1BE1F328-2362-9468-2593-BAF90BE9CEB0}"/>
              </a:ext>
            </a:extLst>
          </p:cNvPr>
          <p:cNvSpPr>
            <a:spLocks noGrp="1"/>
          </p:cNvSpPr>
          <p:nvPr>
            <p:ph type="dt" sz="half" idx="14"/>
          </p:nvPr>
        </p:nvSpPr>
        <p:spPr/>
        <p:txBody>
          <a:bodyPr/>
          <a:lstStyle/>
          <a:p>
            <a:fld id="{D7E3ECEC-7E7B-4FB9-BAE8-5C10F12795EA}" type="datetimeFigureOut">
              <a:rPr lang="en-US" smtClean="0"/>
              <a:t>1/29/2026</a:t>
            </a:fld>
            <a:endParaRPr lang="en-US"/>
          </a:p>
        </p:txBody>
      </p:sp>
      <p:sp>
        <p:nvSpPr>
          <p:cNvPr id="13" name="Slide Number Placeholder 12">
            <a:extLst>
              <a:ext uri="{FF2B5EF4-FFF2-40B4-BE49-F238E27FC236}">
                <a16:creationId xmlns:a16="http://schemas.microsoft.com/office/drawing/2014/main" id="{DADE9A5F-3A0A-29A6-E008-BCCF7C3761BD}"/>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24330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74908"/>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4B07B2D7-7718-3EA4-C727-BB98633A6739}"/>
              </a:ext>
            </a:extLst>
          </p:cNvPr>
          <p:cNvSpPr>
            <a:spLocks noGrp="1"/>
          </p:cNvSpPr>
          <p:nvPr>
            <p:ph sz="quarter" idx="15"/>
          </p:nvPr>
        </p:nvSpPr>
        <p:spPr>
          <a:xfrm>
            <a:off x="762000" y="1802352"/>
            <a:ext cx="5070020"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EB1D51A5-7ABE-E37E-E3A4-3AF4A8448510}"/>
              </a:ext>
            </a:extLst>
          </p:cNvPr>
          <p:cNvSpPr>
            <a:spLocks noGrp="1"/>
          </p:cNvSpPr>
          <p:nvPr>
            <p:ph sz="quarter" idx="16"/>
          </p:nvPr>
        </p:nvSpPr>
        <p:spPr>
          <a:xfrm>
            <a:off x="6394099" y="1802352"/>
            <a:ext cx="5070021"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92195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70626" y="822960"/>
            <a:ext cx="10697475" cy="550367"/>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65379"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E49B3C-8832-0263-2ACE-16444014FC2C}"/>
              </a:ext>
            </a:extLst>
          </p:cNvPr>
          <p:cNvSpPr>
            <a:spLocks noGrp="1"/>
          </p:cNvSpPr>
          <p:nvPr>
            <p:ph sz="quarter" idx="15"/>
          </p:nvPr>
        </p:nvSpPr>
        <p:spPr>
          <a:xfrm>
            <a:off x="765825" y="2020888"/>
            <a:ext cx="5086349"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F5D88C15-4359-3F27-9B17-CB9581414F72}"/>
              </a:ext>
            </a:extLst>
          </p:cNvPr>
          <p:cNvSpPr>
            <a:spLocks noGrp="1"/>
          </p:cNvSpPr>
          <p:nvPr>
            <p:ph sz="quarter" idx="16"/>
          </p:nvPr>
        </p:nvSpPr>
        <p:spPr>
          <a:xfrm>
            <a:off x="6381751" y="2020888"/>
            <a:ext cx="5086350"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432967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70626" y="822960"/>
            <a:ext cx="10698480" cy="828594"/>
          </a:xfrm>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66478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6862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68096" y="822960"/>
            <a:ext cx="3195484" cy="1504164"/>
          </a:xfrm>
        </p:spPr>
        <p:txBody>
          <a:bodyPr anchor="t">
            <a:normAutofit/>
          </a:bodyPr>
          <a:lstStyle>
            <a:lvl1pPr>
              <a:defRPr sz="2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68096" y="2311121"/>
            <a:ext cx="3195484" cy="3784879"/>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99805" y="836762"/>
            <a:ext cx="6568296" cy="525923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058873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72091" y="822960"/>
            <a:ext cx="3041598" cy="1968931"/>
          </a:xfrm>
        </p:spPr>
        <p:txBody>
          <a:bodyPr anchor="t">
            <a:normAutofit/>
          </a:bodyPr>
          <a:lstStyle>
            <a:lvl1pPr>
              <a:defRPr sz="2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68096" y="3147059"/>
            <a:ext cx="3041597" cy="2762035"/>
          </a:xfrm>
        </p:spPr>
        <p:txBody>
          <a:bodyPr vert="horz" lIns="91440" tIns="45720" rIns="91440" bIns="45720" rtlCol="0" anchor="b">
            <a:normAutofit/>
          </a:bodyPr>
          <a:lstStyle>
            <a:lvl1pPr marL="0" indent="0">
              <a:buNone/>
              <a:defRPr lang="en-US" sz="1600" dirty="0"/>
            </a:lvl1pPr>
          </a:lstStyle>
          <a:p>
            <a:pPr lvl="0"/>
            <a:r>
              <a:rPr lang="en-US"/>
              <a:t>Click to edit Master text styles</a:t>
            </a:r>
          </a:p>
        </p:txBody>
      </p:sp>
      <p:sp>
        <p:nvSpPr>
          <p:cNvPr id="9" name="Picture Placeholder 9">
            <a:extLst>
              <a:ext uri="{FF2B5EF4-FFF2-40B4-BE49-F238E27FC236}">
                <a16:creationId xmlns:a16="http://schemas.microsoft.com/office/drawing/2014/main" id="{75E80A04-FEAF-D5E8-F208-D79F5852407B}"/>
              </a:ext>
            </a:extLst>
          </p:cNvPr>
          <p:cNvSpPr>
            <a:spLocks noGrp="1"/>
          </p:cNvSpPr>
          <p:nvPr>
            <p:ph type="pic" sz="quarter" idx="13" hasCustomPrompt="1"/>
          </p:nvPr>
        </p:nvSpPr>
        <p:spPr>
          <a:xfrm>
            <a:off x="4502844" y="0"/>
            <a:ext cx="7689157" cy="6096000"/>
          </a:xfrm>
          <a:custGeom>
            <a:avLst/>
            <a:gdLst>
              <a:gd name="connsiteX0" fmla="*/ 0 w 7689157"/>
              <a:gd name="connsiteY0" fmla="*/ 0 h 6096000"/>
              <a:gd name="connsiteX1" fmla="*/ 7689157 w 7689157"/>
              <a:gd name="connsiteY1" fmla="*/ 0 h 6096000"/>
              <a:gd name="connsiteX2" fmla="*/ 7689157 w 7689157"/>
              <a:gd name="connsiteY2" fmla="*/ 6096000 h 6096000"/>
              <a:gd name="connsiteX3" fmla="*/ 501522 w 7689157"/>
              <a:gd name="connsiteY3" fmla="*/ 6096000 h 6096000"/>
              <a:gd name="connsiteX4" fmla="*/ 0 w 768915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096000">
                <a:moveTo>
                  <a:pt x="0" y="0"/>
                </a:moveTo>
                <a:lnTo>
                  <a:pt x="7689157" y="0"/>
                </a:lnTo>
                <a:lnTo>
                  <a:pt x="7689157" y="6096000"/>
                </a:lnTo>
                <a:lnTo>
                  <a:pt x="501522" y="6096000"/>
                </a:lnTo>
                <a:cubicBezTo>
                  <a:pt x="224539" y="6096000"/>
                  <a:pt x="0" y="5871461"/>
                  <a:pt x="0" y="5594478"/>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5806473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492530-7F0F-7B93-27A9-6F68FAF54390}"/>
              </a:ext>
              <a:ext uri="{C183D7F6-B498-43B3-948B-1728B52AA6E4}">
                <adec:decorative xmlns:adec="http://schemas.microsoft.com/office/drawing/2017/decorative" val="1"/>
              </a:ext>
            </a:extLst>
          </p:cNvPr>
          <p:cNvSpPr/>
          <p:nvPr/>
        </p:nvSpPr>
        <p:spPr>
          <a:xfrm rot="10800000">
            <a:off x="762000" y="2880691"/>
            <a:ext cx="11430000" cy="3977309"/>
          </a:xfrm>
          <a:custGeom>
            <a:avLst/>
            <a:gdLst>
              <a:gd name="connsiteX0" fmla="*/ 0 w 11468099"/>
              <a:gd name="connsiteY0" fmla="*/ 4053508 h 4053508"/>
              <a:gd name="connsiteX1" fmla="*/ 10946146 w 11468099"/>
              <a:gd name="connsiteY1" fmla="*/ 4043963 h 4053508"/>
              <a:gd name="connsiteX2" fmla="*/ 11468099 w 11468099"/>
              <a:gd name="connsiteY2" fmla="*/ 3522009 h 4053508"/>
              <a:gd name="connsiteX3" fmla="*/ 11468099 w 11468099"/>
              <a:gd name="connsiteY3" fmla="*/ 0 h 4053508"/>
              <a:gd name="connsiteX4" fmla="*/ 0 w 11468099"/>
              <a:gd name="connsiteY4" fmla="*/ 0 h 4053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099" h="4053508">
                <a:moveTo>
                  <a:pt x="0" y="4053508"/>
                </a:moveTo>
                <a:lnTo>
                  <a:pt x="10946146" y="4043963"/>
                </a:lnTo>
                <a:cubicBezTo>
                  <a:pt x="11234413" y="4043963"/>
                  <a:pt x="11468099" y="3810276"/>
                  <a:pt x="11468099" y="3522009"/>
                </a:cubicBezTo>
                <a:lnTo>
                  <a:pt x="11468099" y="0"/>
                </a:lnTo>
                <a:lnTo>
                  <a:pt x="0" y="0"/>
                </a:ln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800" y="190500"/>
            <a:ext cx="11843238" cy="2057400"/>
          </a:xfrm>
        </p:spPr>
        <p:txBody>
          <a:bodyPr anchor="t">
            <a:noAutofit/>
          </a:bodyPr>
          <a:lstStyle>
            <a:lvl1pPr>
              <a:defRPr sz="88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398813" y="3505199"/>
            <a:ext cx="10044665" cy="266700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98813" y="6329172"/>
            <a:ext cx="2816835" cy="338328"/>
          </a:xfr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3643627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07D4EEB-8B0C-3EA1-DB0C-896A8F0C8621}"/>
              </a:ext>
              <a:ext uri="{C183D7F6-B498-43B3-948B-1728B52AA6E4}">
                <adec:decorative xmlns:adec="http://schemas.microsoft.com/office/drawing/2017/decorative" val="1"/>
              </a:ext>
            </a:extLst>
          </p:cNvPr>
          <p:cNvSpPr/>
          <p:nvPr/>
        </p:nvSpPr>
        <p:spPr>
          <a:xfrm rot="10800000">
            <a:off x="2677737" y="2952545"/>
            <a:ext cx="9514262" cy="3905455"/>
          </a:xfrm>
          <a:custGeom>
            <a:avLst/>
            <a:gdLst>
              <a:gd name="connsiteX0" fmla="*/ 0 w 9514262"/>
              <a:gd name="connsiteY0" fmla="*/ 3905455 h 3905455"/>
              <a:gd name="connsiteX1" fmla="*/ 0 w 9514262"/>
              <a:gd name="connsiteY1" fmla="*/ 0 h 3905455"/>
              <a:gd name="connsiteX2" fmla="*/ 9514262 w 9514262"/>
              <a:gd name="connsiteY2" fmla="*/ 0 h 3905455"/>
              <a:gd name="connsiteX3" fmla="*/ 9514262 w 9514262"/>
              <a:gd name="connsiteY3" fmla="*/ 3375660 h 3905455"/>
              <a:gd name="connsiteX4" fmla="*/ 8992309 w 9514262"/>
              <a:gd name="connsiteY4" fmla="*/ 3897614 h 390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4262" h="3905455">
                <a:moveTo>
                  <a:pt x="0" y="3905455"/>
                </a:moveTo>
                <a:lnTo>
                  <a:pt x="0" y="0"/>
                </a:lnTo>
                <a:lnTo>
                  <a:pt x="9514262" y="0"/>
                </a:lnTo>
                <a:lnTo>
                  <a:pt x="9514262" y="3375660"/>
                </a:lnTo>
                <a:cubicBezTo>
                  <a:pt x="9514262" y="3663927"/>
                  <a:pt x="9280576" y="3897614"/>
                  <a:pt x="8992309" y="3897614"/>
                </a:cubicBez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3373" y="190500"/>
            <a:ext cx="10573396" cy="2475644"/>
          </a:xfrm>
        </p:spPr>
        <p:txBody>
          <a:bodyPr anchor="t">
            <a:noAutofit/>
          </a:bodyPr>
          <a:lstStyle>
            <a:lvl1pPr>
              <a:defRPr sz="88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493213" y="3810000"/>
            <a:ext cx="6976154" cy="1676400"/>
          </a:xfr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2354616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772090" y="825747"/>
            <a:ext cx="10696010" cy="61880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774654" y="1506872"/>
            <a:ext cx="10693446" cy="45891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72090" y="6329172"/>
            <a:ext cx="2816835" cy="338328"/>
          </a:xfrm>
          <a:prstGeom prst="rect">
            <a:avLst/>
          </a:prstGeom>
        </p:spPr>
        <p:txBody>
          <a:bodyPr vert="horz" lIns="91440" tIns="45720" rIns="91440" bIns="45720" rtlCol="0" anchor="ctr"/>
          <a:lstStyle>
            <a:lvl1pPr algn="l">
              <a:defRPr sz="750" cap="all" spc="0"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291411" y="6329172"/>
            <a:ext cx="1612674" cy="338328"/>
          </a:xfrm>
          <a:prstGeom prst="rect">
            <a:avLst/>
          </a:prstGeom>
        </p:spPr>
        <p:txBody>
          <a:bodyPr vert="horz" lIns="91440" tIns="45720" rIns="91440" bIns="45720" rtlCol="0" anchor="ctr"/>
          <a:lstStyle>
            <a:lvl1pPr algn="r">
              <a:defRPr sz="750">
                <a:solidFill>
                  <a:schemeClr val="tx1"/>
                </a:solidFill>
              </a:defRPr>
            </a:lvl1pPr>
          </a:lstStyle>
          <a:p>
            <a:fld id="{D7E3ECEC-7E7B-4FB9-BAE8-5C10F12795EA}" type="datetimeFigureOut">
              <a:rPr lang="en-US" smtClean="0"/>
              <a:t>1/29/2026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50742" y="6329172"/>
            <a:ext cx="457200" cy="338328"/>
          </a:xfrm>
          <a:prstGeom prst="rect">
            <a:avLst/>
          </a:prstGeom>
        </p:spPr>
        <p:txBody>
          <a:bodyPr vert="horz" lIns="91440" tIns="45720" rIns="91440" bIns="45720" rtlCol="0" anchor="ctr"/>
          <a:lstStyle>
            <a:lvl1pPr algn="r">
              <a:defRPr sz="750">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64449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500" b="0" kern="1200" cap="all"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000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286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572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0858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480">
          <p15:clr>
            <a:srgbClr val="F26B43"/>
          </p15:clr>
        </p15:guide>
        <p15:guide id="8" pos="7224">
          <p15:clr>
            <a:srgbClr val="F26B43"/>
          </p15:clr>
        </p15:guide>
        <p15:guide id="9" orient="horz" pos="3840">
          <p15:clr>
            <a:srgbClr val="F26B43"/>
          </p15:clr>
        </p15:guide>
        <p15:guide id="10" orient="horz" pos="2160">
          <p15:clr>
            <a:srgbClr val="F26B43"/>
          </p15:clr>
        </p15:guide>
        <p15:guide id="11"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ideo" Target="https://www.youtube.com/embed/YzqFqzpUm6M?feature=oembed" TargetMode="Externa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video" Target="https://www.youtube.com/embed/PCWVi5pAa30?feature=oembed"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124C5-C556-E14B-D519-4E1E0F130DBD}"/>
              </a:ext>
            </a:extLst>
          </p:cNvPr>
          <p:cNvSpPr>
            <a:spLocks noGrp="1"/>
          </p:cNvSpPr>
          <p:nvPr>
            <p:ph type="ctrTitle"/>
          </p:nvPr>
        </p:nvSpPr>
        <p:spPr>
          <a:xfrm>
            <a:off x="7823860" y="1376413"/>
            <a:ext cx="3834793" cy="2697480"/>
          </a:xfrm>
        </p:spPr>
        <p:txBody>
          <a:bodyPr anchor="b">
            <a:normAutofit/>
          </a:bodyPr>
          <a:lstStyle/>
          <a:p>
            <a:r>
              <a:rPr lang="en-US"/>
              <a:t>Interview Skills for Employment Success</a:t>
            </a:r>
          </a:p>
        </p:txBody>
      </p:sp>
      <p:sp>
        <p:nvSpPr>
          <p:cNvPr id="3" name="Subtitle 2">
            <a:extLst>
              <a:ext uri="{FF2B5EF4-FFF2-40B4-BE49-F238E27FC236}">
                <a16:creationId xmlns:a16="http://schemas.microsoft.com/office/drawing/2014/main" id="{43DE7835-EB74-0E16-D4D0-146C4FF4AD86}"/>
              </a:ext>
            </a:extLst>
          </p:cNvPr>
          <p:cNvSpPr>
            <a:spLocks noGrp="1"/>
          </p:cNvSpPr>
          <p:nvPr>
            <p:ph type="subTitle" idx="1"/>
          </p:nvPr>
        </p:nvSpPr>
        <p:spPr>
          <a:xfrm>
            <a:off x="7823860" y="4073893"/>
            <a:ext cx="3599210" cy="1162250"/>
          </a:xfrm>
        </p:spPr>
        <p:txBody>
          <a:bodyPr anchor="ctr">
            <a:normAutofit/>
          </a:bodyPr>
          <a:lstStyle/>
          <a:p>
            <a:r>
              <a:rPr lang="en-US"/>
              <a:t>Mastering key techniques to secure your dream job</a:t>
            </a:r>
          </a:p>
        </p:txBody>
      </p:sp>
      <p:pic>
        <p:nvPicPr>
          <p:cNvPr id="4" name="Picture 3" descr="Two businessman making a contract">
            <a:extLst>
              <a:ext uri="{FF2B5EF4-FFF2-40B4-BE49-F238E27FC236}">
                <a16:creationId xmlns:a16="http://schemas.microsoft.com/office/drawing/2014/main" id="{1E376DCF-AE52-42D2-90ED-98FA18AA1FE8}"/>
              </a:ext>
            </a:extLst>
          </p:cNvPr>
          <p:cNvPicPr>
            <a:picLocks noChangeAspect="1"/>
          </p:cNvPicPr>
          <p:nvPr/>
        </p:nvPicPr>
        <p:blipFill>
          <a:blip r:embed="rId3"/>
          <a:srcRect l="2654" r="17691" b="-2"/>
          <a:stretch>
            <a:fillRect/>
          </a:stretch>
        </p:blipFill>
        <p:spPr>
          <a:xfrm>
            <a:off x="20" y="10"/>
            <a:ext cx="7274382" cy="6095990"/>
          </a:xfrm>
          <a:custGeom>
            <a:avLst/>
            <a:gdLst>
              <a:gd name="connsiteX0" fmla="*/ 0 w 7274402"/>
              <a:gd name="connsiteY0" fmla="*/ 0 h 6096000"/>
              <a:gd name="connsiteX1" fmla="*/ 7274402 w 7274402"/>
              <a:gd name="connsiteY1" fmla="*/ 0 h 6096000"/>
              <a:gd name="connsiteX2" fmla="*/ 7274402 w 7274402"/>
              <a:gd name="connsiteY2" fmla="*/ 5598011 h 6096000"/>
              <a:gd name="connsiteX3" fmla="*/ 6779450 w 7274402"/>
              <a:gd name="connsiteY3" fmla="*/ 6096000 h 6096000"/>
              <a:gd name="connsiteX4" fmla="*/ 0 w 7274402"/>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4402" h="6096000">
                <a:moveTo>
                  <a:pt x="0" y="0"/>
                </a:moveTo>
                <a:lnTo>
                  <a:pt x="7274402" y="0"/>
                </a:lnTo>
                <a:lnTo>
                  <a:pt x="7274402" y="5598011"/>
                </a:lnTo>
                <a:cubicBezTo>
                  <a:pt x="7274402" y="5873043"/>
                  <a:pt x="7052804" y="6096000"/>
                  <a:pt x="6779450" y="6096000"/>
                </a:cubicBezTo>
                <a:lnTo>
                  <a:pt x="0" y="6096000"/>
                </a:lnTo>
                <a:close/>
              </a:path>
            </a:pathLst>
          </a:custGeom>
          <a:noFill/>
        </p:spPr>
      </p:pic>
    </p:spTree>
    <p:extLst>
      <p:ext uri="{BB962C8B-B14F-4D97-AF65-F5344CB8AC3E}">
        <p14:creationId xmlns:p14="http://schemas.microsoft.com/office/powerpoint/2010/main" val="460056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Warm-Up Activity: </a:t>
            </a:r>
            <a:r>
              <a:rPr lang="en-US" dirty="0"/>
              <a:t>SELL AN OBJECT</a:t>
            </a:r>
            <a:endParaRPr dirty="0"/>
          </a:p>
        </p:txBody>
      </p:sp>
      <p:sp>
        <p:nvSpPr>
          <p:cNvPr id="3" name="Content Placeholder 2"/>
          <p:cNvSpPr>
            <a:spLocks noGrp="1"/>
          </p:cNvSpPr>
          <p:nvPr>
            <p:ph idx="1"/>
          </p:nvPr>
        </p:nvSpPr>
        <p:spPr/>
        <p:txBody>
          <a:bodyPr/>
          <a:lstStyle/>
          <a:p>
            <a:pPr marL="0" indent="0">
              <a:buNone/>
            </a:pPr>
            <a:r>
              <a:rPr lang="en-US" sz="2400" b="1" dirty="0"/>
              <a:t>Choose an object in the classroom and work individually or a group to:</a:t>
            </a:r>
            <a:endParaRPr lang="en-US" sz="2400" dirty="0"/>
          </a:p>
          <a:p>
            <a:pPr marL="0" indent="0">
              <a:buNone/>
            </a:pPr>
            <a:endParaRPr lang="en-US" sz="2000" b="1" dirty="0"/>
          </a:p>
          <a:p>
            <a:pPr>
              <a:buFont typeface="Arial" panose="020B0604020202020204" pitchFamily="34" charset="0"/>
              <a:buChar char="•"/>
            </a:pPr>
            <a:r>
              <a:rPr lang="en-US" sz="2000" b="1" dirty="0"/>
              <a:t>Brainstorm creative or unconventional ways the object could be used.</a:t>
            </a:r>
            <a:endParaRPr lang="en-US" sz="2000" dirty="0"/>
          </a:p>
          <a:p>
            <a:pPr>
              <a:buFont typeface="Arial" panose="020B0604020202020204" pitchFamily="34" charset="0"/>
              <a:buChar char="•"/>
            </a:pPr>
            <a:r>
              <a:rPr lang="en-US" sz="2000" b="1" dirty="0"/>
              <a:t>Identify unique features or selling points that make it appealing.</a:t>
            </a:r>
            <a:endParaRPr lang="en-US" sz="2000" dirty="0"/>
          </a:p>
          <a:p>
            <a:pPr>
              <a:buFont typeface="Arial" panose="020B0604020202020204" pitchFamily="34" charset="0"/>
              <a:buChar char="•"/>
            </a:pPr>
            <a:r>
              <a:rPr lang="en-US" sz="2000" b="1" dirty="0"/>
              <a:t>Prepare a quick pitch to share your ideas with the class.</a:t>
            </a:r>
            <a:endParaRPr lang="en-US" sz="2000" dirty="0"/>
          </a:p>
          <a:p>
            <a:pPr marL="0" indent="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0EF5-1A96-0FBC-A1FF-68FB8E929652}"/>
              </a:ext>
            </a:extLst>
          </p:cNvPr>
          <p:cNvSpPr>
            <a:spLocks noGrp="1"/>
          </p:cNvSpPr>
          <p:nvPr>
            <p:ph type="title"/>
          </p:nvPr>
        </p:nvSpPr>
        <p:spPr>
          <a:xfrm>
            <a:off x="213702" y="1940943"/>
            <a:ext cx="8771340" cy="4917058"/>
          </a:xfrm>
        </p:spPr>
        <p:txBody>
          <a:bodyPr anchor="b">
            <a:normAutofit/>
          </a:bodyPr>
          <a:lstStyle/>
          <a:p>
            <a:r>
              <a:rPr lang="en-US" dirty="0"/>
              <a:t>Understanding Interviews</a:t>
            </a:r>
          </a:p>
        </p:txBody>
      </p:sp>
    </p:spTree>
    <p:extLst>
      <p:ext uri="{BB962C8B-B14F-4D97-AF65-F5344CB8AC3E}">
        <p14:creationId xmlns:p14="http://schemas.microsoft.com/office/powerpoint/2010/main" val="34557449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8342-B6A0-B6B1-E56C-CAB22A610B47}"/>
              </a:ext>
            </a:extLst>
          </p:cNvPr>
          <p:cNvSpPr>
            <a:spLocks noGrp="1"/>
          </p:cNvSpPr>
          <p:nvPr>
            <p:ph type="title"/>
          </p:nvPr>
        </p:nvSpPr>
        <p:spPr>
          <a:xfrm>
            <a:off x="768096" y="822960"/>
            <a:ext cx="7196328" cy="1068324"/>
          </a:xfrm>
        </p:spPr>
        <p:txBody>
          <a:bodyPr anchor="t">
            <a:normAutofit/>
          </a:bodyPr>
          <a:lstStyle/>
          <a:p>
            <a:r>
              <a:rPr lang="en-US"/>
              <a:t>What is an Interview?</a:t>
            </a:r>
          </a:p>
        </p:txBody>
      </p:sp>
      <p:sp>
        <p:nvSpPr>
          <p:cNvPr id="4" name="Content Placeholder 3">
            <a:extLst>
              <a:ext uri="{FF2B5EF4-FFF2-40B4-BE49-F238E27FC236}">
                <a16:creationId xmlns:a16="http://schemas.microsoft.com/office/drawing/2014/main" id="{A963A534-99D4-0150-B9C5-2D3732287A90}"/>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spcBef>
                <a:spcPts val="2500"/>
              </a:spcBef>
              <a:buFont typeface="Arial" panose="020B0604020202020204" pitchFamily="34" charset="0"/>
              <a:buNone/>
            </a:pPr>
            <a:r>
              <a:rPr lang="en-US" b="1"/>
              <a:t>Definition and Purpose</a:t>
            </a:r>
          </a:p>
          <a:p>
            <a:pPr marL="0" lvl="1" indent="0">
              <a:buFont typeface="Arial" panose="020B0604020202020204" pitchFamily="34" charset="0"/>
              <a:buNone/>
            </a:pPr>
            <a:r>
              <a:t>An interview is a structured conversation to assess mutual fit, skills, and readiness for a job role.</a:t>
            </a:r>
            <a:endParaRPr lang="en-US"/>
          </a:p>
          <a:p>
            <a:pPr marL="0" indent="0">
              <a:spcBef>
                <a:spcPts val="2500"/>
              </a:spcBef>
              <a:buFont typeface="Arial" panose="020B0604020202020204" pitchFamily="34" charset="0"/>
              <a:buNone/>
            </a:pPr>
            <a:r>
              <a:rPr lang="en-US" b="1"/>
              <a:t>Employer Perspective</a:t>
            </a:r>
          </a:p>
          <a:p>
            <a:pPr marL="0" lvl="1" indent="0">
              <a:buFont typeface="Arial" panose="020B0604020202020204" pitchFamily="34" charset="0"/>
              <a:buNone/>
            </a:pPr>
            <a:r>
              <a:t>Employers evaluate if candidates align with company culture and job requirements during interviews.</a:t>
            </a:r>
            <a:endParaRPr lang="en-US"/>
          </a:p>
          <a:p>
            <a:pPr marL="0" indent="0">
              <a:spcBef>
                <a:spcPts val="2500"/>
              </a:spcBef>
              <a:buFont typeface="Arial" panose="020B0604020202020204" pitchFamily="34" charset="0"/>
              <a:buNone/>
            </a:pPr>
            <a:r>
              <a:rPr lang="en-US" b="1"/>
              <a:t>Candidate Perspective</a:t>
            </a:r>
          </a:p>
          <a:p>
            <a:pPr marL="0" lvl="1" indent="0">
              <a:buFont typeface="Arial" panose="020B0604020202020204" pitchFamily="34" charset="0"/>
              <a:buNone/>
            </a:pPr>
            <a:r>
              <a:t>Candidates showcase qualifications and assess if the organization fits their career goals.</a:t>
            </a:r>
            <a:endParaRPr lang="en-US"/>
          </a:p>
          <a:p>
            <a:pPr marL="0" indent="0">
              <a:spcBef>
                <a:spcPts val="2500"/>
              </a:spcBef>
              <a:buFont typeface="Arial" panose="020B0604020202020204" pitchFamily="34" charset="0"/>
              <a:buNone/>
            </a:pPr>
            <a:r>
              <a:rPr lang="en-US" b="1"/>
              <a:t>Interview Formats</a:t>
            </a:r>
          </a:p>
          <a:p>
            <a:pPr marL="0" lvl="1" indent="0">
              <a:buFont typeface="Arial" panose="020B0604020202020204" pitchFamily="34" charset="0"/>
              <a:buNone/>
            </a:pPr>
            <a:r>
              <a:t>Interviews can be conducted in-person, by phone, video, or in panel formats.</a:t>
            </a:r>
            <a:endParaRPr lang="en-US"/>
          </a:p>
        </p:txBody>
      </p:sp>
      <p:pic>
        <p:nvPicPr>
          <p:cNvPr id="5" name="Content Placeholder 4" descr="People during a training or a meeting. ">
            <a:extLst>
              <a:ext uri="{FF2B5EF4-FFF2-40B4-BE49-F238E27FC236}">
                <a16:creationId xmlns:a16="http://schemas.microsoft.com/office/drawing/2014/main" id="{D4FDB685-99E3-40EA-92AE-9E948A3E6AED}"/>
              </a:ext>
            </a:extLst>
          </p:cNvPr>
          <p:cNvPicPr>
            <a:picLocks noGrp="1" noChangeAspect="1"/>
          </p:cNvPicPr>
          <p:nvPr>
            <p:ph type="pic" sz="quarter" idx="15"/>
          </p:nvPr>
        </p:nvPicPr>
        <p:blipFill>
          <a:blip r:embed="rId3"/>
          <a:srcRect l="8557" r="48922" b="-1"/>
          <a:stretch>
            <a:fillRect/>
          </a:stretch>
        </p:blipFill>
        <p:spPr>
          <a:xfrm>
            <a:off x="8698986" y="758460"/>
            <a:ext cx="3493014" cy="6099541"/>
          </a:xfrm>
          <a:prstGeom prst="rect">
            <a:avLst/>
          </a:prstGeom>
          <a:noFill/>
        </p:spPr>
      </p:pic>
    </p:spTree>
    <p:extLst>
      <p:ext uri="{BB962C8B-B14F-4D97-AF65-F5344CB8AC3E}">
        <p14:creationId xmlns:p14="http://schemas.microsoft.com/office/powerpoint/2010/main" val="7355161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9827E-12D5-6F16-FED5-053715F5C639}"/>
              </a:ext>
            </a:extLst>
          </p:cNvPr>
          <p:cNvSpPr>
            <a:spLocks noGrp="1"/>
          </p:cNvSpPr>
          <p:nvPr>
            <p:ph type="title"/>
          </p:nvPr>
        </p:nvSpPr>
        <p:spPr>
          <a:xfrm>
            <a:off x="768096" y="822960"/>
            <a:ext cx="7196328" cy="1068324"/>
          </a:xfrm>
        </p:spPr>
        <p:txBody>
          <a:bodyPr anchor="t">
            <a:normAutofit/>
          </a:bodyPr>
          <a:lstStyle/>
          <a:p>
            <a:r>
              <a:rPr lang="en-US"/>
              <a:t>Interviewing is a Skill</a:t>
            </a:r>
          </a:p>
        </p:txBody>
      </p:sp>
      <p:sp>
        <p:nvSpPr>
          <p:cNvPr id="4" name="Content Placeholder 3">
            <a:extLst>
              <a:ext uri="{FF2B5EF4-FFF2-40B4-BE49-F238E27FC236}">
                <a16:creationId xmlns:a16="http://schemas.microsoft.com/office/drawing/2014/main" id="{5DA137E9-031E-050E-7DB2-9176BFEE830E}"/>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lnSpc>
                <a:spcPct val="110000"/>
              </a:lnSpc>
              <a:spcBef>
                <a:spcPts val="2500"/>
              </a:spcBef>
              <a:buFont typeface="Arial" panose="020B0604020202020204" pitchFamily="34" charset="0"/>
              <a:buNone/>
            </a:pPr>
            <a:r>
              <a:rPr lang="en-US" b="1"/>
              <a:t>Practice Enhances Skill</a:t>
            </a:r>
          </a:p>
          <a:p>
            <a:pPr marL="0" lvl="1" indent="0">
              <a:lnSpc>
                <a:spcPct val="110000"/>
              </a:lnSpc>
              <a:buFont typeface="Arial" panose="020B0604020202020204" pitchFamily="34" charset="0"/>
              <a:buNone/>
            </a:pPr>
            <a:r>
              <a:t>Interviewing skills improve with practice through mock interviews and self-reflection, increasing confidence and effectiveness.</a:t>
            </a:r>
            <a:endParaRPr lang="en-US"/>
          </a:p>
          <a:p>
            <a:pPr marL="0" indent="0">
              <a:lnSpc>
                <a:spcPct val="110000"/>
              </a:lnSpc>
              <a:spcBef>
                <a:spcPts val="2500"/>
              </a:spcBef>
              <a:buFont typeface="Arial" panose="020B0604020202020204" pitchFamily="34" charset="0"/>
              <a:buNone/>
            </a:pPr>
            <a:r>
              <a:rPr lang="en-US" b="1"/>
              <a:t>Preparation Reduces Anxiety</a:t>
            </a:r>
          </a:p>
          <a:p>
            <a:pPr marL="0" lvl="1" indent="0">
              <a:lnSpc>
                <a:spcPct val="110000"/>
              </a:lnSpc>
              <a:buFont typeface="Arial" panose="020B0604020202020204" pitchFamily="34" charset="0"/>
              <a:buNone/>
            </a:pPr>
            <a:r>
              <a:t>Proper preparation helps reduce natural nervousness and anxiety associated with high-stakes interviews.</a:t>
            </a:r>
            <a:endParaRPr lang="en-US"/>
          </a:p>
          <a:p>
            <a:pPr marL="0" indent="0">
              <a:lnSpc>
                <a:spcPct val="110000"/>
              </a:lnSpc>
              <a:spcBef>
                <a:spcPts val="2500"/>
              </a:spcBef>
              <a:buFont typeface="Arial" panose="020B0604020202020204" pitchFamily="34" charset="0"/>
              <a:buNone/>
            </a:pPr>
            <a:r>
              <a:rPr lang="en-US" b="1"/>
              <a:t>Learning from Feedback</a:t>
            </a:r>
          </a:p>
          <a:p>
            <a:pPr marL="0" lvl="1" indent="0">
              <a:lnSpc>
                <a:spcPct val="110000"/>
              </a:lnSpc>
              <a:buFont typeface="Arial" panose="020B0604020202020204" pitchFamily="34" charset="0"/>
              <a:buNone/>
            </a:pPr>
            <a:r>
              <a:t>Using feedback rubrics and peer reviews allows candidates to refine their approach and understand expectations.</a:t>
            </a:r>
            <a:endParaRPr lang="en-US"/>
          </a:p>
          <a:p>
            <a:pPr marL="0" indent="0">
              <a:lnSpc>
                <a:spcPct val="110000"/>
              </a:lnSpc>
              <a:spcBef>
                <a:spcPts val="2500"/>
              </a:spcBef>
              <a:buFont typeface="Arial" panose="020B0604020202020204" pitchFamily="34" charset="0"/>
              <a:buNone/>
            </a:pPr>
            <a:r>
              <a:rPr lang="en-US" b="1"/>
              <a:t>Simulating Real Scenarios</a:t>
            </a:r>
          </a:p>
          <a:p>
            <a:pPr marL="0" lvl="1" indent="0">
              <a:lnSpc>
                <a:spcPct val="110000"/>
              </a:lnSpc>
              <a:buFont typeface="Arial" panose="020B0604020202020204" pitchFamily="34" charset="0"/>
              <a:buNone/>
            </a:pPr>
            <a:r>
              <a:t>Simulated interview environments help build competence and readiness for actual job interviews.</a:t>
            </a:r>
            <a:endParaRPr lang="en-US"/>
          </a:p>
        </p:txBody>
      </p:sp>
      <p:pic>
        <p:nvPicPr>
          <p:cNvPr id="5" name="Content Placeholder 4" descr="Mature businessman sitting at business meeting. Female businesswoman having presentation. Good business results. More people at the table.">
            <a:extLst>
              <a:ext uri="{FF2B5EF4-FFF2-40B4-BE49-F238E27FC236}">
                <a16:creationId xmlns:a16="http://schemas.microsoft.com/office/drawing/2014/main" id="{A95A3CD7-E878-44FB-9460-ED5D0BE1B2E9}"/>
              </a:ext>
            </a:extLst>
          </p:cNvPr>
          <p:cNvPicPr>
            <a:picLocks noGrp="1" noChangeAspect="1"/>
          </p:cNvPicPr>
          <p:nvPr>
            <p:ph type="pic" sz="quarter" idx="15"/>
          </p:nvPr>
        </p:nvPicPr>
        <p:blipFill>
          <a:blip r:embed="rId3"/>
          <a:srcRect l="30263" r="31512" b="1"/>
          <a:stretch>
            <a:fillRect/>
          </a:stretch>
        </p:blipFill>
        <p:spPr>
          <a:xfrm>
            <a:off x="8698986" y="758460"/>
            <a:ext cx="3493014" cy="6099541"/>
          </a:xfrm>
          <a:prstGeom prst="rect">
            <a:avLst/>
          </a:prstGeom>
          <a:noFill/>
        </p:spPr>
      </p:pic>
    </p:spTree>
    <p:extLst>
      <p:ext uri="{BB962C8B-B14F-4D97-AF65-F5344CB8AC3E}">
        <p14:creationId xmlns:p14="http://schemas.microsoft.com/office/powerpoint/2010/main" val="26774699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7B016-AD2E-B425-6C3C-4AC9EA065DA8}"/>
              </a:ext>
            </a:extLst>
          </p:cNvPr>
          <p:cNvSpPr>
            <a:spLocks noGrp="1"/>
          </p:cNvSpPr>
          <p:nvPr>
            <p:ph type="title"/>
          </p:nvPr>
        </p:nvSpPr>
        <p:spPr>
          <a:xfrm>
            <a:off x="4160520" y="822960"/>
            <a:ext cx="7305005" cy="972657"/>
          </a:xfrm>
        </p:spPr>
        <p:txBody>
          <a:bodyPr anchor="t">
            <a:normAutofit/>
          </a:bodyPr>
          <a:lstStyle/>
          <a:p>
            <a:r>
              <a:rPr lang="en-US" dirty="0"/>
              <a:t>The Interview Process</a:t>
            </a:r>
          </a:p>
        </p:txBody>
      </p:sp>
      <p:pic>
        <p:nvPicPr>
          <p:cNvPr id="5" name="Content Placeholder 4" descr="Checkout my lightboxes:">
            <a:extLst>
              <a:ext uri="{FF2B5EF4-FFF2-40B4-BE49-F238E27FC236}">
                <a16:creationId xmlns:a16="http://schemas.microsoft.com/office/drawing/2014/main" id="{D225CD33-9B59-40EE-96F0-FFE61AA11486}"/>
              </a:ext>
            </a:extLst>
          </p:cNvPr>
          <p:cNvPicPr>
            <a:picLocks noGrp="1" noChangeAspect="1"/>
          </p:cNvPicPr>
          <p:nvPr>
            <p:ph type="pic" sz="quarter" idx="15"/>
          </p:nvPr>
        </p:nvPicPr>
        <p:blipFill>
          <a:blip r:embed="rId3"/>
          <a:srcRect l="5085" r="9230"/>
          <a:stretch>
            <a:fillRect/>
          </a:stretch>
        </p:blipFill>
        <p:spPr>
          <a:xfrm>
            <a:off x="20" y="10"/>
            <a:ext cx="3492988" cy="6107194"/>
          </a:xfrm>
          <a:prstGeom prst="rect">
            <a:avLst/>
          </a:prstGeom>
          <a:noFill/>
        </p:spPr>
      </p:pic>
      <p:sp>
        <p:nvSpPr>
          <p:cNvPr id="4" name="Content Placeholder 3">
            <a:extLst>
              <a:ext uri="{FF2B5EF4-FFF2-40B4-BE49-F238E27FC236}">
                <a16:creationId xmlns:a16="http://schemas.microsoft.com/office/drawing/2014/main" id="{E6DB7D09-FCE9-2252-0F4F-5088CD12812B}"/>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4163095" y="1993392"/>
            <a:ext cx="7305005" cy="4120889"/>
          </a:xfrm>
        </p:spPr>
        <p:txBody>
          <a:bodyPr>
            <a:normAutofit/>
          </a:bodyPr>
          <a:lstStyle/>
          <a:p>
            <a:pPr marL="0" indent="0">
              <a:spcBef>
                <a:spcPts val="2500"/>
              </a:spcBef>
              <a:buFont typeface="Arial" panose="020B0604020202020204" pitchFamily="34" charset="0"/>
              <a:buNone/>
            </a:pPr>
            <a:r>
              <a:rPr lang="en-US" b="1"/>
              <a:t>Preparation Phase</a:t>
            </a:r>
          </a:p>
          <a:p>
            <a:pPr marL="0" lvl="1" indent="0">
              <a:buFont typeface="Arial" panose="020B0604020202020204" pitchFamily="34" charset="0"/>
              <a:buNone/>
            </a:pPr>
            <a:r>
              <a:t>Research the employer, review the job description, and practice your responses before the interview.</a:t>
            </a:r>
            <a:endParaRPr lang="en-US"/>
          </a:p>
          <a:p>
            <a:pPr marL="0" indent="0">
              <a:spcBef>
                <a:spcPts val="2500"/>
              </a:spcBef>
              <a:buFont typeface="Arial" panose="020B0604020202020204" pitchFamily="34" charset="0"/>
              <a:buNone/>
            </a:pPr>
            <a:r>
              <a:rPr lang="en-US" b="1"/>
              <a:t>Beginning of Interview</a:t>
            </a:r>
          </a:p>
          <a:p>
            <a:pPr marL="0" lvl="1" indent="0">
              <a:buFont typeface="Arial" panose="020B0604020202020204" pitchFamily="34" charset="0"/>
              <a:buNone/>
            </a:pPr>
            <a:r>
              <a:t>Start the interview with greetings and introductions to set a positive tone.</a:t>
            </a:r>
            <a:endParaRPr lang="en-US"/>
          </a:p>
          <a:p>
            <a:pPr marL="0" indent="0">
              <a:spcBef>
                <a:spcPts val="2500"/>
              </a:spcBef>
              <a:buFont typeface="Arial" panose="020B0604020202020204" pitchFamily="34" charset="0"/>
              <a:buNone/>
            </a:pPr>
            <a:r>
              <a:rPr lang="en-US" b="1"/>
              <a:t>Core Interview Discussion</a:t>
            </a:r>
          </a:p>
          <a:p>
            <a:pPr marL="0" lvl="1" indent="0">
              <a:buFont typeface="Arial" panose="020B0604020202020204" pitchFamily="34" charset="0"/>
              <a:buNone/>
            </a:pPr>
            <a:r>
              <a:t>Engage in the main conversation where questions are asked and detailed answers are provided.</a:t>
            </a:r>
            <a:endParaRPr lang="en-US"/>
          </a:p>
          <a:p>
            <a:pPr marL="0" indent="0">
              <a:spcBef>
                <a:spcPts val="2500"/>
              </a:spcBef>
              <a:buFont typeface="Arial" panose="020B0604020202020204" pitchFamily="34" charset="0"/>
              <a:buNone/>
            </a:pPr>
            <a:r>
              <a:rPr lang="en-US" b="1"/>
              <a:t>Closing and Follow-Up</a:t>
            </a:r>
          </a:p>
          <a:p>
            <a:pPr marL="0" lvl="1" indent="0">
              <a:buFont typeface="Arial" panose="020B0604020202020204" pitchFamily="34" charset="0"/>
              <a:buNone/>
            </a:pPr>
            <a:r>
              <a:t>Conclude with final questions, express interest, and send a thank-you note after the interview.</a:t>
            </a:r>
            <a:endParaRPr lang="en-US"/>
          </a:p>
        </p:txBody>
      </p:sp>
    </p:spTree>
    <p:extLst>
      <p:ext uri="{BB962C8B-B14F-4D97-AF65-F5344CB8AC3E}">
        <p14:creationId xmlns:p14="http://schemas.microsoft.com/office/powerpoint/2010/main" val="26474779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07F9A-4F21-8F9C-00FE-E207933F2269}"/>
              </a:ext>
            </a:extLst>
          </p:cNvPr>
          <p:cNvSpPr>
            <a:spLocks noGrp="1"/>
          </p:cNvSpPr>
          <p:nvPr>
            <p:ph type="title"/>
          </p:nvPr>
        </p:nvSpPr>
        <p:spPr>
          <a:xfrm>
            <a:off x="213702" y="1940943"/>
            <a:ext cx="8771340" cy="4917058"/>
          </a:xfrm>
        </p:spPr>
        <p:txBody>
          <a:bodyPr anchor="b">
            <a:normAutofit/>
          </a:bodyPr>
          <a:lstStyle/>
          <a:p>
            <a:r>
              <a:rPr lang="en-US"/>
              <a:t>Preparing for Interviews</a:t>
            </a:r>
          </a:p>
        </p:txBody>
      </p:sp>
    </p:spTree>
    <p:extLst>
      <p:ext uri="{BB962C8B-B14F-4D97-AF65-F5344CB8AC3E}">
        <p14:creationId xmlns:p14="http://schemas.microsoft.com/office/powerpoint/2010/main" val="14541900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2C858-B27C-92F7-8DB6-E69FC9DA69B3}"/>
              </a:ext>
            </a:extLst>
          </p:cNvPr>
          <p:cNvSpPr>
            <a:spLocks noGrp="1"/>
          </p:cNvSpPr>
          <p:nvPr>
            <p:ph type="title"/>
          </p:nvPr>
        </p:nvSpPr>
        <p:spPr>
          <a:xfrm>
            <a:off x="4160520" y="822960"/>
            <a:ext cx="7305005" cy="972657"/>
          </a:xfrm>
        </p:spPr>
        <p:txBody>
          <a:bodyPr anchor="t">
            <a:normAutofit/>
          </a:bodyPr>
          <a:lstStyle/>
          <a:p>
            <a:r>
              <a:rPr lang="en-US"/>
              <a:t>Preparation Tips</a:t>
            </a:r>
          </a:p>
        </p:txBody>
      </p:sp>
      <p:pic>
        <p:nvPicPr>
          <p:cNvPr id="5" name="Content Placeholder 4" descr="Close-up of businesswoman's hand holding a pencil pointing at a blank brochure with a businessman in meeting.">
            <a:extLst>
              <a:ext uri="{FF2B5EF4-FFF2-40B4-BE49-F238E27FC236}">
                <a16:creationId xmlns:a16="http://schemas.microsoft.com/office/drawing/2014/main" id="{94B90FB3-FE7C-4E26-A44E-67C7063665E7}"/>
              </a:ext>
            </a:extLst>
          </p:cNvPr>
          <p:cNvPicPr>
            <a:picLocks noGrp="1" noChangeAspect="1"/>
          </p:cNvPicPr>
          <p:nvPr>
            <p:ph type="pic" sz="quarter" idx="15"/>
          </p:nvPr>
        </p:nvPicPr>
        <p:blipFill>
          <a:blip r:embed="rId3"/>
          <a:srcRect l="22897" r="40355" b="-2"/>
          <a:stretch>
            <a:fillRect/>
          </a:stretch>
        </p:blipFill>
        <p:spPr>
          <a:xfrm>
            <a:off x="20" y="10"/>
            <a:ext cx="3492988" cy="6107194"/>
          </a:xfrm>
          <a:prstGeom prst="rect">
            <a:avLst/>
          </a:prstGeom>
          <a:noFill/>
        </p:spPr>
      </p:pic>
      <p:sp>
        <p:nvSpPr>
          <p:cNvPr id="4" name="Content Placeholder 3">
            <a:extLst>
              <a:ext uri="{FF2B5EF4-FFF2-40B4-BE49-F238E27FC236}">
                <a16:creationId xmlns:a16="http://schemas.microsoft.com/office/drawing/2014/main" id="{A6B5D293-3131-604C-7045-0B7FA7E703CE}"/>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4163095" y="1993392"/>
            <a:ext cx="7305005" cy="4120889"/>
          </a:xfrm>
        </p:spPr>
        <p:txBody>
          <a:bodyPr>
            <a:normAutofit/>
          </a:bodyPr>
          <a:lstStyle/>
          <a:p>
            <a:pPr marL="0" indent="0">
              <a:spcBef>
                <a:spcPts val="2500"/>
              </a:spcBef>
              <a:buFont typeface="Arial" panose="020B0604020202020204" pitchFamily="34" charset="0"/>
              <a:buNone/>
            </a:pPr>
            <a:r>
              <a:rPr lang="en-US" b="1"/>
              <a:t>Researching the Employer</a:t>
            </a:r>
          </a:p>
          <a:p>
            <a:pPr marL="0" lvl="1" indent="0">
              <a:buFont typeface="Arial" panose="020B0604020202020204" pitchFamily="34" charset="0"/>
              <a:buNone/>
            </a:pPr>
            <a:r>
              <a:t>Understanding the employer’s mission, culture, and news shows genuine interest in the role.</a:t>
            </a:r>
            <a:endParaRPr lang="en-US"/>
          </a:p>
          <a:p>
            <a:pPr marL="0" indent="0">
              <a:spcBef>
                <a:spcPts val="2500"/>
              </a:spcBef>
              <a:buFont typeface="Arial" panose="020B0604020202020204" pitchFamily="34" charset="0"/>
              <a:buNone/>
            </a:pPr>
            <a:r>
              <a:rPr lang="en-US" b="1"/>
              <a:t>Reviewing Job Description</a:t>
            </a:r>
          </a:p>
          <a:p>
            <a:pPr marL="0" lvl="1" indent="0">
              <a:buFont typeface="Arial" panose="020B0604020202020204" pitchFamily="34" charset="0"/>
              <a:buNone/>
            </a:pPr>
            <a:r>
              <a:t>Careful review of job requirements helps candidates align their skills accordingly.</a:t>
            </a:r>
            <a:endParaRPr lang="en-US"/>
          </a:p>
          <a:p>
            <a:pPr marL="0" indent="0">
              <a:spcBef>
                <a:spcPts val="2500"/>
              </a:spcBef>
              <a:buFont typeface="Arial" panose="020B0604020202020204" pitchFamily="34" charset="0"/>
              <a:buNone/>
            </a:pPr>
            <a:r>
              <a:rPr lang="en-US" b="1"/>
              <a:t>Practicing Interview Questions</a:t>
            </a:r>
          </a:p>
          <a:p>
            <a:pPr marL="0" lvl="1" indent="0">
              <a:buFont typeface="Arial" panose="020B0604020202020204" pitchFamily="34" charset="0"/>
              <a:buNone/>
            </a:pPr>
            <a:r>
              <a:t>Practicing common questions improves confidence and communication during the interview.</a:t>
            </a:r>
            <a:endParaRPr lang="en-US"/>
          </a:p>
          <a:p>
            <a:pPr marL="0" indent="0">
              <a:spcBef>
                <a:spcPts val="2500"/>
              </a:spcBef>
              <a:buFont typeface="Arial" panose="020B0604020202020204" pitchFamily="34" charset="0"/>
              <a:buNone/>
            </a:pPr>
            <a:r>
              <a:rPr lang="en-US" b="1"/>
              <a:t>Professional Attire and Punctuality</a:t>
            </a:r>
          </a:p>
          <a:p>
            <a:pPr marL="0" lvl="1" indent="0">
              <a:buFont typeface="Arial" panose="020B0604020202020204" pitchFamily="34" charset="0"/>
              <a:buNone/>
            </a:pPr>
            <a:r>
              <a:t>Planning appropriate clothing and arriving early demonstrate professionalism and respect.</a:t>
            </a:r>
            <a:endParaRPr lang="en-US"/>
          </a:p>
        </p:txBody>
      </p:sp>
    </p:spTree>
    <p:extLst>
      <p:ext uri="{BB962C8B-B14F-4D97-AF65-F5344CB8AC3E}">
        <p14:creationId xmlns:p14="http://schemas.microsoft.com/office/powerpoint/2010/main" val="36715202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913A-5324-BA34-A915-70DCD4B4B985}"/>
              </a:ext>
            </a:extLst>
          </p:cNvPr>
          <p:cNvSpPr>
            <a:spLocks noGrp="1"/>
          </p:cNvSpPr>
          <p:nvPr>
            <p:ph type="title"/>
          </p:nvPr>
        </p:nvSpPr>
        <p:spPr>
          <a:xfrm>
            <a:off x="768096" y="822960"/>
            <a:ext cx="7196328" cy="1068324"/>
          </a:xfrm>
        </p:spPr>
        <p:txBody>
          <a:bodyPr anchor="t">
            <a:normAutofit/>
          </a:bodyPr>
          <a:lstStyle/>
          <a:p>
            <a:r>
              <a:rPr lang="en-US"/>
              <a:t>Researching the Employer</a:t>
            </a:r>
          </a:p>
        </p:txBody>
      </p:sp>
      <p:sp>
        <p:nvSpPr>
          <p:cNvPr id="4" name="Content Placeholder 3">
            <a:extLst>
              <a:ext uri="{FF2B5EF4-FFF2-40B4-BE49-F238E27FC236}">
                <a16:creationId xmlns:a16="http://schemas.microsoft.com/office/drawing/2014/main" id="{611A23CC-D6CD-BFAB-EE65-6CEC79250679}"/>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lnSpc>
                <a:spcPct val="110000"/>
              </a:lnSpc>
              <a:spcBef>
                <a:spcPts val="2500"/>
              </a:spcBef>
              <a:buFont typeface="Arial" panose="020B0604020202020204" pitchFamily="34" charset="0"/>
              <a:buNone/>
            </a:pPr>
            <a:r>
              <a:rPr lang="en-US" b="1"/>
              <a:t>Understand Company Overview</a:t>
            </a:r>
          </a:p>
          <a:p>
            <a:pPr marL="0" lvl="1" indent="0">
              <a:lnSpc>
                <a:spcPct val="110000"/>
              </a:lnSpc>
              <a:buFont typeface="Arial" panose="020B0604020202020204" pitchFamily="34" charset="0"/>
              <a:buNone/>
            </a:pPr>
            <a:r>
              <a:t>Learn about the company's purpose, goals, products, and services to build a solid knowledge base.</a:t>
            </a:r>
            <a:endParaRPr lang="en-US"/>
          </a:p>
          <a:p>
            <a:pPr marL="0" indent="0">
              <a:lnSpc>
                <a:spcPct val="110000"/>
              </a:lnSpc>
              <a:spcBef>
                <a:spcPts val="2500"/>
              </a:spcBef>
              <a:buFont typeface="Arial" panose="020B0604020202020204" pitchFamily="34" charset="0"/>
              <a:buNone/>
            </a:pPr>
            <a:r>
              <a:rPr lang="en-US" b="1"/>
              <a:t>Learn About Company Culture</a:t>
            </a:r>
          </a:p>
          <a:p>
            <a:pPr marL="0" lvl="1" indent="0">
              <a:lnSpc>
                <a:spcPct val="110000"/>
              </a:lnSpc>
              <a:buFont typeface="Arial" panose="020B0604020202020204" pitchFamily="34" charset="0"/>
              <a:buNone/>
            </a:pPr>
            <a:r>
              <a:t>Familiarize yourself with the organization's culture to align responses during the interview.</a:t>
            </a:r>
            <a:endParaRPr lang="en-US"/>
          </a:p>
          <a:p>
            <a:pPr marL="0" indent="0">
              <a:lnSpc>
                <a:spcPct val="110000"/>
              </a:lnSpc>
              <a:spcBef>
                <a:spcPts val="2500"/>
              </a:spcBef>
              <a:buFont typeface="Arial" panose="020B0604020202020204" pitchFamily="34" charset="0"/>
              <a:buNone/>
            </a:pPr>
            <a:r>
              <a:rPr lang="en-US" b="1"/>
              <a:t>Prepare for Job Role and Interviewers</a:t>
            </a:r>
          </a:p>
          <a:p>
            <a:pPr marL="0" lvl="1" indent="0">
              <a:lnSpc>
                <a:spcPct val="110000"/>
              </a:lnSpc>
              <a:buFont typeface="Arial" panose="020B0604020202020204" pitchFamily="34" charset="0"/>
              <a:buNone/>
            </a:pPr>
            <a:r>
              <a:t>Research the specific job role and interviewers to tailor answers and ask relevant questions.</a:t>
            </a:r>
            <a:endParaRPr lang="en-US"/>
          </a:p>
          <a:p>
            <a:pPr marL="0" indent="0">
              <a:lnSpc>
                <a:spcPct val="110000"/>
              </a:lnSpc>
              <a:spcBef>
                <a:spcPts val="2500"/>
              </a:spcBef>
              <a:buFont typeface="Arial" panose="020B0604020202020204" pitchFamily="34" charset="0"/>
              <a:buNone/>
            </a:pPr>
            <a:r>
              <a:rPr lang="en-US" b="1"/>
              <a:t>Demonstrate Initiative</a:t>
            </a:r>
          </a:p>
          <a:p>
            <a:pPr marL="0" lvl="1" indent="0">
              <a:lnSpc>
                <a:spcPct val="110000"/>
              </a:lnSpc>
              <a:buFont typeface="Arial" panose="020B0604020202020204" pitchFamily="34" charset="0"/>
              <a:buNone/>
            </a:pPr>
            <a:r>
              <a:t>Showing genuine interest through research reflects enthusiasm and impresses potential employers.</a:t>
            </a:r>
            <a:endParaRPr lang="en-US"/>
          </a:p>
        </p:txBody>
      </p:sp>
      <p:pic>
        <p:nvPicPr>
          <p:cNvPr id="5" name="Content Placeholder 4" descr="Asian staff using laptop to answer customers' questions">
            <a:extLst>
              <a:ext uri="{FF2B5EF4-FFF2-40B4-BE49-F238E27FC236}">
                <a16:creationId xmlns:a16="http://schemas.microsoft.com/office/drawing/2014/main" id="{84239CEA-0C7A-4B41-BDF1-C012CE5ED51F}"/>
              </a:ext>
            </a:extLst>
          </p:cNvPr>
          <p:cNvPicPr>
            <a:picLocks noGrp="1" noChangeAspect="1"/>
          </p:cNvPicPr>
          <p:nvPr>
            <p:ph type="pic" sz="quarter" idx="15"/>
          </p:nvPr>
        </p:nvPicPr>
        <p:blipFill>
          <a:blip r:embed="rId3"/>
          <a:srcRect l="42689" r="19086" b="1"/>
          <a:stretch>
            <a:fillRect/>
          </a:stretch>
        </p:blipFill>
        <p:spPr>
          <a:xfrm>
            <a:off x="8698986" y="758460"/>
            <a:ext cx="3493014" cy="6099541"/>
          </a:xfrm>
          <a:prstGeom prst="rect">
            <a:avLst/>
          </a:prstGeom>
          <a:noFill/>
        </p:spPr>
      </p:pic>
    </p:spTree>
    <p:extLst>
      <p:ext uri="{BB962C8B-B14F-4D97-AF65-F5344CB8AC3E}">
        <p14:creationId xmlns:p14="http://schemas.microsoft.com/office/powerpoint/2010/main" val="11656755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F4140-0A8B-A64A-EB53-080F5488BBA3}"/>
              </a:ext>
            </a:extLst>
          </p:cNvPr>
          <p:cNvSpPr>
            <a:spLocks noGrp="1"/>
          </p:cNvSpPr>
          <p:nvPr>
            <p:ph type="title"/>
          </p:nvPr>
        </p:nvSpPr>
        <p:spPr>
          <a:xfrm>
            <a:off x="213702" y="1940943"/>
            <a:ext cx="8771340" cy="4917058"/>
          </a:xfrm>
        </p:spPr>
        <p:txBody>
          <a:bodyPr anchor="b">
            <a:normAutofit/>
          </a:bodyPr>
          <a:lstStyle/>
          <a:p>
            <a:r>
              <a:rPr lang="en-US"/>
              <a:t>Professional Presentation</a:t>
            </a:r>
          </a:p>
        </p:txBody>
      </p:sp>
    </p:spTree>
    <p:extLst>
      <p:ext uri="{BB962C8B-B14F-4D97-AF65-F5344CB8AC3E}">
        <p14:creationId xmlns:p14="http://schemas.microsoft.com/office/powerpoint/2010/main" val="10788335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B60FA-B71B-04A9-1FA8-353DD014E7C4}"/>
              </a:ext>
            </a:extLst>
          </p:cNvPr>
          <p:cNvSpPr>
            <a:spLocks noGrp="1"/>
          </p:cNvSpPr>
          <p:nvPr>
            <p:ph type="title"/>
          </p:nvPr>
        </p:nvSpPr>
        <p:spPr>
          <a:xfrm>
            <a:off x="768096" y="822960"/>
            <a:ext cx="7196328" cy="1068324"/>
          </a:xfrm>
        </p:spPr>
        <p:txBody>
          <a:bodyPr anchor="t">
            <a:normAutofit/>
          </a:bodyPr>
          <a:lstStyle/>
          <a:p>
            <a:r>
              <a:rPr lang="en-US"/>
              <a:t>Dress for Success</a:t>
            </a:r>
          </a:p>
        </p:txBody>
      </p:sp>
      <p:sp>
        <p:nvSpPr>
          <p:cNvPr id="4" name="Content Placeholder 3">
            <a:extLst>
              <a:ext uri="{FF2B5EF4-FFF2-40B4-BE49-F238E27FC236}">
                <a16:creationId xmlns:a16="http://schemas.microsoft.com/office/drawing/2014/main" id="{EC763D1C-E9AD-A95F-33D7-B343A7AED4ED}"/>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lnSpc>
                <a:spcPct val="110000"/>
              </a:lnSpc>
              <a:spcBef>
                <a:spcPts val="2500"/>
              </a:spcBef>
              <a:buFont typeface="Arial" panose="020B0604020202020204" pitchFamily="34" charset="0"/>
              <a:buNone/>
            </a:pPr>
            <a:r>
              <a:rPr lang="en-US" b="1" dirty="0"/>
              <a:t>Professionalism Through Attire</a:t>
            </a:r>
          </a:p>
          <a:p>
            <a:pPr marL="0" lvl="1" indent="0">
              <a:lnSpc>
                <a:spcPct val="110000"/>
              </a:lnSpc>
              <a:buFont typeface="Arial" panose="020B0604020202020204" pitchFamily="34" charset="0"/>
              <a:buNone/>
            </a:pPr>
            <a:r>
              <a:rPr dirty="0"/>
              <a:t>Appropriate dressing shows professionalism and respect for the interview opportunity, boosting candidate confidence.</a:t>
            </a:r>
            <a:endParaRPr lang="en-US" dirty="0"/>
          </a:p>
          <a:p>
            <a:pPr marL="0" indent="0">
              <a:lnSpc>
                <a:spcPct val="110000"/>
              </a:lnSpc>
              <a:spcBef>
                <a:spcPts val="2500"/>
              </a:spcBef>
              <a:buFont typeface="Arial" panose="020B0604020202020204" pitchFamily="34" charset="0"/>
              <a:buNone/>
            </a:pPr>
            <a:r>
              <a:rPr lang="en-US" b="1" dirty="0"/>
              <a:t>Align with Company Culture</a:t>
            </a:r>
          </a:p>
          <a:p>
            <a:pPr marL="0" lvl="1" indent="0">
              <a:lnSpc>
                <a:spcPct val="110000"/>
              </a:lnSpc>
              <a:buFont typeface="Arial" panose="020B0604020202020204" pitchFamily="34" charset="0"/>
              <a:buNone/>
            </a:pPr>
            <a:r>
              <a:rPr dirty="0"/>
              <a:t>Choosing attire that matches the company culture helps candidates fit in and show understanding of expectations.</a:t>
            </a:r>
            <a:endParaRPr lang="en-US" dirty="0"/>
          </a:p>
          <a:p>
            <a:pPr marL="0" indent="0">
              <a:lnSpc>
                <a:spcPct val="110000"/>
              </a:lnSpc>
              <a:spcBef>
                <a:spcPts val="2500"/>
              </a:spcBef>
              <a:buFont typeface="Arial" panose="020B0604020202020204" pitchFamily="34" charset="0"/>
              <a:buNone/>
            </a:pPr>
            <a:r>
              <a:rPr lang="en-US" b="1" dirty="0"/>
              <a:t>Neat Grooming and Minimal Accessories</a:t>
            </a:r>
          </a:p>
          <a:p>
            <a:pPr marL="0" lvl="1" indent="0">
              <a:lnSpc>
                <a:spcPct val="110000"/>
              </a:lnSpc>
              <a:buFont typeface="Arial" panose="020B0604020202020204" pitchFamily="34" charset="0"/>
              <a:buNone/>
            </a:pPr>
            <a:r>
              <a:rPr dirty="0"/>
              <a:t>Clean grooming and minimal accessories contribute to a polished and serious interview appearance.</a:t>
            </a:r>
            <a:endParaRPr lang="en-US" dirty="0"/>
          </a:p>
          <a:p>
            <a:pPr marL="0" indent="0">
              <a:lnSpc>
                <a:spcPct val="110000"/>
              </a:lnSpc>
              <a:spcBef>
                <a:spcPts val="2500"/>
              </a:spcBef>
              <a:buFont typeface="Arial" panose="020B0604020202020204" pitchFamily="34" charset="0"/>
              <a:buNone/>
            </a:pPr>
            <a:r>
              <a:rPr lang="en-US" b="1" dirty="0"/>
              <a:t>Use Dress Checklist</a:t>
            </a:r>
          </a:p>
          <a:p>
            <a:pPr marL="0" lvl="1" indent="0">
              <a:lnSpc>
                <a:spcPct val="110000"/>
              </a:lnSpc>
              <a:buFont typeface="Arial" panose="020B0604020202020204" pitchFamily="34" charset="0"/>
              <a:buNone/>
            </a:pPr>
            <a:r>
              <a:rPr dirty="0"/>
              <a:t>Reviewing dress checklists and industry expectations helps candidates make informed outfit choices for interviews.</a:t>
            </a:r>
            <a:endParaRPr lang="en-US" dirty="0"/>
          </a:p>
        </p:txBody>
      </p:sp>
      <p:pic>
        <p:nvPicPr>
          <p:cNvPr id="5" name="Content Placeholder 4" descr="High angle shot of a stylish business outfit laid out on a wooden tablehttp://195.154.178.81/DATA/i_collage/pu/shoots/804615.jpg">
            <a:extLst>
              <a:ext uri="{FF2B5EF4-FFF2-40B4-BE49-F238E27FC236}">
                <a16:creationId xmlns:a16="http://schemas.microsoft.com/office/drawing/2014/main" id="{86A31E90-97FB-41C9-B12B-64BE5B25ECFE}"/>
              </a:ext>
            </a:extLst>
          </p:cNvPr>
          <p:cNvPicPr>
            <a:picLocks noGrp="1" noChangeAspect="1"/>
          </p:cNvPicPr>
          <p:nvPr>
            <p:ph type="pic" sz="quarter" idx="15"/>
          </p:nvPr>
        </p:nvPicPr>
        <p:blipFill>
          <a:blip r:embed="rId3"/>
          <a:srcRect l="32301" r="31335"/>
          <a:stretch>
            <a:fillRect/>
          </a:stretch>
        </p:blipFill>
        <p:spPr>
          <a:xfrm>
            <a:off x="8698986" y="758460"/>
            <a:ext cx="3493014" cy="6099541"/>
          </a:xfrm>
          <a:prstGeom prst="rect">
            <a:avLst/>
          </a:prstGeom>
          <a:noFill/>
        </p:spPr>
      </p:pic>
    </p:spTree>
    <p:extLst>
      <p:ext uri="{BB962C8B-B14F-4D97-AF65-F5344CB8AC3E}">
        <p14:creationId xmlns:p14="http://schemas.microsoft.com/office/powerpoint/2010/main" val="6416522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BF00C-6090-4525-BA4C-0FDAA4BC0DAD}"/>
              </a:ext>
            </a:extLst>
          </p:cNvPr>
          <p:cNvSpPr>
            <a:spLocks noGrp="1"/>
          </p:cNvSpPr>
          <p:nvPr>
            <p:ph type="title"/>
          </p:nvPr>
        </p:nvSpPr>
        <p:spPr>
          <a:xfrm>
            <a:off x="768096" y="822960"/>
            <a:ext cx="10706100" cy="438281"/>
          </a:xfrm>
        </p:spPr>
        <p:txBody>
          <a:bodyPr>
            <a:normAutofit fontScale="90000"/>
          </a:bodyPr>
          <a:lstStyle/>
          <a:p>
            <a:r>
              <a:rPr lang="en-US" dirty="0"/>
              <a:t>DRESS FOR SUCCESS VIDEO</a:t>
            </a:r>
          </a:p>
        </p:txBody>
      </p:sp>
      <p:pic>
        <p:nvPicPr>
          <p:cNvPr id="4" name="Online Media 3" title="What Should I Wear To a Job Interview?  How to dress for &quot;work&quot; [2021]">
            <a:hlinkClick r:id="" action="ppaction://media"/>
            <a:extLst>
              <a:ext uri="{FF2B5EF4-FFF2-40B4-BE49-F238E27FC236}">
                <a16:creationId xmlns:a16="http://schemas.microsoft.com/office/drawing/2014/main" id="{A826407E-AEFE-4A7D-8431-09B31B47CBCB}"/>
              </a:ext>
            </a:extLst>
          </p:cNvPr>
          <p:cNvPicPr>
            <a:picLocks noGrp="1" noRot="1" noChangeAspect="1"/>
          </p:cNvPicPr>
          <p:nvPr>
            <p:ph idx="1"/>
            <a:videoFile r:link="rId1"/>
          </p:nvPr>
        </p:nvPicPr>
        <p:blipFill>
          <a:blip r:embed="rId4"/>
          <a:stretch>
            <a:fillRect/>
          </a:stretch>
        </p:blipFill>
        <p:spPr>
          <a:xfrm>
            <a:off x="1992313" y="1506538"/>
            <a:ext cx="8258175" cy="4665662"/>
          </a:xfrm>
          <a:prstGeom prst="rect">
            <a:avLst/>
          </a:prstGeom>
        </p:spPr>
      </p:pic>
    </p:spTree>
    <p:extLst>
      <p:ext uri="{BB962C8B-B14F-4D97-AF65-F5344CB8AC3E}">
        <p14:creationId xmlns:p14="http://schemas.microsoft.com/office/powerpoint/2010/main" val="280306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76BF-2938-A0EE-96C5-92276FDFBD9C}"/>
              </a:ext>
            </a:extLst>
          </p:cNvPr>
          <p:cNvSpPr>
            <a:spLocks noGrp="1"/>
          </p:cNvSpPr>
          <p:nvPr>
            <p:ph type="title"/>
          </p:nvPr>
        </p:nvSpPr>
        <p:spPr>
          <a:xfrm>
            <a:off x="768096" y="822960"/>
            <a:ext cx="10706100" cy="683912"/>
          </a:xfrm>
        </p:spPr>
        <p:txBody>
          <a:bodyPr anchor="t">
            <a:normAutofit/>
          </a:bodyPr>
          <a:lstStyle/>
          <a:p>
            <a:r>
              <a:rPr lang="en-US"/>
              <a:t>Body Language Matters</a:t>
            </a:r>
          </a:p>
        </p:txBody>
      </p:sp>
      <p:graphicFrame>
        <p:nvGraphicFramePr>
          <p:cNvPr id="4" name="Content Placeholder 3">
            <a:extLst>
              <a:ext uri="{FF2B5EF4-FFF2-40B4-BE49-F238E27FC236}">
                <a16:creationId xmlns:a16="http://schemas.microsoft.com/office/drawing/2014/main" id="{4FE8FF10-10A1-460F-8DF0-8BF1C12E619D}"/>
              </a:ext>
            </a:extLst>
          </p:cNvPr>
          <p:cNvGraphicFramePr>
            <a:graphicFrameLocks noGrp="1"/>
          </p:cNvGraphicFramePr>
          <p:nvPr>
            <p:ph idx="1"/>
            <p:extLst>
              <p:ext uri="{D42A27DB-BD31-4B8C-83A1-F6EECF244321}">
                <p14:modId xmlns:p14="http://schemas.microsoft.com/office/powerpoint/2010/main" val="3480119484"/>
              </p:ext>
              <p:ext uri="{E7BDC344-281C-4309-B0C6-D0EE65EED2A8}">
                <p202:designPr xmlns="" xmlns:p202="http://schemas.microsoft.com/office/powerpoint/2020/02/main">
                  <p202:designTagLst>
                    <p202:designTag name="ARCH:1:CLS" val="InformationBlock"/>
                    <p202:designTag name="ARCH:1:VSVAR" val="VisualTitledTextBox"/>
                  </p202:designTagLst>
                </p202:designPr>
              </p:ext>
            </p:extLst>
          </p:nvPr>
        </p:nvGraphicFramePr>
        <p:xfrm>
          <a:off x="774654" y="1506872"/>
          <a:ext cx="10492436" cy="4665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3215803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E9CD6-E7BE-4C94-AD67-9D1E5975D07C}"/>
              </a:ext>
            </a:extLst>
          </p:cNvPr>
          <p:cNvSpPr>
            <a:spLocks noGrp="1"/>
          </p:cNvSpPr>
          <p:nvPr>
            <p:ph type="title"/>
          </p:nvPr>
        </p:nvSpPr>
        <p:spPr/>
        <p:txBody>
          <a:bodyPr/>
          <a:lstStyle/>
          <a:p>
            <a:r>
              <a:rPr lang="en-US" dirty="0"/>
              <a:t>Body Language Tips</a:t>
            </a:r>
          </a:p>
        </p:txBody>
      </p:sp>
      <p:pic>
        <p:nvPicPr>
          <p:cNvPr id="4" name="Online Media 2" title="7 body language tips to impress at your next job interview">
            <a:hlinkClick r:id="" action="ppaction://media"/>
            <a:extLst>
              <a:ext uri="{FF2B5EF4-FFF2-40B4-BE49-F238E27FC236}">
                <a16:creationId xmlns:a16="http://schemas.microsoft.com/office/drawing/2014/main" id="{93C9360C-F119-4B0A-A5AF-09CFF81B0C87}"/>
              </a:ext>
            </a:extLst>
          </p:cNvPr>
          <p:cNvPicPr>
            <a:picLocks noGrp="1" noRot="1" noChangeAspect="1"/>
          </p:cNvPicPr>
          <p:nvPr>
            <p:ph idx="1"/>
            <a:videoFile r:link="rId1"/>
          </p:nvPr>
        </p:nvPicPr>
        <p:blipFill>
          <a:blip r:embed="rId3"/>
          <a:stretch>
            <a:fillRect/>
          </a:stretch>
        </p:blipFill>
        <p:spPr>
          <a:xfrm>
            <a:off x="2617076" y="1664419"/>
            <a:ext cx="7735614" cy="4370621"/>
          </a:xfrm>
          <a:prstGeom prst="rect">
            <a:avLst/>
          </a:prstGeom>
        </p:spPr>
      </p:pic>
    </p:spTree>
    <p:extLst>
      <p:ext uri="{BB962C8B-B14F-4D97-AF65-F5344CB8AC3E}">
        <p14:creationId xmlns:p14="http://schemas.microsoft.com/office/powerpoint/2010/main" val="2294504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918F4-13FB-2975-0CD1-A8B7CAD873F5}"/>
              </a:ext>
            </a:extLst>
          </p:cNvPr>
          <p:cNvSpPr>
            <a:spLocks noGrp="1"/>
          </p:cNvSpPr>
          <p:nvPr>
            <p:ph type="title"/>
          </p:nvPr>
        </p:nvSpPr>
        <p:spPr>
          <a:xfrm>
            <a:off x="768096" y="822960"/>
            <a:ext cx="7196328" cy="1068324"/>
          </a:xfrm>
        </p:spPr>
        <p:txBody>
          <a:bodyPr anchor="t">
            <a:normAutofit/>
          </a:bodyPr>
          <a:lstStyle/>
          <a:p>
            <a:r>
              <a:rPr lang="en-US"/>
              <a:t>Basic Interview Tips</a:t>
            </a:r>
          </a:p>
        </p:txBody>
      </p:sp>
      <p:sp>
        <p:nvSpPr>
          <p:cNvPr id="4" name="Content Placeholder 3">
            <a:extLst>
              <a:ext uri="{FF2B5EF4-FFF2-40B4-BE49-F238E27FC236}">
                <a16:creationId xmlns:a16="http://schemas.microsoft.com/office/drawing/2014/main" id="{A6F7B995-08E7-97F8-264F-DDA586E63A08}"/>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768096" y="1996440"/>
            <a:ext cx="7196328" cy="4099560"/>
          </a:xfrm>
        </p:spPr>
        <p:txBody>
          <a:bodyPr>
            <a:normAutofit/>
          </a:bodyPr>
          <a:lstStyle/>
          <a:p>
            <a:pPr marL="0" indent="0">
              <a:spcBef>
                <a:spcPts val="2500"/>
              </a:spcBef>
              <a:buFont typeface="Arial" panose="020B0604020202020204" pitchFamily="34" charset="0"/>
              <a:buNone/>
            </a:pPr>
            <a:r>
              <a:rPr lang="en-US" b="1"/>
              <a:t>Timeliness and Politeness</a:t>
            </a:r>
          </a:p>
          <a:p>
            <a:pPr marL="0" lvl="1" indent="0">
              <a:buFont typeface="Arial" panose="020B0604020202020204" pitchFamily="34" charset="0"/>
              <a:buNone/>
            </a:pPr>
            <a:r>
              <a:t>Arriving early and being polite to everyone helps establish a positive and respectful atmosphere.</a:t>
            </a:r>
            <a:endParaRPr lang="en-US"/>
          </a:p>
          <a:p>
            <a:pPr marL="0" indent="0">
              <a:spcBef>
                <a:spcPts val="2500"/>
              </a:spcBef>
              <a:buFont typeface="Arial" panose="020B0604020202020204" pitchFamily="34" charset="0"/>
              <a:buNone/>
            </a:pPr>
            <a:r>
              <a:rPr lang="en-US" b="1"/>
              <a:t>Confident Introduction</a:t>
            </a:r>
          </a:p>
          <a:p>
            <a:pPr marL="0" lvl="1" indent="0">
              <a:buFont typeface="Arial" panose="020B0604020202020204" pitchFamily="34" charset="0"/>
              <a:buNone/>
            </a:pPr>
            <a:r>
              <a:t>Introducing yourself confidently with a firm handshake sets a professional tone for the interview.</a:t>
            </a:r>
            <a:endParaRPr lang="en-US"/>
          </a:p>
          <a:p>
            <a:pPr marL="0" indent="0">
              <a:spcBef>
                <a:spcPts val="2500"/>
              </a:spcBef>
              <a:buFont typeface="Arial" panose="020B0604020202020204" pitchFamily="34" charset="0"/>
              <a:buNone/>
            </a:pPr>
            <a:r>
              <a:rPr lang="en-US" b="1"/>
              <a:t>Preparedness</a:t>
            </a:r>
          </a:p>
          <a:p>
            <a:pPr marL="0" lvl="1" indent="0">
              <a:buFont typeface="Arial" panose="020B0604020202020204" pitchFamily="34" charset="0"/>
              <a:buNone/>
            </a:pPr>
            <a:r>
              <a:t>Bringing copies of your resume demonstrates preparation and professionalism.</a:t>
            </a:r>
            <a:endParaRPr lang="en-US"/>
          </a:p>
          <a:p>
            <a:pPr marL="0" indent="0">
              <a:spcBef>
                <a:spcPts val="2500"/>
              </a:spcBef>
              <a:buFont typeface="Arial" panose="020B0604020202020204" pitchFamily="34" charset="0"/>
              <a:buNone/>
            </a:pPr>
            <a:r>
              <a:rPr lang="en-US" b="1"/>
              <a:t>Assertive Body Language</a:t>
            </a:r>
          </a:p>
          <a:p>
            <a:pPr marL="0" lvl="1" indent="0">
              <a:buFont typeface="Arial" panose="020B0604020202020204" pitchFamily="34" charset="0"/>
              <a:buNone/>
            </a:pPr>
            <a:r>
              <a:t>Maintaining eye contact and expressing enthusiasm conveys confidence and interest in the position.</a:t>
            </a:r>
            <a:endParaRPr lang="en-US"/>
          </a:p>
        </p:txBody>
      </p:sp>
      <p:pic>
        <p:nvPicPr>
          <p:cNvPr id="5" name="Content Placeholder 4" descr="Business people shaking hands, finishing up a deal">
            <a:extLst>
              <a:ext uri="{FF2B5EF4-FFF2-40B4-BE49-F238E27FC236}">
                <a16:creationId xmlns:a16="http://schemas.microsoft.com/office/drawing/2014/main" id="{6BDDD4E1-3CA8-421E-B8FC-45151C31F04E}"/>
              </a:ext>
            </a:extLst>
          </p:cNvPr>
          <p:cNvPicPr>
            <a:picLocks noGrp="1" noChangeAspect="1"/>
          </p:cNvPicPr>
          <p:nvPr>
            <p:ph type="pic" sz="quarter" idx="15"/>
          </p:nvPr>
        </p:nvPicPr>
        <p:blipFill>
          <a:blip r:embed="rId3"/>
          <a:srcRect l="48186" r="19601"/>
          <a:stretch>
            <a:fillRect/>
          </a:stretch>
        </p:blipFill>
        <p:spPr>
          <a:xfrm>
            <a:off x="8698986" y="758460"/>
            <a:ext cx="3493014" cy="6099541"/>
          </a:xfrm>
          <a:prstGeom prst="rect">
            <a:avLst/>
          </a:prstGeom>
          <a:noFill/>
        </p:spPr>
      </p:pic>
    </p:spTree>
    <p:extLst>
      <p:ext uri="{BB962C8B-B14F-4D97-AF65-F5344CB8AC3E}">
        <p14:creationId xmlns:p14="http://schemas.microsoft.com/office/powerpoint/2010/main" val="12799388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7EEF5-60EA-1585-21B1-455B23B567D4}"/>
              </a:ext>
            </a:extLst>
          </p:cNvPr>
          <p:cNvSpPr>
            <a:spLocks noGrp="1"/>
          </p:cNvSpPr>
          <p:nvPr>
            <p:ph type="title"/>
          </p:nvPr>
        </p:nvSpPr>
        <p:spPr>
          <a:xfrm>
            <a:off x="213702" y="1940943"/>
            <a:ext cx="8771340" cy="4917058"/>
          </a:xfrm>
        </p:spPr>
        <p:txBody>
          <a:bodyPr anchor="b">
            <a:normAutofit/>
          </a:bodyPr>
          <a:lstStyle/>
          <a:p>
            <a:r>
              <a:rPr lang="en-US"/>
              <a:t>Interview Techniques</a:t>
            </a:r>
          </a:p>
        </p:txBody>
      </p:sp>
    </p:spTree>
    <p:extLst>
      <p:ext uri="{BB962C8B-B14F-4D97-AF65-F5344CB8AC3E}">
        <p14:creationId xmlns:p14="http://schemas.microsoft.com/office/powerpoint/2010/main" val="5324449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FCA571-D255-4409-9EE2-18922966334E}"/>
              </a:ext>
            </a:extLst>
          </p:cNvPr>
          <p:cNvSpPr>
            <a:spLocks noGrp="1"/>
          </p:cNvSpPr>
          <p:nvPr>
            <p:ph idx="1"/>
          </p:nvPr>
        </p:nvSpPr>
        <p:spPr/>
        <p:txBody>
          <a:bodyPr>
            <a:normAutofit fontScale="92500" lnSpcReduction="20000"/>
          </a:bodyPr>
          <a:lstStyle/>
          <a:p>
            <a:pPr marL="0" indent="0">
              <a:buNone/>
            </a:pPr>
            <a:r>
              <a:rPr lang="en-US" b="1" dirty="0"/>
              <a:t>Structured Interview Approach</a:t>
            </a:r>
          </a:p>
          <a:p>
            <a:pPr marL="0" indent="0">
              <a:buNone/>
            </a:pPr>
            <a:endParaRPr lang="en-US" b="1" dirty="0"/>
          </a:p>
          <a:p>
            <a:pPr marL="0" marR="0" algn="l" rtl="0" eaLnBrk="1" fontAlgn="t" latinLnBrk="0" hangingPunct="1">
              <a:spcBef>
                <a:spcPts val="0"/>
              </a:spcBef>
              <a:spcAft>
                <a:spcPts val="0"/>
              </a:spcAft>
            </a:pPr>
            <a:r>
              <a:rPr lang="en-US" sz="1600" b="1" i="1" u="sng" strike="noStrike" kern="1200" dirty="0">
                <a:effectLst/>
                <a:latin typeface="Arial" panose="020B0604020202020204" pitchFamily="34" charset="0"/>
                <a:ea typeface="Times New Roman" panose="02020603050405020304" pitchFamily="18" charset="0"/>
              </a:rPr>
              <a:t>S</a:t>
            </a:r>
            <a:r>
              <a:rPr lang="en-US" sz="1600" b="1" i="1" u="none" strike="noStrike" kern="1200" dirty="0">
                <a:effectLst/>
                <a:latin typeface="Arial" panose="020B0604020202020204" pitchFamily="34" charset="0"/>
                <a:ea typeface="Times New Roman" panose="02020603050405020304" pitchFamily="18" charset="0"/>
              </a:rPr>
              <a:t>ituation or </a:t>
            </a:r>
            <a:r>
              <a:rPr lang="en-US" sz="1600" b="1" i="1" u="sng" strike="noStrike" kern="1200" dirty="0">
                <a:effectLst/>
                <a:latin typeface="Arial" panose="020B0604020202020204" pitchFamily="34" charset="0"/>
              </a:rPr>
              <a:t>T</a:t>
            </a:r>
            <a:r>
              <a:rPr lang="en-US" sz="1600" b="1" i="1" u="none" strike="noStrike" kern="1200" dirty="0">
                <a:effectLst/>
                <a:latin typeface="Arial" panose="020B0604020202020204" pitchFamily="34" charset="0"/>
              </a:rPr>
              <a:t>ask</a:t>
            </a:r>
          </a:p>
          <a:p>
            <a:pPr marL="0" marR="0" indent="0" algn="l" rtl="0" eaLnBrk="1" fontAlgn="t" latinLnBrk="0" hangingPunct="1">
              <a:spcBef>
                <a:spcPts val="0"/>
              </a:spcBef>
              <a:spcAft>
                <a:spcPts val="0"/>
              </a:spcAft>
              <a:buNone/>
            </a:pPr>
            <a:endParaRPr lang="en-US" sz="1400" b="0" i="0" u="none" strike="noStrike" kern="1200" dirty="0">
              <a:solidFill>
                <a:srgbClr val="000000"/>
              </a:solidFill>
              <a:effectLst/>
              <a:latin typeface="Arial" panose="020B0604020202020204" pitchFamily="34" charset="0"/>
              <a:ea typeface="Times New Roman" panose="02020603050405020304" pitchFamily="18" charset="0"/>
            </a:endParaRPr>
          </a:p>
          <a:p>
            <a:pPr marL="0" marR="0" indent="0" algn="l" rtl="0" eaLnBrk="1" fontAlgn="t" latinLnBrk="0" hangingPunct="1">
              <a:spcBef>
                <a:spcPts val="0"/>
              </a:spcBef>
              <a:spcAft>
                <a:spcPts val="0"/>
              </a:spcAft>
              <a:buNone/>
            </a:pPr>
            <a:r>
              <a:rPr lang="en-US" sz="1400" b="0" i="0" u="none" strike="noStrike" kern="1200" dirty="0">
                <a:solidFill>
                  <a:srgbClr val="000000"/>
                </a:solidFill>
                <a:effectLst/>
                <a:latin typeface="Arial" panose="020B0604020202020204" pitchFamily="34" charset="0"/>
                <a:ea typeface="Times New Roman" panose="02020603050405020304" pitchFamily="18" charset="0"/>
              </a:rPr>
              <a:t>Describe the situation that you were in or the task that you needed to accomplish. You must describe a specific event or situation, not a generalized description of what you have done in the past. Be sure to give enough detail for the interviewer to understand. This situation can be from a previous job, from a volunteer experience, or any relevant event,</a:t>
            </a:r>
            <a:r>
              <a:rPr lang="en-US" sz="1400" b="0" i="0" u="none" strike="noStrike" kern="1200" baseline="0" dirty="0">
                <a:solidFill>
                  <a:srgbClr val="000000"/>
                </a:solidFill>
                <a:effectLst/>
                <a:latin typeface="Arial" panose="020B0604020202020204" pitchFamily="34" charset="0"/>
                <a:ea typeface="Times New Roman" panose="02020603050405020304" pitchFamily="18" charset="0"/>
              </a:rPr>
              <a:t> but try to steer clear of personal situations that give away too many personal details.</a:t>
            </a:r>
          </a:p>
          <a:p>
            <a:pPr marL="0" marR="0" indent="0" algn="l" rtl="0" eaLnBrk="1" fontAlgn="t" latinLnBrk="0" hangingPunct="1">
              <a:spcBef>
                <a:spcPts val="0"/>
              </a:spcBef>
              <a:spcAft>
                <a:spcPts val="0"/>
              </a:spcAft>
              <a:buNone/>
            </a:pPr>
            <a:endParaRPr lang="en-US" sz="1800" b="0" i="0" u="none" strike="noStrike" dirty="0">
              <a:effectLst/>
              <a:latin typeface="Arial" panose="020B0604020202020204" pitchFamily="34" charset="0"/>
            </a:endParaRPr>
          </a:p>
          <a:p>
            <a:pPr marL="0" marR="0" algn="l" rtl="0" eaLnBrk="1" fontAlgn="t" latinLnBrk="0" hangingPunct="1">
              <a:spcBef>
                <a:spcPts val="0"/>
              </a:spcBef>
              <a:spcAft>
                <a:spcPts val="0"/>
              </a:spcAft>
            </a:pPr>
            <a:r>
              <a:rPr lang="en-US" sz="1600" b="1" i="1" u="sng" strike="noStrike" kern="1200" dirty="0">
                <a:effectLst/>
                <a:latin typeface="Arial" panose="020B0604020202020204" pitchFamily="34" charset="0"/>
                <a:ea typeface="Times New Roman" panose="02020603050405020304" pitchFamily="18" charset="0"/>
              </a:rPr>
              <a:t>A</a:t>
            </a:r>
            <a:r>
              <a:rPr lang="en-US" sz="1600" b="1" i="1" u="none" strike="noStrike" kern="1200" dirty="0">
                <a:effectLst/>
                <a:latin typeface="Arial" panose="020B0604020202020204" pitchFamily="34" charset="0"/>
                <a:ea typeface="Times New Roman" panose="02020603050405020304" pitchFamily="18" charset="0"/>
              </a:rPr>
              <a:t>ction you took</a:t>
            </a:r>
            <a:endParaRPr lang="en-US" sz="1800" b="0" i="0" u="none" strike="noStrike" dirty="0">
              <a:effectLst/>
              <a:latin typeface="Arial" panose="020B0604020202020204" pitchFamily="34" charset="0"/>
            </a:endParaRPr>
          </a:p>
          <a:p>
            <a:pPr marL="0" marR="0" indent="0" algn="l" rtl="0" eaLnBrk="1" fontAlgn="t" latinLnBrk="0" hangingPunct="1">
              <a:spcBef>
                <a:spcPts val="0"/>
              </a:spcBef>
              <a:spcAft>
                <a:spcPts val="0"/>
              </a:spcAft>
              <a:buNone/>
            </a:pPr>
            <a:endParaRPr lang="en-US" sz="1400" b="0" i="0" u="none" strike="noStrike" kern="1200" dirty="0">
              <a:solidFill>
                <a:srgbClr val="000000"/>
              </a:solidFill>
              <a:effectLst/>
              <a:latin typeface="Arial" panose="020B0604020202020204" pitchFamily="34" charset="0"/>
              <a:ea typeface="Times New Roman" panose="02020603050405020304" pitchFamily="18" charset="0"/>
            </a:endParaRPr>
          </a:p>
          <a:p>
            <a:pPr marL="0" marR="0" indent="0" algn="l" rtl="0" eaLnBrk="1" fontAlgn="t" latinLnBrk="0" hangingPunct="1">
              <a:spcBef>
                <a:spcPts val="0"/>
              </a:spcBef>
              <a:spcAft>
                <a:spcPts val="0"/>
              </a:spcAft>
              <a:buNone/>
            </a:pPr>
            <a:r>
              <a:rPr lang="en-US" sz="1400" b="0" i="0" u="none" strike="noStrike" kern="1200" dirty="0">
                <a:solidFill>
                  <a:srgbClr val="000000"/>
                </a:solidFill>
                <a:effectLst/>
                <a:latin typeface="Arial" panose="020B0604020202020204" pitchFamily="34" charset="0"/>
                <a:ea typeface="Times New Roman" panose="02020603050405020304" pitchFamily="18" charset="0"/>
              </a:rPr>
              <a:t>Describe the action you took and be sure to keep the focus on you. Even if you are discussing a group project or effort, describe what you did -- not the efforts of the team. Don't tell what you might do.  Tell what you did.</a:t>
            </a:r>
            <a:endParaRPr lang="en-US" sz="1800" b="0" i="0" u="none" strike="noStrike" dirty="0">
              <a:effectLst/>
              <a:latin typeface="Arial" panose="020B0604020202020204" pitchFamily="34" charset="0"/>
            </a:endParaRPr>
          </a:p>
          <a:p>
            <a:pPr marL="0" marR="0" algn="l" rtl="0" eaLnBrk="1" fontAlgn="t" latinLnBrk="0" hangingPunct="1">
              <a:spcBef>
                <a:spcPts val="0"/>
              </a:spcBef>
              <a:spcAft>
                <a:spcPts val="0"/>
              </a:spcAft>
            </a:pPr>
            <a:endParaRPr lang="en-US" sz="1600" b="1" i="1" u="sng" strike="noStrike" kern="1200" dirty="0">
              <a:solidFill>
                <a:srgbClr val="10A417"/>
              </a:solidFill>
              <a:effectLst/>
              <a:latin typeface="Arial" panose="020B0604020202020204" pitchFamily="34" charset="0"/>
              <a:ea typeface="Times New Roman" panose="02020603050405020304" pitchFamily="18" charset="0"/>
            </a:endParaRPr>
          </a:p>
          <a:p>
            <a:pPr marL="0" marR="0" algn="l" rtl="0" eaLnBrk="1" fontAlgn="t" latinLnBrk="0" hangingPunct="1">
              <a:spcBef>
                <a:spcPts val="0"/>
              </a:spcBef>
              <a:spcAft>
                <a:spcPts val="0"/>
              </a:spcAft>
            </a:pPr>
            <a:r>
              <a:rPr lang="en-US" sz="1600" b="1" i="1" u="sng" strike="noStrike" kern="1200" dirty="0">
                <a:effectLst/>
                <a:latin typeface="Arial" panose="020B0604020202020204" pitchFamily="34" charset="0"/>
                <a:ea typeface="Times New Roman" panose="02020603050405020304" pitchFamily="18" charset="0"/>
              </a:rPr>
              <a:t>R</a:t>
            </a:r>
            <a:r>
              <a:rPr lang="en-US" sz="1600" b="1" i="1" u="none" strike="noStrike" kern="1200" dirty="0">
                <a:effectLst/>
                <a:latin typeface="Arial" panose="020B0604020202020204" pitchFamily="34" charset="0"/>
                <a:ea typeface="Times New Roman" panose="02020603050405020304" pitchFamily="18" charset="0"/>
              </a:rPr>
              <a:t>esults you achieved</a:t>
            </a:r>
            <a:endParaRPr lang="en-US" sz="1800" b="0" i="0" u="none" strike="noStrike" dirty="0">
              <a:effectLst/>
              <a:latin typeface="Arial" panose="020B0604020202020204" pitchFamily="34" charset="0"/>
            </a:endParaRPr>
          </a:p>
          <a:p>
            <a:pPr marL="0" marR="0" indent="0" algn="l" rtl="0" eaLnBrk="1" fontAlgn="t" latinLnBrk="0" hangingPunct="1">
              <a:spcBef>
                <a:spcPts val="0"/>
              </a:spcBef>
              <a:spcAft>
                <a:spcPts val="0"/>
              </a:spcAft>
              <a:buNone/>
            </a:pPr>
            <a:endParaRPr lang="en-US" sz="1400" b="0" i="0" u="none" strike="noStrike" kern="1200" dirty="0">
              <a:solidFill>
                <a:srgbClr val="000000"/>
              </a:solidFill>
              <a:effectLst/>
              <a:latin typeface="Arial" panose="020B0604020202020204" pitchFamily="34" charset="0"/>
              <a:ea typeface="Times New Roman" panose="02020603050405020304" pitchFamily="18" charset="0"/>
            </a:endParaRPr>
          </a:p>
          <a:p>
            <a:pPr marL="0" marR="0" indent="0" algn="l" rtl="0" eaLnBrk="1" fontAlgn="t" latinLnBrk="0" hangingPunct="1">
              <a:spcBef>
                <a:spcPts val="0"/>
              </a:spcBef>
              <a:spcAft>
                <a:spcPts val="0"/>
              </a:spcAft>
              <a:buNone/>
            </a:pPr>
            <a:r>
              <a:rPr lang="en-US" sz="1400" b="0" i="0" u="none" strike="noStrike" kern="1200" dirty="0">
                <a:solidFill>
                  <a:srgbClr val="000000"/>
                </a:solidFill>
                <a:effectLst/>
                <a:latin typeface="Arial" panose="020B0604020202020204" pitchFamily="34" charset="0"/>
                <a:ea typeface="Times New Roman" panose="02020603050405020304" pitchFamily="18" charset="0"/>
              </a:rPr>
              <a:t>What happened? How did the event end? What did you accomplish? What did you learn?</a:t>
            </a:r>
            <a:endParaRPr lang="en-US" sz="1800" b="0" i="0" u="none" strike="noStrike" dirty="0">
              <a:effectLst/>
              <a:latin typeface="Arial" panose="020B0604020202020204" pitchFamily="34" charset="0"/>
            </a:endParaRPr>
          </a:p>
          <a:p>
            <a:pPr marL="0" indent="0">
              <a:buNone/>
            </a:pPr>
            <a:endParaRPr lang="en-US" b="1" dirty="0"/>
          </a:p>
          <a:p>
            <a:pPr marL="0" indent="0">
              <a:buNone/>
            </a:pPr>
            <a:r>
              <a:rPr lang="en-US" b="1" dirty="0"/>
              <a:t>Why use it?</a:t>
            </a:r>
            <a:br>
              <a:rPr lang="en-US" dirty="0"/>
            </a:br>
            <a:r>
              <a:rPr lang="en-US" dirty="0"/>
              <a:t>It helps you give clear, focused answers that show problem-solving, decision-making, and impact.</a:t>
            </a:r>
          </a:p>
          <a:p>
            <a:pPr marL="0" indent="0">
              <a:buNone/>
            </a:pPr>
            <a:endParaRPr lang="en-US" dirty="0"/>
          </a:p>
          <a:p>
            <a:endParaRPr lang="en-US" dirty="0"/>
          </a:p>
        </p:txBody>
      </p:sp>
      <p:sp>
        <p:nvSpPr>
          <p:cNvPr id="4" name="Title 1">
            <a:extLst>
              <a:ext uri="{FF2B5EF4-FFF2-40B4-BE49-F238E27FC236}">
                <a16:creationId xmlns:a16="http://schemas.microsoft.com/office/drawing/2014/main" id="{CBB522F0-C4CD-4EFC-BDFE-CED96C60E918}"/>
              </a:ext>
            </a:extLst>
          </p:cNvPr>
          <p:cNvSpPr>
            <a:spLocks noGrp="1"/>
          </p:cNvSpPr>
          <p:nvPr>
            <p:ph type="title"/>
          </p:nvPr>
        </p:nvSpPr>
        <p:spPr>
          <a:xfrm>
            <a:off x="768350" y="822325"/>
            <a:ext cx="10706100" cy="684213"/>
          </a:xfrm>
        </p:spPr>
        <p:txBody>
          <a:bodyPr anchor="t">
            <a:normAutofit/>
          </a:bodyPr>
          <a:lstStyle/>
          <a:p>
            <a:r>
              <a:rPr lang="en-US" dirty="0"/>
              <a:t>Answering Questions: STAR Method</a:t>
            </a:r>
          </a:p>
        </p:txBody>
      </p:sp>
    </p:spTree>
    <p:extLst>
      <p:ext uri="{BB962C8B-B14F-4D97-AF65-F5344CB8AC3E}">
        <p14:creationId xmlns:p14="http://schemas.microsoft.com/office/powerpoint/2010/main" val="2686035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1"/>
            <a:ext cx="7797662" cy="1151965"/>
          </a:xfrm>
        </p:spPr>
        <p:txBody>
          <a:bodyPr/>
          <a:lstStyle/>
          <a:p>
            <a:r>
              <a:rPr lang="en-US" dirty="0"/>
              <a:t>EXAMPLE OF AN EXCELLENT ANSWER</a:t>
            </a:r>
          </a:p>
        </p:txBody>
      </p:sp>
      <p:sp>
        <p:nvSpPr>
          <p:cNvPr id="3" name="TextBox 2"/>
          <p:cNvSpPr txBox="1"/>
          <p:nvPr/>
        </p:nvSpPr>
        <p:spPr>
          <a:xfrm>
            <a:off x="3799114" y="1522337"/>
            <a:ext cx="6172200" cy="1015663"/>
          </a:xfrm>
          <a:prstGeom prst="rect">
            <a:avLst/>
          </a:prstGeom>
          <a:noFill/>
        </p:spPr>
        <p:txBody>
          <a:bodyPr wrap="square" rtlCol="0">
            <a:spAutoFit/>
          </a:bodyPr>
          <a:lstStyle/>
          <a:p>
            <a:r>
              <a:rPr lang="en-US" sz="2000" dirty="0"/>
              <a:t>TELL ME ABOUT A TIME WHEN YOU WERE FACED WITH A STRESSFUL SITUATION THAT DEMONSTRATED YOUR COPING ABILITY</a:t>
            </a:r>
          </a:p>
        </p:txBody>
      </p:sp>
      <p:pic>
        <p:nvPicPr>
          <p:cNvPr id="5" name="Picture 4" descr="Ficheiro:&lt;strong&gt;Question mark&lt;/strong&gt; alternate.png – Wikipédia, a ..."/>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90800" y="1436108"/>
            <a:ext cx="883110" cy="1143000"/>
          </a:xfrm>
          <a:prstGeom prst="rect">
            <a:avLst/>
          </a:prstGeom>
        </p:spPr>
      </p:pic>
      <p:sp>
        <p:nvSpPr>
          <p:cNvPr id="6" name="TextBox 5"/>
          <p:cNvSpPr txBox="1"/>
          <p:nvPr/>
        </p:nvSpPr>
        <p:spPr>
          <a:xfrm>
            <a:off x="1905000" y="2971801"/>
            <a:ext cx="8077200" cy="3170099"/>
          </a:xfrm>
          <a:prstGeom prst="rect">
            <a:avLst/>
          </a:prstGeom>
          <a:noFill/>
        </p:spPr>
        <p:txBody>
          <a:bodyPr wrap="square" rtlCol="0">
            <a:spAutoFit/>
          </a:bodyPr>
          <a:lstStyle/>
          <a:p>
            <a:r>
              <a:rPr lang="en-US" sz="2000" dirty="0">
                <a:effectLst>
                  <a:outerShdw blurRad="50800" dist="38100" dir="5400000" algn="t" rotWithShape="0">
                    <a:prstClr val="black">
                      <a:alpha val="40000"/>
                    </a:prstClr>
                  </a:outerShdw>
                </a:effectLst>
              </a:rPr>
              <a:t>(S-T) I had worked five 12-hour shifts in a row and was getting ready to clock out when my boss asked me to stay because we had just gotten slammed with exam requests. </a:t>
            </a:r>
          </a:p>
          <a:p>
            <a:endParaRPr lang="en-US" sz="2000" dirty="0">
              <a:effectLst>
                <a:outerShdw blurRad="50800" dist="38100" dir="5400000" algn="t" rotWithShape="0">
                  <a:prstClr val="black">
                    <a:alpha val="40000"/>
                  </a:prstClr>
                </a:outerShdw>
              </a:effectLst>
            </a:endParaRPr>
          </a:p>
          <a:p>
            <a:pPr marL="457200" indent="-457200">
              <a:buAutoNum type="alphaUcParenBoth"/>
            </a:pPr>
            <a:r>
              <a:rPr lang="en-US" sz="2000" dirty="0">
                <a:effectLst>
                  <a:outerShdw blurRad="50800" dist="38100" dir="5400000" algn="t" rotWithShape="0">
                    <a:prstClr val="black">
                      <a:alpha val="40000"/>
                    </a:prstClr>
                  </a:outerShdw>
                </a:effectLst>
              </a:rPr>
              <a:t>I agreed to stay and we worked as a team.  </a:t>
            </a:r>
          </a:p>
          <a:p>
            <a:endParaRPr lang="en-US" sz="2000" dirty="0">
              <a:effectLst>
                <a:outerShdw blurRad="50800" dist="38100" dir="5400000" algn="t" rotWithShape="0">
                  <a:prstClr val="black">
                    <a:alpha val="40000"/>
                  </a:prstClr>
                </a:outerShdw>
              </a:effectLst>
            </a:endParaRPr>
          </a:p>
          <a:p>
            <a:r>
              <a:rPr lang="en-US" sz="2000" dirty="0">
                <a:effectLst>
                  <a:outerShdw blurRad="50800" dist="38100" dir="5400000" algn="t" rotWithShape="0">
                    <a:prstClr val="black">
                      <a:alpha val="40000"/>
                    </a:prstClr>
                  </a:outerShdw>
                </a:effectLst>
              </a:rPr>
              <a:t>(R) By prioritizing the exams, we were able to turn a stressful situation into a manageable one.  As a result, we were able to get caught up and the patients were well taken care of and pleased with our service.</a:t>
            </a:r>
          </a:p>
        </p:txBody>
      </p:sp>
    </p:spTree>
    <p:extLst>
      <p:ext uri="{BB962C8B-B14F-4D97-AF65-F5344CB8AC3E}">
        <p14:creationId xmlns:p14="http://schemas.microsoft.com/office/powerpoint/2010/main" val="2881316227"/>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1"/>
            <a:ext cx="7797662" cy="1151965"/>
          </a:xfrm>
        </p:spPr>
        <p:txBody>
          <a:bodyPr/>
          <a:lstStyle/>
          <a:p>
            <a:r>
              <a:rPr lang="en-US" dirty="0"/>
              <a:t>EXAMPLE OF AN EXCELLENT ANSWER</a:t>
            </a:r>
          </a:p>
        </p:txBody>
      </p:sp>
      <p:sp>
        <p:nvSpPr>
          <p:cNvPr id="3" name="TextBox 2"/>
          <p:cNvSpPr txBox="1"/>
          <p:nvPr/>
        </p:nvSpPr>
        <p:spPr>
          <a:xfrm>
            <a:off x="3606662" y="1594458"/>
            <a:ext cx="6172200" cy="1015663"/>
          </a:xfrm>
          <a:prstGeom prst="rect">
            <a:avLst/>
          </a:prstGeom>
          <a:noFill/>
        </p:spPr>
        <p:txBody>
          <a:bodyPr wrap="square" rtlCol="0">
            <a:spAutoFit/>
          </a:bodyPr>
          <a:lstStyle/>
          <a:p>
            <a:r>
              <a:rPr lang="en-US" sz="2000" dirty="0"/>
              <a:t>TELL ME ABOUT A SITUATION IN WHICH YOU HAD TO DEAL WITH A VERY UPSET CUSTOMER OR CO-WORKER.</a:t>
            </a:r>
          </a:p>
        </p:txBody>
      </p:sp>
      <p:pic>
        <p:nvPicPr>
          <p:cNvPr id="5" name="Picture 4" descr="Ficheiro:&lt;strong&gt;Question mark&lt;/strong&gt; alternate.png – Wikipédia, a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09800" y="1436108"/>
            <a:ext cx="883110" cy="1143000"/>
          </a:xfrm>
          <a:prstGeom prst="rect">
            <a:avLst/>
          </a:prstGeom>
        </p:spPr>
      </p:pic>
      <p:sp>
        <p:nvSpPr>
          <p:cNvPr id="6" name="TextBox 5"/>
          <p:cNvSpPr txBox="1"/>
          <p:nvPr/>
        </p:nvSpPr>
        <p:spPr>
          <a:xfrm>
            <a:off x="1975945" y="2955218"/>
            <a:ext cx="8077200" cy="313932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dirty="0"/>
              <a:t>(S-T) I was working in a nursing home when a patient’s very upset family member came up to me and told me the patient’s bathroom and room hadn’t been cleaned in 2 days and that the floors and toilet were sticky. </a:t>
            </a:r>
          </a:p>
          <a:p>
            <a:endParaRPr lang="en-US" dirty="0"/>
          </a:p>
          <a:p>
            <a:pPr marL="342900" indent="-342900">
              <a:buAutoNum type="alphaUcParenBoth"/>
            </a:pPr>
            <a:r>
              <a:rPr lang="en-US" dirty="0"/>
              <a:t>I reassured the family member that the situation would be taken care of.  I made a report to my supervisor evaluating the poor housekeeping. After making my supervisor aware, a housekeeper was assigned to take care of the room immediately.  </a:t>
            </a:r>
          </a:p>
          <a:p>
            <a:endParaRPr lang="en-US" dirty="0"/>
          </a:p>
          <a:p>
            <a:r>
              <a:rPr lang="en-US" dirty="0"/>
              <a:t>(R) As a result, the patient’s family was pleased with our quick response and the patient was well taken care of.</a:t>
            </a:r>
          </a:p>
        </p:txBody>
      </p:sp>
    </p:spTree>
    <p:extLst>
      <p:ext uri="{BB962C8B-B14F-4D97-AF65-F5344CB8AC3E}">
        <p14:creationId xmlns:p14="http://schemas.microsoft.com/office/powerpoint/2010/main" val="402411130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Presentation Activity: STAR Method Practice</a:t>
            </a:r>
          </a:p>
        </p:txBody>
      </p:sp>
      <p:sp>
        <p:nvSpPr>
          <p:cNvPr id="3" name="Content Placeholder 2"/>
          <p:cNvSpPr>
            <a:spLocks noGrp="1"/>
          </p:cNvSpPr>
          <p:nvPr>
            <p:ph idx="1"/>
          </p:nvPr>
        </p:nvSpPr>
        <p:spPr/>
        <p:txBody>
          <a:bodyPr/>
          <a:lstStyle/>
          <a:p>
            <a:r>
              <a:rPr dirty="0"/>
              <a:t>Use the STAR method to answer</a:t>
            </a:r>
            <a:r>
              <a:rPr lang="en-US" dirty="0"/>
              <a:t> the questions on the “</a:t>
            </a:r>
            <a:r>
              <a:rPr lang="en-US" sz="1800" b="1" dirty="0">
                <a:solidFill>
                  <a:srgbClr val="0066CC"/>
                </a:solidFill>
                <a:effectLst/>
                <a:latin typeface="Cambria" panose="02040503050406030204" pitchFamily="18" charset="0"/>
                <a:ea typeface="MS Mincho" panose="02020609040205080304" pitchFamily="49" charset="-128"/>
                <a:cs typeface="Times New Roman" panose="02020603050405020304" pitchFamily="18" charset="0"/>
              </a:rPr>
              <a:t>Shine Bright with STAR Interviews!”</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dirty="0"/>
          </a:p>
        </p:txBody>
      </p:sp>
      <p:pic>
        <p:nvPicPr>
          <p:cNvPr id="5" name="Picture 4">
            <a:extLst>
              <a:ext uri="{FF2B5EF4-FFF2-40B4-BE49-F238E27FC236}">
                <a16:creationId xmlns:a16="http://schemas.microsoft.com/office/drawing/2014/main" id="{1EFD234A-2D5D-419F-B4A1-0EFD5022F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6719" y="2053422"/>
            <a:ext cx="6978562" cy="449977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77EF8-602F-FBAB-210E-40AC3B1BE88C}"/>
              </a:ext>
            </a:extLst>
          </p:cNvPr>
          <p:cNvSpPr>
            <a:spLocks noGrp="1"/>
          </p:cNvSpPr>
          <p:nvPr>
            <p:ph type="title"/>
          </p:nvPr>
        </p:nvSpPr>
        <p:spPr>
          <a:xfrm>
            <a:off x="7223912" y="822960"/>
            <a:ext cx="4243345" cy="1089702"/>
          </a:xfrm>
        </p:spPr>
        <p:txBody>
          <a:bodyPr anchor="t">
            <a:normAutofit/>
          </a:bodyPr>
          <a:lstStyle/>
          <a:p>
            <a:r>
              <a:rPr lang="en-US"/>
              <a:t>Questions to Ask Employers</a:t>
            </a:r>
          </a:p>
        </p:txBody>
      </p:sp>
      <p:pic>
        <p:nvPicPr>
          <p:cNvPr id="5" name="Content Placeholder 4" descr="Man talking with therapist">
            <a:extLst>
              <a:ext uri="{FF2B5EF4-FFF2-40B4-BE49-F238E27FC236}">
                <a16:creationId xmlns:a16="http://schemas.microsoft.com/office/drawing/2014/main" id="{BF89B464-056C-4675-81A5-36242908D8E3}"/>
              </a:ext>
            </a:extLst>
          </p:cNvPr>
          <p:cNvPicPr>
            <a:picLocks noGrp="1" noChangeAspect="1"/>
          </p:cNvPicPr>
          <p:nvPr>
            <p:ph type="pic" sz="quarter" idx="15"/>
          </p:nvPr>
        </p:nvPicPr>
        <p:blipFill>
          <a:blip r:embed="rId3"/>
          <a:srcRect l="25808" r="2808"/>
          <a:stretch>
            <a:fillRect/>
          </a:stretch>
        </p:blipFill>
        <p:spPr>
          <a:xfrm>
            <a:off x="20" y="10"/>
            <a:ext cx="6548514" cy="6100454"/>
          </a:xfrm>
          <a:prstGeom prst="rect">
            <a:avLst/>
          </a:prstGeom>
          <a:noFill/>
        </p:spPr>
      </p:pic>
      <p:sp>
        <p:nvSpPr>
          <p:cNvPr id="4" name="Content Placeholder 3">
            <a:extLst>
              <a:ext uri="{FF2B5EF4-FFF2-40B4-BE49-F238E27FC236}">
                <a16:creationId xmlns:a16="http://schemas.microsoft.com/office/drawing/2014/main" id="{75D52907-F8E2-F7F0-82CF-9146E2B86485}"/>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7223069" y="1988820"/>
            <a:ext cx="4244188" cy="4111644"/>
          </a:xfrm>
        </p:spPr>
        <p:txBody>
          <a:bodyPr>
            <a:normAutofit/>
          </a:bodyPr>
          <a:lstStyle/>
          <a:p>
            <a:pPr marL="0" indent="0">
              <a:spcBef>
                <a:spcPts val="2500"/>
              </a:spcBef>
              <a:buFont typeface="Arial" panose="020B0604020202020204" pitchFamily="34" charset="0"/>
              <a:buNone/>
            </a:pPr>
            <a:r>
              <a:rPr lang="en-US" b="1"/>
              <a:t>Demonstrate Interest</a:t>
            </a:r>
          </a:p>
          <a:p>
            <a:pPr marL="0" lvl="1" indent="0">
              <a:buFont typeface="Arial" panose="020B0604020202020204" pitchFamily="34" charset="0"/>
              <a:buNone/>
            </a:pPr>
            <a:r>
              <a:t>Asking thoughtful questions shows genuine interest and preparation for the role and company.</a:t>
            </a:r>
            <a:endParaRPr lang="en-US"/>
          </a:p>
          <a:p>
            <a:pPr marL="0" indent="0">
              <a:spcBef>
                <a:spcPts val="2500"/>
              </a:spcBef>
              <a:buFont typeface="Arial" panose="020B0604020202020204" pitchFamily="34" charset="0"/>
              <a:buNone/>
            </a:pPr>
            <a:r>
              <a:rPr lang="en-US" b="1"/>
              <a:t>Examples of Questions</a:t>
            </a:r>
          </a:p>
          <a:p>
            <a:pPr marL="0" lvl="1" indent="0">
              <a:buFont typeface="Arial" panose="020B0604020202020204" pitchFamily="34" charset="0"/>
              <a:buNone/>
            </a:pPr>
            <a:r>
              <a:t>Effective questions include role success, team culture, and hiring process steps.</a:t>
            </a:r>
            <a:endParaRPr lang="en-US"/>
          </a:p>
          <a:p>
            <a:pPr marL="0" indent="0">
              <a:spcBef>
                <a:spcPts val="2500"/>
              </a:spcBef>
              <a:buFont typeface="Arial" panose="020B0604020202020204" pitchFamily="34" charset="0"/>
              <a:buNone/>
            </a:pPr>
            <a:r>
              <a:rPr lang="en-US" b="1"/>
              <a:t>Tailor to Role</a:t>
            </a:r>
          </a:p>
          <a:p>
            <a:pPr marL="0" lvl="1" indent="0">
              <a:buFont typeface="Arial" panose="020B0604020202020204" pitchFamily="34" charset="0"/>
              <a:buNone/>
            </a:pPr>
            <a:r>
              <a:t>Questions should be researched and customized based on the specific job and organization.</a:t>
            </a:r>
            <a:endParaRPr lang="en-US"/>
          </a:p>
        </p:txBody>
      </p:sp>
    </p:spTree>
    <p:extLst>
      <p:ext uri="{BB962C8B-B14F-4D97-AF65-F5344CB8AC3E}">
        <p14:creationId xmlns:p14="http://schemas.microsoft.com/office/powerpoint/2010/main" val="18922492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16209-7CA4-498D-8947-5E624AEC68AF}"/>
              </a:ext>
            </a:extLst>
          </p:cNvPr>
          <p:cNvSpPr>
            <a:spLocks noGrp="1"/>
          </p:cNvSpPr>
          <p:nvPr>
            <p:ph type="title"/>
          </p:nvPr>
        </p:nvSpPr>
        <p:spPr/>
        <p:txBody>
          <a:bodyPr/>
          <a:lstStyle/>
          <a:p>
            <a:r>
              <a:rPr lang="en-US" altLang="en-US" dirty="0"/>
              <a:t>Sample Questions to Ask</a:t>
            </a:r>
            <a:endParaRPr lang="en-US" dirty="0"/>
          </a:p>
        </p:txBody>
      </p:sp>
      <p:sp>
        <p:nvSpPr>
          <p:cNvPr id="3" name="Content Placeholder 2">
            <a:extLst>
              <a:ext uri="{FF2B5EF4-FFF2-40B4-BE49-F238E27FC236}">
                <a16:creationId xmlns:a16="http://schemas.microsoft.com/office/drawing/2014/main" id="{913DDDAB-8CE0-4C63-82DA-62701FA95102}"/>
              </a:ext>
            </a:extLst>
          </p:cNvPr>
          <p:cNvSpPr>
            <a:spLocks noGrp="1"/>
          </p:cNvSpPr>
          <p:nvPr>
            <p:ph idx="1"/>
          </p:nvPr>
        </p:nvSpPr>
        <p:spPr/>
        <p:txBody>
          <a:bodyPr/>
          <a:lstStyle/>
          <a:p>
            <a:pPr marL="228600" marR="0" lvl="0" indent="-228600" algn="l" defTabSz="914400" rtl="0" eaLnBrk="1" fontAlgn="auto" latinLnBrk="0" hangingPunct="1">
              <a:lnSpc>
                <a:spcPct val="120000"/>
              </a:lnSpc>
              <a:spcBef>
                <a:spcPts val="1000"/>
              </a:spcBef>
              <a:spcAft>
                <a:spcPts val="0"/>
              </a:spcAft>
              <a:buClr>
                <a:srgbClr val="B80E0F"/>
              </a:buClr>
              <a:buSzPct val="160000"/>
              <a:buFont typeface="Arial" panose="020B0604020202020204" pitchFamily="34" charset="0"/>
              <a:buChar char="•"/>
              <a:tabLst/>
              <a:defRPr/>
            </a:pPr>
            <a:r>
              <a:rPr kumimoji="0" lang="en-US" sz="1900" b="0" i="0" u="none" strike="noStrike" kern="1200" cap="all" spc="0" normalizeH="0" baseline="0" noProof="0" dirty="0">
                <a:ln>
                  <a:noFill/>
                </a:ln>
                <a:solidFill>
                  <a:prstClr val="black"/>
                </a:solidFill>
                <a:effectLst/>
                <a:uLnTx/>
                <a:uFillTx/>
                <a:latin typeface="Impact" panose="020B0806030902050204"/>
                <a:ea typeface="+mn-ea"/>
                <a:cs typeface="+mn-cs"/>
              </a:rPr>
              <a:t>Will you describe the characteristics of the person best suited for this job?</a:t>
            </a:r>
          </a:p>
          <a:p>
            <a:pPr marL="228600" marR="0" lvl="0" indent="-228600" algn="l" defTabSz="914400" rtl="0" eaLnBrk="1" fontAlgn="auto" latinLnBrk="0" hangingPunct="1">
              <a:lnSpc>
                <a:spcPct val="120000"/>
              </a:lnSpc>
              <a:spcBef>
                <a:spcPts val="1000"/>
              </a:spcBef>
              <a:spcAft>
                <a:spcPts val="0"/>
              </a:spcAft>
              <a:buClr>
                <a:srgbClr val="B80E0F"/>
              </a:buClr>
              <a:buSzPct val="160000"/>
              <a:buFont typeface="Arial" panose="020B0604020202020204" pitchFamily="34" charset="0"/>
              <a:buChar char="•"/>
              <a:tabLst/>
              <a:defRPr/>
            </a:pPr>
            <a:r>
              <a:rPr kumimoji="0" lang="en-US" sz="1900" b="0" i="0" u="none" strike="noStrike" kern="1200" cap="all" spc="0" normalizeH="0" baseline="0" noProof="0" dirty="0">
                <a:ln>
                  <a:noFill/>
                </a:ln>
                <a:solidFill>
                  <a:prstClr val="black"/>
                </a:solidFill>
                <a:effectLst/>
                <a:uLnTx/>
                <a:uFillTx/>
                <a:latin typeface="Impact" panose="020B0806030902050204"/>
                <a:ea typeface="+mn-ea"/>
                <a:cs typeface="+mn-cs"/>
              </a:rPr>
              <a:t>What advancement opportunities are available with your company?</a:t>
            </a:r>
          </a:p>
          <a:p>
            <a:pPr marL="228600" marR="0" lvl="0" indent="-228600" algn="l" defTabSz="914400" rtl="0" eaLnBrk="1" fontAlgn="auto" latinLnBrk="0" hangingPunct="1">
              <a:lnSpc>
                <a:spcPct val="120000"/>
              </a:lnSpc>
              <a:spcBef>
                <a:spcPts val="1000"/>
              </a:spcBef>
              <a:spcAft>
                <a:spcPts val="0"/>
              </a:spcAft>
              <a:buClr>
                <a:srgbClr val="B80E0F"/>
              </a:buClr>
              <a:buSzPct val="160000"/>
              <a:buFont typeface="Arial" panose="020B0604020202020204" pitchFamily="34" charset="0"/>
              <a:buChar char="•"/>
              <a:tabLst/>
              <a:defRPr/>
            </a:pPr>
            <a:r>
              <a:rPr kumimoji="0" lang="en-US" sz="1900" b="0" i="0" u="none" strike="noStrike" kern="1200" cap="all" spc="0" normalizeH="0" baseline="0" noProof="0" dirty="0">
                <a:ln>
                  <a:noFill/>
                </a:ln>
                <a:solidFill>
                  <a:prstClr val="black"/>
                </a:solidFill>
                <a:effectLst/>
                <a:uLnTx/>
                <a:uFillTx/>
                <a:latin typeface="Impact" panose="020B0806030902050204"/>
                <a:ea typeface="+mn-ea"/>
                <a:cs typeface="+mn-cs"/>
              </a:rPr>
              <a:t>What type of people tend to do well in this position and who do not?</a:t>
            </a:r>
          </a:p>
          <a:p>
            <a:pPr marL="228600" marR="0" lvl="0" indent="-228600" algn="l" defTabSz="914400" rtl="0" eaLnBrk="1" fontAlgn="auto" latinLnBrk="0" hangingPunct="1">
              <a:lnSpc>
                <a:spcPct val="120000"/>
              </a:lnSpc>
              <a:spcBef>
                <a:spcPts val="1000"/>
              </a:spcBef>
              <a:spcAft>
                <a:spcPts val="0"/>
              </a:spcAft>
              <a:buClr>
                <a:srgbClr val="B80E0F"/>
              </a:buClr>
              <a:buSzPct val="160000"/>
              <a:buFont typeface="Arial" panose="020B0604020202020204" pitchFamily="34" charset="0"/>
              <a:buChar char="•"/>
              <a:tabLst/>
              <a:defRPr/>
            </a:pPr>
            <a:r>
              <a:rPr kumimoji="0" lang="en-US" sz="1900" b="0" i="0" u="none" strike="noStrike" kern="1200" cap="all" spc="0" normalizeH="0" baseline="0" noProof="0" dirty="0">
                <a:ln>
                  <a:noFill/>
                </a:ln>
                <a:solidFill>
                  <a:prstClr val="black"/>
                </a:solidFill>
                <a:effectLst/>
                <a:uLnTx/>
                <a:uFillTx/>
                <a:latin typeface="Impact" panose="020B0806030902050204"/>
                <a:ea typeface="+mn-ea"/>
                <a:cs typeface="+mn-cs"/>
              </a:rPr>
              <a:t>Are there reservations you have about my fit for the position that I could try to address?</a:t>
            </a:r>
          </a:p>
          <a:p>
            <a:pPr marL="0" marR="0" lvl="0" indent="0" algn="l" defTabSz="914400" rtl="0" eaLnBrk="1" fontAlgn="auto" latinLnBrk="0" hangingPunct="1">
              <a:lnSpc>
                <a:spcPct val="120000"/>
              </a:lnSpc>
              <a:spcBef>
                <a:spcPts val="1000"/>
              </a:spcBef>
              <a:spcAft>
                <a:spcPts val="0"/>
              </a:spcAft>
              <a:buClr>
                <a:srgbClr val="B80E0F"/>
              </a:buClr>
              <a:buSzPct val="160000"/>
              <a:buFont typeface="Wingdings" panose="05000000000000000000" pitchFamily="2" charset="2"/>
              <a:buNone/>
              <a:tabLst/>
              <a:defRPr/>
            </a:pPr>
            <a:r>
              <a:rPr kumimoji="0" lang="en-US" sz="1900" b="1" i="0" u="none" strike="noStrike" kern="1200" cap="all" spc="0" normalizeH="0" baseline="0" noProof="0" dirty="0">
                <a:ln>
                  <a:noFill/>
                </a:ln>
                <a:solidFill>
                  <a:prstClr val="black"/>
                </a:solidFill>
                <a:effectLst/>
                <a:uLnTx/>
                <a:uFillTx/>
                <a:latin typeface="Impact" panose="020B0806030902050204"/>
                <a:ea typeface="+mn-ea"/>
                <a:cs typeface="+mn-cs"/>
              </a:rPr>
              <a:t>A MUST ASK QUESTION </a:t>
            </a:r>
          </a:p>
          <a:p>
            <a:pPr marL="228600" marR="0" lvl="0" indent="-228600" algn="l" defTabSz="914400" rtl="0" eaLnBrk="1" fontAlgn="auto" latinLnBrk="0" hangingPunct="1">
              <a:lnSpc>
                <a:spcPct val="120000"/>
              </a:lnSpc>
              <a:spcBef>
                <a:spcPts val="1000"/>
              </a:spcBef>
              <a:spcAft>
                <a:spcPts val="0"/>
              </a:spcAft>
              <a:buClr>
                <a:srgbClr val="B80E0F"/>
              </a:buClr>
              <a:buSzPct val="160000"/>
              <a:buFont typeface="Arial" panose="020B0604020202020204" pitchFamily="34" charset="0"/>
              <a:buChar char="•"/>
              <a:tabLst/>
              <a:defRPr/>
            </a:pPr>
            <a:r>
              <a:rPr kumimoji="0" lang="en-US" sz="1900" b="0" i="0" u="none" strike="noStrike" kern="1200" cap="all" spc="0" normalizeH="0" baseline="0" noProof="0" dirty="0">
                <a:ln>
                  <a:noFill/>
                </a:ln>
                <a:solidFill>
                  <a:prstClr val="black"/>
                </a:solidFill>
                <a:effectLst/>
                <a:uLnTx/>
                <a:uFillTx/>
                <a:latin typeface="Impact" panose="020B0806030902050204"/>
                <a:ea typeface="+mn-ea"/>
                <a:cs typeface="+mn-cs"/>
              </a:rPr>
              <a:t>When will you be making a decision and how will I be notified?</a:t>
            </a:r>
          </a:p>
          <a:p>
            <a:pPr marL="0" indent="0">
              <a:buNone/>
            </a:pPr>
            <a:endParaRPr lang="en-US" dirty="0"/>
          </a:p>
        </p:txBody>
      </p:sp>
    </p:spTree>
    <p:extLst>
      <p:ext uri="{BB962C8B-B14F-4D97-AF65-F5344CB8AC3E}">
        <p14:creationId xmlns:p14="http://schemas.microsoft.com/office/powerpoint/2010/main" val="1014709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2D065-86CA-3035-9F50-869DCB3E0ABF}"/>
              </a:ext>
            </a:extLst>
          </p:cNvPr>
          <p:cNvSpPr>
            <a:spLocks noGrp="1"/>
          </p:cNvSpPr>
          <p:nvPr>
            <p:ph type="title"/>
          </p:nvPr>
        </p:nvSpPr>
        <p:spPr>
          <a:xfrm>
            <a:off x="7223912" y="822960"/>
            <a:ext cx="4243345" cy="1089702"/>
          </a:xfrm>
        </p:spPr>
        <p:txBody>
          <a:bodyPr anchor="t">
            <a:normAutofit/>
          </a:bodyPr>
          <a:lstStyle/>
          <a:p>
            <a:r>
              <a:rPr lang="en-US"/>
              <a:t>During and Ending the Interview</a:t>
            </a:r>
          </a:p>
        </p:txBody>
      </p:sp>
      <p:pic>
        <p:nvPicPr>
          <p:cNvPr id="5" name="Content Placeholder 4" descr="Woman who is interviewed by a company">
            <a:extLst>
              <a:ext uri="{FF2B5EF4-FFF2-40B4-BE49-F238E27FC236}">
                <a16:creationId xmlns:a16="http://schemas.microsoft.com/office/drawing/2014/main" id="{27A0FE69-4922-4367-9018-7E4BA5378A44}"/>
              </a:ext>
            </a:extLst>
          </p:cNvPr>
          <p:cNvPicPr>
            <a:picLocks noGrp="1" noChangeAspect="1"/>
          </p:cNvPicPr>
          <p:nvPr>
            <p:ph type="pic" sz="quarter" idx="15"/>
          </p:nvPr>
        </p:nvPicPr>
        <p:blipFill>
          <a:blip r:embed="rId3"/>
          <a:srcRect l="23494" r="4852" b="-1"/>
          <a:stretch>
            <a:fillRect/>
          </a:stretch>
        </p:blipFill>
        <p:spPr>
          <a:xfrm>
            <a:off x="20" y="10"/>
            <a:ext cx="6548514" cy="6100454"/>
          </a:xfrm>
          <a:prstGeom prst="rect">
            <a:avLst/>
          </a:prstGeom>
          <a:noFill/>
        </p:spPr>
      </p:pic>
      <p:sp>
        <p:nvSpPr>
          <p:cNvPr id="4" name="Content Placeholder 3">
            <a:extLst>
              <a:ext uri="{FF2B5EF4-FFF2-40B4-BE49-F238E27FC236}">
                <a16:creationId xmlns:a16="http://schemas.microsoft.com/office/drawing/2014/main" id="{4556B07C-E891-F227-2F44-7BCB7585A79C}"/>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7223069" y="1988820"/>
            <a:ext cx="4244188" cy="4111644"/>
          </a:xfrm>
        </p:spPr>
        <p:txBody>
          <a:bodyPr>
            <a:normAutofit/>
          </a:bodyPr>
          <a:lstStyle/>
          <a:p>
            <a:pPr marL="0" indent="0">
              <a:spcBef>
                <a:spcPts val="2500"/>
              </a:spcBef>
              <a:buFont typeface="Arial" panose="020B0604020202020204" pitchFamily="34" charset="0"/>
              <a:buNone/>
            </a:pPr>
            <a:r>
              <a:rPr lang="en-US" b="1"/>
              <a:t>Effective Interview Behavior</a:t>
            </a:r>
          </a:p>
          <a:p>
            <a:pPr marL="0" lvl="1" indent="0">
              <a:buFont typeface="Arial" panose="020B0604020202020204" pitchFamily="34" charset="0"/>
              <a:buNone/>
            </a:pPr>
            <a:r>
              <a:t>Maintaining good posture and positivity enhances a candidate's presence and confidence during the interview.</a:t>
            </a:r>
            <a:endParaRPr lang="en-US"/>
          </a:p>
          <a:p>
            <a:pPr marL="0" indent="0">
              <a:spcBef>
                <a:spcPts val="2500"/>
              </a:spcBef>
              <a:buFont typeface="Arial" panose="020B0604020202020204" pitchFamily="34" charset="0"/>
              <a:buNone/>
            </a:pPr>
            <a:r>
              <a:rPr lang="en-US" b="1"/>
              <a:t>Organized Communication</a:t>
            </a:r>
          </a:p>
          <a:p>
            <a:pPr marL="0" lvl="1" indent="0">
              <a:buFont typeface="Arial" panose="020B0604020202020204" pitchFamily="34" charset="0"/>
              <a:buNone/>
            </a:pPr>
            <a:r>
              <a:t>Organizing thoughts before responding and referring to resume helps deliver clear and relevant answers.</a:t>
            </a:r>
            <a:endParaRPr lang="en-US"/>
          </a:p>
          <a:p>
            <a:pPr marL="0" indent="0">
              <a:spcBef>
                <a:spcPts val="2500"/>
              </a:spcBef>
              <a:buFont typeface="Arial" panose="020B0604020202020204" pitchFamily="34" charset="0"/>
              <a:buNone/>
            </a:pPr>
            <a:r>
              <a:rPr lang="en-US" b="1"/>
              <a:t>Closing the Interview</a:t>
            </a:r>
          </a:p>
          <a:p>
            <a:pPr marL="0" lvl="1" indent="0">
              <a:buFont typeface="Arial" panose="020B0604020202020204" pitchFamily="34" charset="0"/>
              <a:buNone/>
            </a:pPr>
            <a:r>
              <a:t>Asking prepared questions, thanking the interviewer, smiling, and shaking hands create a strong positive impression.</a:t>
            </a:r>
            <a:endParaRPr lang="en-US"/>
          </a:p>
        </p:txBody>
      </p:sp>
    </p:spTree>
    <p:extLst>
      <p:ext uri="{BB962C8B-B14F-4D97-AF65-F5344CB8AC3E}">
        <p14:creationId xmlns:p14="http://schemas.microsoft.com/office/powerpoint/2010/main" val="41734280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9060E-ADA1-8F25-9DD1-DDF13FC963B0}"/>
              </a:ext>
            </a:extLst>
          </p:cNvPr>
          <p:cNvSpPr>
            <a:spLocks noGrp="1"/>
          </p:cNvSpPr>
          <p:nvPr>
            <p:ph type="title"/>
          </p:nvPr>
        </p:nvSpPr>
        <p:spPr>
          <a:xfrm>
            <a:off x="213702" y="1940943"/>
            <a:ext cx="8771340" cy="4917058"/>
          </a:xfrm>
        </p:spPr>
        <p:txBody>
          <a:bodyPr anchor="b">
            <a:normAutofit/>
          </a:bodyPr>
          <a:lstStyle/>
          <a:p>
            <a:r>
              <a:rPr lang="en-US"/>
              <a:t>Practice and Follow-Up</a:t>
            </a:r>
          </a:p>
        </p:txBody>
      </p:sp>
    </p:spTree>
    <p:extLst>
      <p:ext uri="{BB962C8B-B14F-4D97-AF65-F5344CB8AC3E}">
        <p14:creationId xmlns:p14="http://schemas.microsoft.com/office/powerpoint/2010/main" val="13582156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318D6-2160-E9C4-0817-5DF30532AA5F}"/>
              </a:ext>
            </a:extLst>
          </p:cNvPr>
          <p:cNvSpPr>
            <a:spLocks noGrp="1"/>
          </p:cNvSpPr>
          <p:nvPr>
            <p:ph type="title"/>
          </p:nvPr>
        </p:nvSpPr>
        <p:spPr>
          <a:xfrm>
            <a:off x="4160520" y="822960"/>
            <a:ext cx="7305005" cy="972657"/>
          </a:xfrm>
        </p:spPr>
        <p:txBody>
          <a:bodyPr anchor="t">
            <a:normAutofit/>
          </a:bodyPr>
          <a:lstStyle/>
          <a:p>
            <a:r>
              <a:rPr lang="en-US" dirty="0"/>
              <a:t>Mock Interview Practice</a:t>
            </a:r>
          </a:p>
        </p:txBody>
      </p:sp>
      <p:pic>
        <p:nvPicPr>
          <p:cNvPr id="5" name="Content Placeholder 4" descr="Business people read new contract and discuss to each other">
            <a:extLst>
              <a:ext uri="{FF2B5EF4-FFF2-40B4-BE49-F238E27FC236}">
                <a16:creationId xmlns:a16="http://schemas.microsoft.com/office/drawing/2014/main" id="{0756114D-EAD2-4F8E-8E5C-799934C39764}"/>
              </a:ext>
            </a:extLst>
          </p:cNvPr>
          <p:cNvPicPr>
            <a:picLocks noGrp="1" noChangeAspect="1"/>
          </p:cNvPicPr>
          <p:nvPr>
            <p:ph type="pic" sz="quarter" idx="15"/>
          </p:nvPr>
        </p:nvPicPr>
        <p:blipFill>
          <a:blip r:embed="rId3"/>
          <a:srcRect l="19932" r="41890" b="-2"/>
          <a:stretch>
            <a:fillRect/>
          </a:stretch>
        </p:blipFill>
        <p:spPr>
          <a:xfrm>
            <a:off x="20" y="10"/>
            <a:ext cx="3492988" cy="6107194"/>
          </a:xfrm>
          <a:prstGeom prst="rect">
            <a:avLst/>
          </a:prstGeom>
          <a:noFill/>
        </p:spPr>
      </p:pic>
      <p:sp>
        <p:nvSpPr>
          <p:cNvPr id="4" name="Content Placeholder 3">
            <a:extLst>
              <a:ext uri="{FF2B5EF4-FFF2-40B4-BE49-F238E27FC236}">
                <a16:creationId xmlns:a16="http://schemas.microsoft.com/office/drawing/2014/main" id="{7D58E676-C136-5B97-20E3-19E96DC06D9F}"/>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4163095" y="1993392"/>
            <a:ext cx="7305005" cy="4120889"/>
          </a:xfrm>
        </p:spPr>
        <p:txBody>
          <a:bodyPr>
            <a:normAutofit fontScale="92500" lnSpcReduction="10000"/>
          </a:bodyPr>
          <a:lstStyle/>
          <a:p>
            <a:pPr marL="0" indent="0">
              <a:lnSpc>
                <a:spcPct val="110000"/>
              </a:lnSpc>
              <a:spcBef>
                <a:spcPts val="2500"/>
              </a:spcBef>
              <a:buFont typeface="Arial" panose="020B0604020202020204" pitchFamily="34" charset="0"/>
              <a:buNone/>
            </a:pPr>
            <a:r>
              <a:rPr lang="en-US" b="1" dirty="0"/>
              <a:t>Why do Mock Interviews help? </a:t>
            </a:r>
          </a:p>
          <a:p>
            <a:pPr marL="0" indent="0">
              <a:lnSpc>
                <a:spcPct val="110000"/>
              </a:lnSpc>
              <a:spcBef>
                <a:spcPts val="2500"/>
              </a:spcBef>
              <a:buFont typeface="Arial" panose="020B0604020202020204" pitchFamily="34" charset="0"/>
              <a:buNone/>
            </a:pPr>
            <a:r>
              <a:rPr lang="en-US" b="1" dirty="0"/>
              <a:t>Building Confidence and Skills</a:t>
            </a:r>
          </a:p>
          <a:p>
            <a:pPr marL="0" lvl="1" indent="0">
              <a:lnSpc>
                <a:spcPct val="110000"/>
              </a:lnSpc>
              <a:buFont typeface="Arial" panose="020B0604020202020204" pitchFamily="34" charset="0"/>
              <a:buNone/>
            </a:pPr>
            <a:r>
              <a:rPr dirty="0"/>
              <a:t>Mock interviews help candidates build confidence and refine communication skills through practice.</a:t>
            </a:r>
            <a:endParaRPr lang="en-US" dirty="0"/>
          </a:p>
          <a:p>
            <a:pPr marL="0" indent="0">
              <a:lnSpc>
                <a:spcPct val="110000"/>
              </a:lnSpc>
              <a:spcBef>
                <a:spcPts val="2500"/>
              </a:spcBef>
              <a:buFont typeface="Arial" panose="020B0604020202020204" pitchFamily="34" charset="0"/>
              <a:buNone/>
            </a:pPr>
            <a:r>
              <a:rPr lang="en-US" b="1" dirty="0"/>
              <a:t>Focused Practice Areas</a:t>
            </a:r>
          </a:p>
          <a:p>
            <a:pPr marL="0" lvl="1" indent="0">
              <a:lnSpc>
                <a:spcPct val="110000"/>
              </a:lnSpc>
              <a:buFont typeface="Arial" panose="020B0604020202020204" pitchFamily="34" charset="0"/>
              <a:buNone/>
            </a:pPr>
            <a:r>
              <a:rPr dirty="0"/>
              <a:t>Candidates focus on tone, clarity, and body language to improve overall interview performance.</a:t>
            </a:r>
            <a:endParaRPr lang="en-US" dirty="0"/>
          </a:p>
          <a:p>
            <a:pPr marL="0" indent="0">
              <a:lnSpc>
                <a:spcPct val="110000"/>
              </a:lnSpc>
              <a:spcBef>
                <a:spcPts val="2500"/>
              </a:spcBef>
              <a:buFont typeface="Arial" panose="020B0604020202020204" pitchFamily="34" charset="0"/>
              <a:buNone/>
            </a:pPr>
            <a:r>
              <a:rPr lang="en-US" b="1" dirty="0"/>
              <a:t>Effective Peer Feedback</a:t>
            </a:r>
          </a:p>
          <a:p>
            <a:pPr marL="0" lvl="1" indent="0">
              <a:lnSpc>
                <a:spcPct val="110000"/>
              </a:lnSpc>
              <a:buFont typeface="Arial" panose="020B0604020202020204" pitchFamily="34" charset="0"/>
              <a:buNone/>
            </a:pPr>
            <a:r>
              <a:rPr dirty="0"/>
              <a:t>Peer feedback includes two positives and one suggestion to promote constructive learning.</a:t>
            </a:r>
            <a:endParaRPr lang="en-US" dirty="0"/>
          </a:p>
          <a:p>
            <a:pPr marL="0" indent="0">
              <a:lnSpc>
                <a:spcPct val="110000"/>
              </a:lnSpc>
              <a:spcBef>
                <a:spcPts val="2500"/>
              </a:spcBef>
              <a:buFont typeface="Arial" panose="020B0604020202020204" pitchFamily="34" charset="0"/>
              <a:buNone/>
            </a:pPr>
            <a:r>
              <a:rPr lang="en-US" b="1" dirty="0"/>
              <a:t>Simulating Real Interviews</a:t>
            </a:r>
          </a:p>
          <a:p>
            <a:pPr marL="0" lvl="1" indent="0">
              <a:lnSpc>
                <a:spcPct val="110000"/>
              </a:lnSpc>
              <a:buFont typeface="Arial" panose="020B0604020202020204" pitchFamily="34" charset="0"/>
              <a:buNone/>
            </a:pPr>
            <a:r>
              <a:rPr dirty="0"/>
              <a:t>Simulated real interview settings help identify improvement areas and prepare candidates effectively.</a:t>
            </a:r>
            <a:endParaRPr lang="en-US" dirty="0"/>
          </a:p>
        </p:txBody>
      </p:sp>
    </p:spTree>
    <p:extLst>
      <p:ext uri="{BB962C8B-B14F-4D97-AF65-F5344CB8AC3E}">
        <p14:creationId xmlns:p14="http://schemas.microsoft.com/office/powerpoint/2010/main" val="7710205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51707-8170-41DC-82AE-917D6D39898A}"/>
              </a:ext>
            </a:extLst>
          </p:cNvPr>
          <p:cNvSpPr>
            <a:spLocks noGrp="1"/>
          </p:cNvSpPr>
          <p:nvPr>
            <p:ph type="title"/>
          </p:nvPr>
        </p:nvSpPr>
        <p:spPr/>
        <p:txBody>
          <a:bodyPr/>
          <a:lstStyle/>
          <a:p>
            <a:r>
              <a:rPr lang="en-US" dirty="0" err="1"/>
              <a:t>ChatGPT</a:t>
            </a:r>
            <a:r>
              <a:rPr lang="en-US" dirty="0"/>
              <a:t> Interview Practice</a:t>
            </a:r>
          </a:p>
        </p:txBody>
      </p:sp>
      <p:pic>
        <p:nvPicPr>
          <p:cNvPr id="10" name="Picture Placeholder 9">
            <a:extLst>
              <a:ext uri="{FF2B5EF4-FFF2-40B4-BE49-F238E27FC236}">
                <a16:creationId xmlns:a16="http://schemas.microsoft.com/office/drawing/2014/main" id="{242AA261-62ED-4CB3-AFCA-1065837C4599}"/>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7109" r="7109"/>
          <a:stretch>
            <a:fillRect/>
          </a:stretch>
        </p:blipFill>
        <p:spPr>
          <a:xfrm>
            <a:off x="294290" y="199697"/>
            <a:ext cx="3493008" cy="6107204"/>
          </a:xfrm>
        </p:spPr>
      </p:pic>
      <p:sp>
        <p:nvSpPr>
          <p:cNvPr id="8" name="Content Placeholder 7">
            <a:extLst>
              <a:ext uri="{FF2B5EF4-FFF2-40B4-BE49-F238E27FC236}">
                <a16:creationId xmlns:a16="http://schemas.microsoft.com/office/drawing/2014/main" id="{7D65F3CB-2E63-43BF-B61D-99857DC4A420}"/>
              </a:ext>
            </a:extLst>
          </p:cNvPr>
          <p:cNvSpPr>
            <a:spLocks noGrp="1"/>
          </p:cNvSpPr>
          <p:nvPr>
            <p:ph sz="quarter" idx="14"/>
          </p:nvPr>
        </p:nvSpPr>
        <p:spPr>
          <a:xfrm>
            <a:off x="4163095" y="1418898"/>
            <a:ext cx="7305005" cy="5439102"/>
          </a:xfrm>
        </p:spPr>
        <p:txBody>
          <a:bodyPr>
            <a:normAutofit/>
          </a:bodyPr>
          <a:lstStyle/>
          <a:p>
            <a:r>
              <a:rPr lang="en-US" dirty="0"/>
              <a:t>Step 1: Choose a job you are interested in applying for.</a:t>
            </a:r>
          </a:p>
          <a:p>
            <a:r>
              <a:rPr lang="en-US" dirty="0"/>
              <a:t>Step 2: Open </a:t>
            </a:r>
            <a:r>
              <a:rPr lang="en-US" dirty="0" err="1"/>
              <a:t>ChatGPT</a:t>
            </a:r>
            <a:r>
              <a:rPr lang="en-US" dirty="0"/>
              <a:t>.</a:t>
            </a:r>
          </a:p>
          <a:p>
            <a:r>
              <a:rPr lang="en-US" dirty="0"/>
              <a:t>Step 3: Copy and paste the prompt below into </a:t>
            </a:r>
            <a:r>
              <a:rPr lang="en-US" dirty="0" err="1"/>
              <a:t>ChatGPT</a:t>
            </a:r>
            <a:r>
              <a:rPr lang="en-US" dirty="0"/>
              <a:t>.</a:t>
            </a:r>
          </a:p>
          <a:p>
            <a:r>
              <a:rPr lang="en-US" dirty="0"/>
              <a:t>You are an employer conducting a professional job interview. I am applying for an entry-level position that matches my skills and experience. Please conduct a mock job interview with me. Ask me one interview question at a time and wait for my response before asking the next question. Include common interview questions such as: Work experience, Strengths and skills, Problem-solving, Teamwork, Reliability and professionalism. After the interview is finished, provide clear and constructive feedback on my answers. Tell me: What I did well What I can improve? How I can make my answers stronger for a real interview? Keep the tone professional, supportive, and encouraging.</a:t>
            </a:r>
          </a:p>
          <a:p>
            <a:r>
              <a:rPr lang="en-US" dirty="0"/>
              <a:t>Step 4: Answer the interview questions as if this were a real interview.</a:t>
            </a:r>
          </a:p>
          <a:p>
            <a:r>
              <a:rPr lang="en-US" dirty="0"/>
              <a:t>Step 5: When finished, ask </a:t>
            </a:r>
            <a:r>
              <a:rPr lang="en-US" dirty="0" err="1"/>
              <a:t>ChatGPT</a:t>
            </a:r>
            <a:r>
              <a:rPr lang="en-US" dirty="0"/>
              <a:t> for feedback on your answers.</a:t>
            </a:r>
          </a:p>
          <a:p>
            <a:endParaRPr lang="en-US" dirty="0"/>
          </a:p>
        </p:txBody>
      </p:sp>
    </p:spTree>
    <p:extLst>
      <p:ext uri="{BB962C8B-B14F-4D97-AF65-F5344CB8AC3E}">
        <p14:creationId xmlns:p14="http://schemas.microsoft.com/office/powerpoint/2010/main" val="2269028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4DA94-AFBF-681C-B690-A588F1F15C55}"/>
              </a:ext>
            </a:extLst>
          </p:cNvPr>
          <p:cNvSpPr>
            <a:spLocks noGrp="1"/>
          </p:cNvSpPr>
          <p:nvPr>
            <p:ph type="title"/>
          </p:nvPr>
        </p:nvSpPr>
        <p:spPr>
          <a:xfrm>
            <a:off x="7223912" y="822960"/>
            <a:ext cx="4243345" cy="1089702"/>
          </a:xfrm>
        </p:spPr>
        <p:txBody>
          <a:bodyPr anchor="t">
            <a:normAutofit/>
          </a:bodyPr>
          <a:lstStyle/>
          <a:p>
            <a:r>
              <a:rPr lang="en-US"/>
              <a:t>Follow-Up Etiquette</a:t>
            </a:r>
          </a:p>
        </p:txBody>
      </p:sp>
      <p:sp>
        <p:nvSpPr>
          <p:cNvPr id="4" name="Content Placeholder 3">
            <a:extLst>
              <a:ext uri="{FF2B5EF4-FFF2-40B4-BE49-F238E27FC236}">
                <a16:creationId xmlns:a16="http://schemas.microsoft.com/office/drawing/2014/main" id="{74536582-B7D7-09F4-0E04-659AC0F194C2}"/>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7223069" y="1988820"/>
            <a:ext cx="4244188" cy="4111644"/>
          </a:xfrm>
        </p:spPr>
        <p:txBody>
          <a:bodyPr>
            <a:normAutofit/>
          </a:bodyPr>
          <a:lstStyle/>
          <a:p>
            <a:pPr marL="0" indent="0">
              <a:spcBef>
                <a:spcPts val="2500"/>
              </a:spcBef>
              <a:buFont typeface="Arial" panose="020B0604020202020204" pitchFamily="34" charset="0"/>
              <a:buNone/>
            </a:pPr>
            <a:r>
              <a:rPr lang="en-US" b="1"/>
              <a:t>Timely Thank-You Note</a:t>
            </a:r>
          </a:p>
          <a:p>
            <a:pPr marL="0" lvl="1" indent="0">
              <a:buFont typeface="Arial" panose="020B0604020202020204" pitchFamily="34" charset="0"/>
              <a:buNone/>
            </a:pPr>
            <a:r>
              <a:t>Send a personalized thank-you note within 24 hours to express gratitude and reinforce interest.</a:t>
            </a:r>
            <a:endParaRPr lang="en-US"/>
          </a:p>
          <a:p>
            <a:pPr marL="0" indent="0">
              <a:spcBef>
                <a:spcPts val="2500"/>
              </a:spcBef>
              <a:buFont typeface="Arial" panose="020B0604020202020204" pitchFamily="34" charset="0"/>
              <a:buNone/>
            </a:pPr>
            <a:r>
              <a:rPr lang="en-US" b="1"/>
              <a:t>Reflect on Interview</a:t>
            </a:r>
          </a:p>
          <a:p>
            <a:pPr marL="0" lvl="1" indent="0">
              <a:buFont typeface="Arial" panose="020B0604020202020204" pitchFamily="34" charset="0"/>
              <a:buNone/>
            </a:pPr>
            <a:r>
              <a:t>Review the interview to identify strengths and areas for improvement for future opportunities.</a:t>
            </a:r>
            <a:endParaRPr lang="en-US"/>
          </a:p>
          <a:p>
            <a:pPr marL="0" indent="0">
              <a:spcBef>
                <a:spcPts val="2500"/>
              </a:spcBef>
              <a:buFont typeface="Arial" panose="020B0604020202020204" pitchFamily="34" charset="0"/>
              <a:buNone/>
            </a:pPr>
            <a:r>
              <a:rPr lang="en-US" b="1"/>
              <a:t>Polite Follow-Up Call</a:t>
            </a:r>
          </a:p>
          <a:p>
            <a:pPr marL="0" lvl="1" indent="0">
              <a:buFont typeface="Arial" panose="020B0604020202020204" pitchFamily="34" charset="0"/>
              <a:buNone/>
            </a:pPr>
            <a:r>
              <a:t>If no response, make a courteous follow-up call after one week to inquire about the decision.</a:t>
            </a:r>
            <a:endParaRPr lang="en-US"/>
          </a:p>
        </p:txBody>
      </p:sp>
      <p:pic>
        <p:nvPicPr>
          <p:cNvPr id="8" name="Picture 7">
            <a:extLst>
              <a:ext uri="{FF2B5EF4-FFF2-40B4-BE49-F238E27FC236}">
                <a16:creationId xmlns:a16="http://schemas.microsoft.com/office/drawing/2014/main" id="{3C7FB246-870A-4575-A7F5-8395712EF8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476" y="822960"/>
            <a:ext cx="6350000" cy="4229100"/>
          </a:xfrm>
          <a:prstGeom prst="rect">
            <a:avLst/>
          </a:prstGeom>
        </p:spPr>
      </p:pic>
    </p:spTree>
    <p:extLst>
      <p:ext uri="{BB962C8B-B14F-4D97-AF65-F5344CB8AC3E}">
        <p14:creationId xmlns:p14="http://schemas.microsoft.com/office/powerpoint/2010/main" val="27668548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C27CF-15F4-4F8D-33D1-4FD543DCDA01}"/>
              </a:ext>
            </a:extLst>
          </p:cNvPr>
          <p:cNvSpPr>
            <a:spLocks noGrp="1"/>
          </p:cNvSpPr>
          <p:nvPr>
            <p:ph type="title"/>
          </p:nvPr>
        </p:nvSpPr>
        <p:spPr>
          <a:xfrm>
            <a:off x="4160520" y="822960"/>
            <a:ext cx="7305005" cy="972657"/>
          </a:xfrm>
        </p:spPr>
        <p:txBody>
          <a:bodyPr anchor="t">
            <a:normAutofit/>
          </a:bodyPr>
          <a:lstStyle/>
          <a:p>
            <a:r>
              <a:rPr lang="en-US"/>
              <a:t>Final Thoughts</a:t>
            </a:r>
          </a:p>
        </p:txBody>
      </p:sp>
      <p:pic>
        <p:nvPicPr>
          <p:cNvPr id="5" name="Content Placeholder 4" descr="Portrait of a young businessman standing in the city street">
            <a:extLst>
              <a:ext uri="{FF2B5EF4-FFF2-40B4-BE49-F238E27FC236}">
                <a16:creationId xmlns:a16="http://schemas.microsoft.com/office/drawing/2014/main" id="{584FB741-7D36-44F4-A796-FE6B592AEC9C}"/>
              </a:ext>
            </a:extLst>
          </p:cNvPr>
          <p:cNvPicPr>
            <a:picLocks noGrp="1" noChangeAspect="1"/>
          </p:cNvPicPr>
          <p:nvPr>
            <p:ph type="pic" sz="quarter" idx="15"/>
          </p:nvPr>
        </p:nvPicPr>
        <p:blipFill>
          <a:blip r:embed="rId3"/>
          <a:srcRect l="36912" r="24910" b="-2"/>
          <a:stretch>
            <a:fillRect/>
          </a:stretch>
        </p:blipFill>
        <p:spPr>
          <a:xfrm>
            <a:off x="20" y="10"/>
            <a:ext cx="3492988" cy="6107194"/>
          </a:xfrm>
          <a:prstGeom prst="rect">
            <a:avLst/>
          </a:prstGeom>
          <a:noFill/>
        </p:spPr>
      </p:pic>
      <p:sp>
        <p:nvSpPr>
          <p:cNvPr id="4" name="Content Placeholder 3">
            <a:extLst>
              <a:ext uri="{FF2B5EF4-FFF2-40B4-BE49-F238E27FC236}">
                <a16:creationId xmlns:a16="http://schemas.microsoft.com/office/drawing/2014/main" id="{D8FEE423-D4D5-ECCE-06AA-E6AA666711A3}"/>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4163095" y="1993392"/>
            <a:ext cx="7305005" cy="4120889"/>
          </a:xfrm>
        </p:spPr>
        <p:txBody>
          <a:bodyPr>
            <a:normAutofit/>
          </a:bodyPr>
          <a:lstStyle/>
          <a:p>
            <a:pPr marL="0" indent="0">
              <a:lnSpc>
                <a:spcPct val="110000"/>
              </a:lnSpc>
              <a:spcBef>
                <a:spcPts val="2500"/>
              </a:spcBef>
              <a:buFont typeface="Arial" panose="020B0604020202020204" pitchFamily="34" charset="0"/>
              <a:buNone/>
            </a:pPr>
            <a:r>
              <a:rPr lang="en-US" b="1"/>
              <a:t>Growth Through Interviews</a:t>
            </a:r>
          </a:p>
          <a:p>
            <a:pPr marL="0" lvl="1" indent="0">
              <a:lnSpc>
                <a:spcPct val="110000"/>
              </a:lnSpc>
              <a:buFont typeface="Arial" panose="020B0604020202020204" pitchFamily="34" charset="0"/>
              <a:buNone/>
            </a:pPr>
            <a:r>
              <a:t>Interviews offer valuable opportunities for personal growth and effective self-presentation.</a:t>
            </a:r>
            <a:endParaRPr lang="en-US"/>
          </a:p>
          <a:p>
            <a:pPr marL="0" indent="0">
              <a:lnSpc>
                <a:spcPct val="110000"/>
              </a:lnSpc>
              <a:spcBef>
                <a:spcPts val="2500"/>
              </a:spcBef>
              <a:buFont typeface="Arial" panose="020B0604020202020204" pitchFamily="34" charset="0"/>
              <a:buNone/>
            </a:pPr>
            <a:r>
              <a:rPr lang="en-US" b="1"/>
              <a:t>Preparation Builds Confidence</a:t>
            </a:r>
          </a:p>
          <a:p>
            <a:pPr marL="0" lvl="1" indent="0">
              <a:lnSpc>
                <a:spcPct val="110000"/>
              </a:lnSpc>
              <a:buFont typeface="Arial" panose="020B0604020202020204" pitchFamily="34" charset="0"/>
              <a:buNone/>
            </a:pPr>
            <a:r>
              <a:t>Thorough preparation and consistent practice significantly boost confidence and competence.</a:t>
            </a:r>
            <a:endParaRPr lang="en-US"/>
          </a:p>
          <a:p>
            <a:pPr marL="0" indent="0">
              <a:lnSpc>
                <a:spcPct val="110000"/>
              </a:lnSpc>
              <a:spcBef>
                <a:spcPts val="2500"/>
              </a:spcBef>
              <a:buFont typeface="Arial" panose="020B0604020202020204" pitchFamily="34" charset="0"/>
              <a:buNone/>
            </a:pPr>
            <a:r>
              <a:rPr lang="en-US" b="1"/>
              <a:t>Positive and Persistent Mindset</a:t>
            </a:r>
          </a:p>
          <a:p>
            <a:pPr marL="0" lvl="1" indent="0">
              <a:lnSpc>
                <a:spcPct val="110000"/>
              </a:lnSpc>
              <a:buFont typeface="Arial" panose="020B0604020202020204" pitchFamily="34" charset="0"/>
              <a:buNone/>
            </a:pPr>
            <a:r>
              <a:t>Maintaining positivity, persistence, and openness to learning enhances interview success.</a:t>
            </a:r>
            <a:endParaRPr lang="en-US"/>
          </a:p>
          <a:p>
            <a:pPr marL="0" indent="0">
              <a:lnSpc>
                <a:spcPct val="110000"/>
              </a:lnSpc>
              <a:spcBef>
                <a:spcPts val="2500"/>
              </a:spcBef>
              <a:buFont typeface="Arial" panose="020B0604020202020204" pitchFamily="34" charset="0"/>
              <a:buNone/>
            </a:pPr>
            <a:r>
              <a:rPr lang="en-US" b="1"/>
              <a:t>Interviews as Developable Skills</a:t>
            </a:r>
          </a:p>
          <a:p>
            <a:pPr marL="0" lvl="1" indent="0">
              <a:lnSpc>
                <a:spcPct val="110000"/>
              </a:lnSpc>
              <a:buFont typeface="Arial" panose="020B0604020202020204" pitchFamily="34" charset="0"/>
              <a:buNone/>
            </a:pPr>
            <a:r>
              <a:t>Viewing interviews as skills to develop empowers candidates to engage with enthusiasm.</a:t>
            </a:r>
            <a:endParaRPr lang="en-US"/>
          </a:p>
        </p:txBody>
      </p:sp>
    </p:spTree>
    <p:extLst>
      <p:ext uri="{BB962C8B-B14F-4D97-AF65-F5344CB8AC3E}">
        <p14:creationId xmlns:p14="http://schemas.microsoft.com/office/powerpoint/2010/main" val="37593127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9E0C342-8465-4BC7-8BC2-109769D15545}">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0A8AE46-CCEC-4D32-B819-DE8E9574F91C}">
  <ds:schemaRefs>
    <ds:schemaRef ds:uri="http://schemas.microsoft.com/sharepoint/v3/contenttype/forms"/>
  </ds:schemaRefs>
</ds:datastoreItem>
</file>

<file path=customXml/itemProps3.xml><?xml version="1.0" encoding="utf-8"?>
<ds:datastoreItem xmlns:ds="http://schemas.openxmlformats.org/officeDocument/2006/customXml" ds:itemID="{BC9BDB02-468F-47C2-99BC-A44747A5A2D2}">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Ion</Template>
  <TotalTime>325</TotalTime>
  <Words>3588</Words>
  <Application>Microsoft Office PowerPoint</Application>
  <PresentationFormat>Widescreen</PresentationFormat>
  <Paragraphs>228</Paragraphs>
  <Slides>28</Slides>
  <Notes>25</Notes>
  <HiddenSlides>0</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Cambria</vt:lpstr>
      <vt:lpstr>Impact</vt:lpstr>
      <vt:lpstr>Neue Haas Grotesk Text Pro</vt:lpstr>
      <vt:lpstr>Roboto</vt:lpstr>
      <vt:lpstr>Wingdings</vt:lpstr>
      <vt:lpstr>Oasis</vt:lpstr>
      <vt:lpstr>Interview Skills for Employment Success</vt:lpstr>
      <vt:lpstr>Warm-Up Activity: SELL AN OBJECT</vt:lpstr>
      <vt:lpstr>Understanding Interviews</vt:lpstr>
      <vt:lpstr>What is an Interview?</vt:lpstr>
      <vt:lpstr>Interviewing is a Skill</vt:lpstr>
      <vt:lpstr>The Interview Process</vt:lpstr>
      <vt:lpstr>Preparing for Interviews</vt:lpstr>
      <vt:lpstr>Preparation Tips</vt:lpstr>
      <vt:lpstr>Researching the Employer</vt:lpstr>
      <vt:lpstr>Professional Presentation</vt:lpstr>
      <vt:lpstr>Dress for Success</vt:lpstr>
      <vt:lpstr>DRESS FOR SUCCESS VIDEO</vt:lpstr>
      <vt:lpstr>Body Language Matters</vt:lpstr>
      <vt:lpstr>Body Language Tips</vt:lpstr>
      <vt:lpstr>Basic Interview Tips</vt:lpstr>
      <vt:lpstr>Interview Techniques</vt:lpstr>
      <vt:lpstr>Answering Questions: STAR Method</vt:lpstr>
      <vt:lpstr>EXAMPLE OF AN EXCELLENT ANSWER</vt:lpstr>
      <vt:lpstr>EXAMPLE OF AN EXCELLENT ANSWER</vt:lpstr>
      <vt:lpstr>Presentation Activity: STAR Method Practice</vt:lpstr>
      <vt:lpstr>Questions to Ask Employers</vt:lpstr>
      <vt:lpstr>Sample Questions to Ask</vt:lpstr>
      <vt:lpstr>During and Ending the Interview</vt:lpstr>
      <vt:lpstr>Practice and Follow-Up</vt:lpstr>
      <vt:lpstr>Mock Interview Practice</vt:lpstr>
      <vt:lpstr>ChatGPT Interview Practice</vt:lpstr>
      <vt:lpstr>Follow-Up Etiquette</vt:lpstr>
      <vt:lpstr>Final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Interview Skills for Employment Success</dc:title>
  <dc:creator>Instructor</dc:creator>
  <cp:lastModifiedBy>Jarred Cantrell</cp:lastModifiedBy>
  <cp:revision>24</cp:revision>
  <dcterms:created xsi:type="dcterms:W3CDTF">2025-08-21T23:18:14Z</dcterms:created>
  <dcterms:modified xsi:type="dcterms:W3CDTF">2026-01-29T15:25:48Z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460f4a70-4b6c-4bd4-a002-31edb9c00abe_Enabled">
    <vt:lpwstr>true</vt:lpwstr>
  </property>
  <property fmtid="{D5CDD505-2E9C-101B-9397-08002B2CF9AE}" pid="5" name="MSIP_Label_460f4a70-4b6c-4bd4-a002-31edb9c00abe_SetDate">
    <vt:lpwstr>2025-10-21T12:50:34Z</vt:lpwstr>
  </property>
  <property fmtid="{D5CDD505-2E9C-101B-9397-08002B2CF9AE}" pid="6" name="MSIP_Label_460f4a70-4b6c-4bd4-a002-31edb9c00abe_Method">
    <vt:lpwstr>Standard</vt:lpwstr>
  </property>
  <property fmtid="{D5CDD505-2E9C-101B-9397-08002B2CF9AE}" pid="7" name="MSIP_Label_460f4a70-4b6c-4bd4-a002-31edb9c00abe_Name">
    <vt:lpwstr>General</vt:lpwstr>
  </property>
  <property fmtid="{D5CDD505-2E9C-101B-9397-08002B2CF9AE}" pid="8" name="MSIP_Label_460f4a70-4b6c-4bd4-a002-31edb9c00abe_SiteId">
    <vt:lpwstr>e019b04b-330c-467a-8bae-09fb17374d6a</vt:lpwstr>
  </property>
  <property fmtid="{D5CDD505-2E9C-101B-9397-08002B2CF9AE}" pid="9" name="MSIP_Label_460f4a70-4b6c-4bd4-a002-31edb9c00abe_ActionId">
    <vt:lpwstr>d9175074-1c27-4046-80b3-b3ec3bc2e531</vt:lpwstr>
  </property>
  <property fmtid="{D5CDD505-2E9C-101B-9397-08002B2CF9AE}" pid="10" name="MSIP_Label_460f4a70-4b6c-4bd4-a002-31edb9c00abe_ContentBits">
    <vt:lpwstr>0</vt:lpwstr>
  </property>
  <property fmtid="{D5CDD505-2E9C-101B-9397-08002B2CF9AE}" pid="11" name="MSIP_Label_460f4a70-4b6c-4bd4-a002-31edb9c00abe_Tag">
    <vt:lpwstr>10, 3, 0, 2</vt:lpwstr>
  </property>
</Properties>
</file>