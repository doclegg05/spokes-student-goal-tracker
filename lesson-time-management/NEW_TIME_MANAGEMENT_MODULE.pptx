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72" r:id="rId6"/>
    <p:sldId id="261" r:id="rId7"/>
    <p:sldId id="264" r:id="rId8"/>
    <p:sldId id="262" r:id="rId9"/>
    <p:sldId id="275" r:id="rId10"/>
    <p:sldId id="263" r:id="rId11"/>
    <p:sldId id="273" r:id="rId12"/>
    <p:sldId id="274" r:id="rId13"/>
    <p:sldId id="265" r:id="rId14"/>
    <p:sldId id="266" r:id="rId15"/>
    <p:sldId id="267" r:id="rId16"/>
    <p:sldId id="268" r:id="rId17"/>
    <p:sldId id="269" r:id="rId18"/>
    <p:sldId id="270" r:id="rId19"/>
    <p:sldId id="27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4190" autoAdjust="0"/>
  </p:normalViewPr>
  <p:slideViewPr>
    <p:cSldViewPr snapToGrid="0">
      <p:cViewPr varScale="1">
        <p:scale>
          <a:sx n="95" d="100"/>
          <a:sy n="95" d="100"/>
        </p:scale>
        <p:origin x="468" y="84"/>
      </p:cViewPr>
      <p:guideLst/>
    </p:cSldViewPr>
  </p:slideViewPr>
  <p:notesTextViewPr>
    <p:cViewPr>
      <p:scale>
        <a:sx n="1" d="1"/>
        <a:sy n="1" d="1"/>
      </p:scale>
      <p:origin x="0" y="0"/>
    </p:cViewPr>
  </p:notesText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535701-F8CD-4587-8382-2070DD1DE067}" type="datetimeFigureOut">
              <a:rPr lang="en-US" smtClean="0"/>
              <a:t>2/10/2026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295921-EC74-4341-B75C-65C56D1756C6}" type="slidenum">
              <a:rPr lang="en-US" smtClean="0"/>
              <a:t>‹#›</a:t>
            </a:fld>
            <a:endParaRPr lang="en-US"/>
          </a:p>
        </p:txBody>
      </p:sp>
    </p:spTree>
    <p:extLst>
      <p:ext uri="{BB962C8B-B14F-4D97-AF65-F5344CB8AC3E}">
        <p14:creationId xmlns:p14="http://schemas.microsoft.com/office/powerpoint/2010/main" val="1560202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psychologytoday.com/us/tests/career/time-management-skills-test"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youtu.be/sB5n6wnT61w"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Print and/or review the rubric with the learners. The rubric outlines what areas/objectives learners will cover.</a:t>
            </a:r>
            <a:endParaRPr lang="en-US" dirty="0"/>
          </a:p>
          <a:p>
            <a:endParaRPr lang="en-US" dirty="0"/>
          </a:p>
        </p:txBody>
      </p:sp>
      <p:sp>
        <p:nvSpPr>
          <p:cNvPr id="4" name="Slide Number Placeholder 3"/>
          <p:cNvSpPr>
            <a:spLocks noGrp="1"/>
          </p:cNvSpPr>
          <p:nvPr>
            <p:ph type="sldNum" sz="quarter" idx="5"/>
          </p:nvPr>
        </p:nvSpPr>
        <p:spPr/>
        <p:txBody>
          <a:bodyPr/>
          <a:lstStyle/>
          <a:p>
            <a:fld id="{51295921-EC74-4341-B75C-65C56D1756C6}" type="slidenum">
              <a:rPr lang="en-US" smtClean="0"/>
              <a:t>1</a:t>
            </a:fld>
            <a:endParaRPr lang="en-US"/>
          </a:p>
        </p:txBody>
      </p:sp>
    </p:spTree>
    <p:extLst>
      <p:ext uri="{BB962C8B-B14F-4D97-AF65-F5344CB8AC3E}">
        <p14:creationId xmlns:p14="http://schemas.microsoft.com/office/powerpoint/2010/main" val="42685048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1 (Printable):  Give each student a copy of the Time Management Self-Assessment Worksheet to reflect on strengths &amp; weaknesses in their current time management.</a:t>
            </a:r>
          </a:p>
          <a:p>
            <a:endParaRPr lang="en-US" dirty="0"/>
          </a:p>
          <a:p>
            <a:r>
              <a:rPr lang="en-US" dirty="0"/>
              <a:t>Option 2 (Virtual):  Click on the link to take the "How Good is Your Time Management“ online test.  Have learners use the "calculate my total" button and then read their results taking note of their strengths and weaknesses as each relates to different areas of time management. The five stars next to each area rate how well they did on those time management areas. Encourage learners to share what they found their strengths and weaknesses were as identified by the self-assessment. </a:t>
            </a:r>
          </a:p>
          <a:p>
            <a:r>
              <a:rPr lang="en-US" dirty="0"/>
              <a:t>*</a:t>
            </a:r>
            <a:r>
              <a:rPr lang="en-US" b="1" dirty="0"/>
              <a:t>Note - </a:t>
            </a:r>
            <a:r>
              <a:rPr lang="en-US" dirty="0"/>
              <a:t>they do not need to log-in to see their results, they can click "no thanks, close this window" at the bottom of the pop-up window to see results.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Self-Test:  </a:t>
            </a:r>
            <a:r>
              <a:rPr lang="en-US" i="1" dirty="0">
                <a:hlinkClick r:id="rId3" tooltip="Psychology Today Time Management Self-Assessment"/>
              </a:rPr>
              <a:t>https://www.psychologytoday.com/us/tests/career/time-management-skills-test</a:t>
            </a:r>
            <a:endParaRPr lang="en-US" i="1" dirty="0"/>
          </a:p>
          <a:p>
            <a:endParaRPr lang="en-US" dirty="0"/>
          </a:p>
          <a:p>
            <a:endParaRPr lang="en-US" dirty="0"/>
          </a:p>
        </p:txBody>
      </p:sp>
      <p:sp>
        <p:nvSpPr>
          <p:cNvPr id="4" name="Slide Number Placeholder 3"/>
          <p:cNvSpPr>
            <a:spLocks noGrp="1"/>
          </p:cNvSpPr>
          <p:nvPr>
            <p:ph type="sldNum" sz="quarter" idx="5"/>
          </p:nvPr>
        </p:nvSpPr>
        <p:spPr/>
        <p:txBody>
          <a:bodyPr/>
          <a:lstStyle/>
          <a:p>
            <a:fld id="{51295921-EC74-4341-B75C-65C56D1756C6}" type="slidenum">
              <a:rPr lang="en-US" smtClean="0"/>
              <a:t>2</a:t>
            </a:fld>
            <a:endParaRPr lang="en-US"/>
          </a:p>
        </p:txBody>
      </p:sp>
    </p:spTree>
    <p:extLst>
      <p:ext uri="{BB962C8B-B14F-4D97-AF65-F5344CB8AC3E}">
        <p14:creationId xmlns:p14="http://schemas.microsoft.com/office/powerpoint/2010/main" val="36511373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Set the purpose for the lesson</a:t>
            </a:r>
            <a:r>
              <a:rPr lang="en-US" dirty="0">
                <a:solidFill>
                  <a:srgbClr val="0070C0"/>
                </a:solidFill>
              </a:rPr>
              <a:t>. Time is a resource distributed equally to all people. You will be introduced to the idea that time is a resource to be utilized wisely. You will understand the importance of time in setting goals. The goal of this module is to motivate learners to accomplish day-to-day tasks, using their time wisely, to achieve their long-range goals. At the conclusion of this module, you will understand time management and its importance at home and on the job. You will be able to identify uncontrollable events in their lives and develop coping strategies to deal with those events effectively and efficiently. You will be able to distinguish between urgent and important events and develop strategies to deal with each type of event.</a:t>
            </a:r>
          </a:p>
          <a:p>
            <a:endParaRPr lang="en-US" dirty="0"/>
          </a:p>
        </p:txBody>
      </p:sp>
      <p:sp>
        <p:nvSpPr>
          <p:cNvPr id="4" name="Slide Number Placeholder 3"/>
          <p:cNvSpPr>
            <a:spLocks noGrp="1"/>
          </p:cNvSpPr>
          <p:nvPr>
            <p:ph type="sldNum" sz="quarter" idx="5"/>
          </p:nvPr>
        </p:nvSpPr>
        <p:spPr/>
        <p:txBody>
          <a:bodyPr/>
          <a:lstStyle/>
          <a:p>
            <a:fld id="{51295921-EC74-4341-B75C-65C56D1756C6}" type="slidenum">
              <a:rPr lang="en-US" smtClean="0"/>
              <a:t>3</a:t>
            </a:fld>
            <a:endParaRPr lang="en-US"/>
          </a:p>
        </p:txBody>
      </p:sp>
    </p:spTree>
    <p:extLst>
      <p:ext uri="{BB962C8B-B14F-4D97-AF65-F5344CB8AC3E}">
        <p14:creationId xmlns:p14="http://schemas.microsoft.com/office/powerpoint/2010/main" val="22966725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how to identify our personal priorities.</a:t>
            </a:r>
          </a:p>
        </p:txBody>
      </p:sp>
      <p:sp>
        <p:nvSpPr>
          <p:cNvPr id="4" name="Slide Number Placeholder 3"/>
          <p:cNvSpPr>
            <a:spLocks noGrp="1"/>
          </p:cNvSpPr>
          <p:nvPr>
            <p:ph type="sldNum" sz="quarter" idx="5"/>
          </p:nvPr>
        </p:nvSpPr>
        <p:spPr/>
        <p:txBody>
          <a:bodyPr/>
          <a:lstStyle/>
          <a:p>
            <a:fld id="{51295921-EC74-4341-B75C-65C56D1756C6}" type="slidenum">
              <a:rPr lang="en-US" smtClean="0"/>
              <a:t>4</a:t>
            </a:fld>
            <a:endParaRPr lang="en-US"/>
          </a:p>
        </p:txBody>
      </p:sp>
    </p:spTree>
    <p:extLst>
      <p:ext uri="{BB962C8B-B14F-4D97-AF65-F5344CB8AC3E}">
        <p14:creationId xmlns:p14="http://schemas.microsoft.com/office/powerpoint/2010/main" val="1903947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Watch the video: </a:t>
            </a:r>
            <a:r>
              <a:rPr lang="en-US" sz="2800" dirty="0"/>
              <a:t>https://www.youtube.com/watch?v=AtoVhZOWQZU</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(Alternatively, learners could read </a:t>
            </a:r>
            <a:r>
              <a:rPr lang="en-US" b="1" dirty="0"/>
              <a:t>The Big Rocks of Time</a:t>
            </a:r>
            <a:r>
              <a:rPr lang="en-US" dirty="0"/>
              <a:t> handout or Instructors could get the materials needed – rocks, gravel, sand, jar - and do the demonstration themselves).</a:t>
            </a:r>
          </a:p>
          <a:p>
            <a:endParaRPr lang="en-US" dirty="0"/>
          </a:p>
          <a:p>
            <a:r>
              <a:rPr lang="en-US" dirty="0"/>
              <a:t>Distribute “Big Rocks Time Management Worksheet” for learners to identify their own “big rocks, marbles, sand, and water”.</a:t>
            </a:r>
            <a:endParaRPr lang="en-US" dirty="0">
              <a:solidFill>
                <a:srgbClr val="0070C0"/>
              </a:solidFill>
            </a:endParaRPr>
          </a:p>
          <a:p>
            <a:endParaRPr lang="en-US" dirty="0"/>
          </a:p>
        </p:txBody>
      </p:sp>
      <p:sp>
        <p:nvSpPr>
          <p:cNvPr id="4" name="Slide Number Placeholder 3"/>
          <p:cNvSpPr>
            <a:spLocks noGrp="1"/>
          </p:cNvSpPr>
          <p:nvPr>
            <p:ph type="sldNum" sz="quarter" idx="5"/>
          </p:nvPr>
        </p:nvSpPr>
        <p:spPr/>
        <p:txBody>
          <a:bodyPr/>
          <a:lstStyle/>
          <a:p>
            <a:fld id="{51295921-EC74-4341-B75C-65C56D1756C6}" type="slidenum">
              <a:rPr lang="en-US" smtClean="0"/>
              <a:t>5</a:t>
            </a:fld>
            <a:endParaRPr lang="en-US"/>
          </a:p>
        </p:txBody>
      </p:sp>
    </p:spTree>
    <p:extLst>
      <p:ext uri="{BB962C8B-B14F-4D97-AF65-F5344CB8AC3E}">
        <p14:creationId xmlns:p14="http://schemas.microsoft.com/office/powerpoint/2010/main" val="22049082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what follows after identifying priorities.</a:t>
            </a:r>
          </a:p>
        </p:txBody>
      </p:sp>
      <p:sp>
        <p:nvSpPr>
          <p:cNvPr id="4" name="Slide Number Placeholder 3"/>
          <p:cNvSpPr>
            <a:spLocks noGrp="1"/>
          </p:cNvSpPr>
          <p:nvPr>
            <p:ph type="sldNum" sz="quarter" idx="5"/>
          </p:nvPr>
        </p:nvSpPr>
        <p:spPr/>
        <p:txBody>
          <a:bodyPr/>
          <a:lstStyle/>
          <a:p>
            <a:fld id="{51295921-EC74-4341-B75C-65C56D1756C6}" type="slidenum">
              <a:rPr lang="en-US" smtClean="0"/>
              <a:t>6</a:t>
            </a:fld>
            <a:endParaRPr lang="en-US"/>
          </a:p>
        </p:txBody>
      </p:sp>
    </p:spTree>
    <p:extLst>
      <p:ext uri="{BB962C8B-B14F-4D97-AF65-F5344CB8AC3E}">
        <p14:creationId xmlns:p14="http://schemas.microsoft.com/office/powerpoint/2010/main" val="12919728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Review SMART Goal principles.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SMART Goal-setting directly relates to effective time management &amp; setting priorities.</a:t>
            </a:r>
          </a:p>
          <a:p>
            <a:endParaRPr lang="en-US" dirty="0"/>
          </a:p>
        </p:txBody>
      </p:sp>
      <p:sp>
        <p:nvSpPr>
          <p:cNvPr id="4" name="Slide Number Placeholder 3"/>
          <p:cNvSpPr>
            <a:spLocks noGrp="1"/>
          </p:cNvSpPr>
          <p:nvPr>
            <p:ph type="sldNum" sz="quarter" idx="5"/>
          </p:nvPr>
        </p:nvSpPr>
        <p:spPr/>
        <p:txBody>
          <a:bodyPr/>
          <a:lstStyle/>
          <a:p>
            <a:fld id="{51295921-EC74-4341-B75C-65C56D1756C6}" type="slidenum">
              <a:rPr lang="en-US" smtClean="0"/>
              <a:t>7</a:t>
            </a:fld>
            <a:endParaRPr lang="en-US"/>
          </a:p>
        </p:txBody>
      </p:sp>
    </p:spTree>
    <p:extLst>
      <p:ext uri="{BB962C8B-B14F-4D97-AF65-F5344CB8AC3E}">
        <p14:creationId xmlns:p14="http://schemas.microsoft.com/office/powerpoint/2010/main" val="12075125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Distribute a copy of the Get Your Priorities Straight </a:t>
            </a:r>
            <a:r>
              <a:rPr lang="en-US" dirty="0" err="1"/>
              <a:t>FlowChart</a:t>
            </a:r>
            <a:r>
              <a:rPr lang="en-US" dirty="0"/>
              <a:t> to learners.  It can be modified or customized for practical daily or weekly use.</a:t>
            </a:r>
          </a:p>
          <a:p>
            <a:endParaRPr lang="en-US" dirty="0"/>
          </a:p>
        </p:txBody>
      </p:sp>
      <p:sp>
        <p:nvSpPr>
          <p:cNvPr id="4" name="Slide Number Placeholder 3"/>
          <p:cNvSpPr>
            <a:spLocks noGrp="1"/>
          </p:cNvSpPr>
          <p:nvPr>
            <p:ph type="sldNum" sz="quarter" idx="5"/>
          </p:nvPr>
        </p:nvSpPr>
        <p:spPr/>
        <p:txBody>
          <a:bodyPr/>
          <a:lstStyle/>
          <a:p>
            <a:fld id="{51295921-EC74-4341-B75C-65C56D1756C6}" type="slidenum">
              <a:rPr lang="en-US" smtClean="0"/>
              <a:t>8</a:t>
            </a:fld>
            <a:endParaRPr lang="en-US"/>
          </a:p>
        </p:txBody>
      </p:sp>
    </p:spTree>
    <p:extLst>
      <p:ext uri="{BB962C8B-B14F-4D97-AF65-F5344CB8AC3E}">
        <p14:creationId xmlns:p14="http://schemas.microsoft.com/office/powerpoint/2010/main" val="41656760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dirty="0">
                <a:solidFill>
                  <a:srgbClr val="25221E"/>
                </a:solidFill>
                <a:effectLst/>
                <a:latin typeface="Inter"/>
              </a:rPr>
              <a:t>Try the Eisenhower Matrix if you...</a:t>
            </a:r>
          </a:p>
          <a:p>
            <a:pPr algn="l" fontAlgn="base">
              <a:buFont typeface="Arial" panose="020B0604020202020204" pitchFamily="34" charset="0"/>
              <a:buChar char="•"/>
            </a:pPr>
            <a:r>
              <a:rPr lang="en-US" b="0" i="0" dirty="0">
                <a:solidFill>
                  <a:srgbClr val="25221E"/>
                </a:solidFill>
                <a:effectLst/>
                <a:latin typeface="Inter"/>
              </a:rPr>
              <a:t>Find yourself running around putting out fires all day.</a:t>
            </a:r>
          </a:p>
          <a:p>
            <a:pPr algn="l" fontAlgn="base">
              <a:buFont typeface="Arial" panose="020B0604020202020204" pitchFamily="34" charset="0"/>
              <a:buChar char="•"/>
            </a:pPr>
            <a:r>
              <a:rPr lang="en-US" b="0" i="0" dirty="0">
                <a:solidFill>
                  <a:srgbClr val="25221E"/>
                </a:solidFill>
                <a:effectLst/>
                <a:latin typeface="Inter"/>
              </a:rPr>
              <a:t>Are busy, but don’t feel like your work has a high impact.</a:t>
            </a:r>
          </a:p>
          <a:p>
            <a:pPr algn="l" fontAlgn="base">
              <a:buFont typeface="Arial" panose="020B0604020202020204" pitchFamily="34" charset="0"/>
              <a:buChar char="•"/>
            </a:pPr>
            <a:r>
              <a:rPr lang="en-US" b="0" i="0" dirty="0">
                <a:solidFill>
                  <a:srgbClr val="25221E"/>
                </a:solidFill>
                <a:effectLst/>
                <a:latin typeface="Inter"/>
              </a:rPr>
              <a:t>Have long-term goals but no time or energy to make progress on them.</a:t>
            </a:r>
          </a:p>
          <a:p>
            <a:pPr algn="l" fontAlgn="base">
              <a:buFont typeface="Arial" panose="020B0604020202020204" pitchFamily="34" charset="0"/>
              <a:buChar char="•"/>
            </a:pPr>
            <a:r>
              <a:rPr lang="en-US" b="0" i="0" dirty="0">
                <a:solidFill>
                  <a:srgbClr val="25221E"/>
                </a:solidFill>
                <a:effectLst/>
                <a:latin typeface="Inter"/>
              </a:rPr>
              <a:t>Have a hard time delegating and/or saying no.</a:t>
            </a:r>
          </a:p>
          <a:p>
            <a:pPr algn="l" fontAlgn="base">
              <a:buFont typeface="Arial" panose="020B0604020202020204" pitchFamily="34" charset="0"/>
              <a:buChar char="•"/>
            </a:pPr>
            <a:r>
              <a:rPr lang="en-US" b="0" i="0" dirty="0">
                <a:solidFill>
                  <a:srgbClr val="25221E"/>
                </a:solidFill>
                <a:effectLst/>
                <a:latin typeface="Inter"/>
              </a:rPr>
              <a:t>Want to be the president of the United States (hey, it worked for Eisenhower!)</a:t>
            </a:r>
          </a:p>
          <a:p>
            <a:endParaRPr lang="en-US" dirty="0"/>
          </a:p>
        </p:txBody>
      </p:sp>
      <p:sp>
        <p:nvSpPr>
          <p:cNvPr id="4" name="Slide Number Placeholder 3"/>
          <p:cNvSpPr>
            <a:spLocks noGrp="1"/>
          </p:cNvSpPr>
          <p:nvPr>
            <p:ph type="sldNum" sz="quarter" idx="5"/>
          </p:nvPr>
        </p:nvSpPr>
        <p:spPr/>
        <p:txBody>
          <a:bodyPr/>
          <a:lstStyle/>
          <a:p>
            <a:fld id="{51295921-EC74-4341-B75C-65C56D1756C6}" type="slidenum">
              <a:rPr lang="en-US" smtClean="0"/>
              <a:t>9</a:t>
            </a:fld>
            <a:endParaRPr lang="en-US"/>
          </a:p>
        </p:txBody>
      </p:sp>
    </p:spTree>
    <p:extLst>
      <p:ext uri="{BB962C8B-B14F-4D97-AF65-F5344CB8AC3E}">
        <p14:creationId xmlns:p14="http://schemas.microsoft.com/office/powerpoint/2010/main" val="16911430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Daily &amp; Weekly Planner are included as supplemental printable material with this lesson for students to try.</a:t>
            </a:r>
          </a:p>
          <a:p>
            <a:endParaRPr lang="en-US" dirty="0"/>
          </a:p>
        </p:txBody>
      </p:sp>
      <p:sp>
        <p:nvSpPr>
          <p:cNvPr id="4" name="Slide Number Placeholder 3"/>
          <p:cNvSpPr>
            <a:spLocks noGrp="1"/>
          </p:cNvSpPr>
          <p:nvPr>
            <p:ph type="sldNum" sz="quarter" idx="5"/>
          </p:nvPr>
        </p:nvSpPr>
        <p:spPr/>
        <p:txBody>
          <a:bodyPr/>
          <a:lstStyle/>
          <a:p>
            <a:fld id="{51295921-EC74-4341-B75C-65C56D1756C6}" type="slidenum">
              <a:rPr lang="en-US" smtClean="0"/>
              <a:t>10</a:t>
            </a:fld>
            <a:endParaRPr lang="en-US"/>
          </a:p>
        </p:txBody>
      </p:sp>
    </p:spTree>
    <p:extLst>
      <p:ext uri="{BB962C8B-B14F-4D97-AF65-F5344CB8AC3E}">
        <p14:creationId xmlns:p14="http://schemas.microsoft.com/office/powerpoint/2010/main" val="37702615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Creating family to-do lists and delegating age-appropriate chores to children can help create more quality time for everyone.</a:t>
            </a:r>
          </a:p>
          <a:p>
            <a:endParaRPr lang="en-US" dirty="0"/>
          </a:p>
        </p:txBody>
      </p:sp>
      <p:sp>
        <p:nvSpPr>
          <p:cNvPr id="4" name="Slide Number Placeholder 3"/>
          <p:cNvSpPr>
            <a:spLocks noGrp="1"/>
          </p:cNvSpPr>
          <p:nvPr>
            <p:ph type="sldNum" sz="quarter" idx="5"/>
          </p:nvPr>
        </p:nvSpPr>
        <p:spPr/>
        <p:txBody>
          <a:bodyPr/>
          <a:lstStyle/>
          <a:p>
            <a:fld id="{51295921-EC74-4341-B75C-65C56D1756C6}" type="slidenum">
              <a:rPr lang="en-US" smtClean="0"/>
              <a:t>11</a:t>
            </a:fld>
            <a:endParaRPr lang="en-US"/>
          </a:p>
        </p:txBody>
      </p:sp>
    </p:spTree>
    <p:extLst>
      <p:ext uri="{BB962C8B-B14F-4D97-AF65-F5344CB8AC3E}">
        <p14:creationId xmlns:p14="http://schemas.microsoft.com/office/powerpoint/2010/main" val="39860577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Highlight common challenges to effective time management.</a:t>
            </a:r>
          </a:p>
          <a:p>
            <a:endParaRPr lang="en-US" dirty="0"/>
          </a:p>
        </p:txBody>
      </p:sp>
      <p:sp>
        <p:nvSpPr>
          <p:cNvPr id="4" name="Slide Number Placeholder 3"/>
          <p:cNvSpPr>
            <a:spLocks noGrp="1"/>
          </p:cNvSpPr>
          <p:nvPr>
            <p:ph type="sldNum" sz="quarter" idx="5"/>
          </p:nvPr>
        </p:nvSpPr>
        <p:spPr/>
        <p:txBody>
          <a:bodyPr/>
          <a:lstStyle/>
          <a:p>
            <a:fld id="{51295921-EC74-4341-B75C-65C56D1756C6}" type="slidenum">
              <a:rPr lang="en-US" smtClean="0"/>
              <a:t>12</a:t>
            </a:fld>
            <a:endParaRPr lang="en-US"/>
          </a:p>
        </p:txBody>
      </p:sp>
    </p:spTree>
    <p:extLst>
      <p:ext uri="{BB962C8B-B14F-4D97-AF65-F5344CB8AC3E}">
        <p14:creationId xmlns:p14="http://schemas.microsoft.com/office/powerpoint/2010/main" val="19870348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Failing to manage distractions.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Group Activity:  Each person in class can count the notifications they have received on their phones today.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Watch the video:  youtube.com/watch?embeds_referring_euri=https%3A%2F%2Fhubblecontent.osi.office.net%2F&amp;source_ve_path=MTY0OTksMjg2NjQsMTY0NTAz&amp;v=Ig6I3prnlnE&amp;feature=youtu.be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watching the video, include time for self-reflection on what practical tips learners plan to use.</a:t>
            </a:r>
          </a:p>
          <a:p>
            <a:endParaRPr lang="en-US" dirty="0"/>
          </a:p>
        </p:txBody>
      </p:sp>
      <p:sp>
        <p:nvSpPr>
          <p:cNvPr id="4" name="Slide Number Placeholder 3"/>
          <p:cNvSpPr>
            <a:spLocks noGrp="1"/>
          </p:cNvSpPr>
          <p:nvPr>
            <p:ph type="sldNum" sz="quarter" idx="5"/>
          </p:nvPr>
        </p:nvSpPr>
        <p:spPr/>
        <p:txBody>
          <a:bodyPr/>
          <a:lstStyle/>
          <a:p>
            <a:fld id="{51295921-EC74-4341-B75C-65C56D1756C6}" type="slidenum">
              <a:rPr lang="en-US" smtClean="0"/>
              <a:t>13</a:t>
            </a:fld>
            <a:endParaRPr lang="en-US"/>
          </a:p>
        </p:txBody>
      </p:sp>
    </p:spTree>
    <p:extLst>
      <p:ext uri="{BB962C8B-B14F-4D97-AF65-F5344CB8AC3E}">
        <p14:creationId xmlns:p14="http://schemas.microsoft.com/office/powerpoint/2010/main" val="26490886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Help learners realize that procrastination is simply a habit &amp; that the cycle can be broken!</a:t>
            </a:r>
          </a:p>
          <a:p>
            <a:r>
              <a:rPr lang="en-US" dirty="0"/>
              <a:t>Watch video:  </a:t>
            </a:r>
            <a:r>
              <a:rPr lang="en-US" b="0" i="0" u="none" strike="noStrike" dirty="0">
                <a:effectLst/>
                <a:latin typeface="YouTube Noto"/>
                <a:hlinkClick r:id="rId3" tooltip="Share link"/>
              </a:rPr>
              <a:t>https://youtu.be/sB5n6wnT61w</a:t>
            </a:r>
            <a:endParaRPr lang="en-US" dirty="0"/>
          </a:p>
        </p:txBody>
      </p:sp>
      <p:sp>
        <p:nvSpPr>
          <p:cNvPr id="4" name="Slide Number Placeholder 3"/>
          <p:cNvSpPr>
            <a:spLocks noGrp="1"/>
          </p:cNvSpPr>
          <p:nvPr>
            <p:ph type="sldNum" sz="quarter" idx="5"/>
          </p:nvPr>
        </p:nvSpPr>
        <p:spPr/>
        <p:txBody>
          <a:bodyPr/>
          <a:lstStyle/>
          <a:p>
            <a:fld id="{51295921-EC74-4341-B75C-65C56D1756C6}" type="slidenum">
              <a:rPr lang="en-US" smtClean="0"/>
              <a:t>14</a:t>
            </a:fld>
            <a:endParaRPr lang="en-US"/>
          </a:p>
        </p:txBody>
      </p:sp>
    </p:spTree>
    <p:extLst>
      <p:ext uri="{BB962C8B-B14F-4D97-AF65-F5344CB8AC3E}">
        <p14:creationId xmlns:p14="http://schemas.microsoft.com/office/powerpoint/2010/main" val="38950687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Multitasking is often seen as a strength, but it may actually have a negative impact on our productivity and time management.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https://www.youtube.com/watch?v=tMiyzuO1qMs</a:t>
            </a:r>
          </a:p>
          <a:p>
            <a:endParaRPr lang="en-US" dirty="0"/>
          </a:p>
        </p:txBody>
      </p:sp>
      <p:sp>
        <p:nvSpPr>
          <p:cNvPr id="4" name="Slide Number Placeholder 3"/>
          <p:cNvSpPr>
            <a:spLocks noGrp="1"/>
          </p:cNvSpPr>
          <p:nvPr>
            <p:ph type="sldNum" sz="quarter" idx="5"/>
          </p:nvPr>
        </p:nvSpPr>
        <p:spPr/>
        <p:txBody>
          <a:bodyPr/>
          <a:lstStyle/>
          <a:p>
            <a:fld id="{51295921-EC74-4341-B75C-65C56D1756C6}" type="slidenum">
              <a:rPr lang="en-US" smtClean="0"/>
              <a:t>15</a:t>
            </a:fld>
            <a:endParaRPr lang="en-US"/>
          </a:p>
        </p:txBody>
      </p:sp>
    </p:spTree>
    <p:extLst>
      <p:ext uri="{BB962C8B-B14F-4D97-AF65-F5344CB8AC3E}">
        <p14:creationId xmlns:p14="http://schemas.microsoft.com/office/powerpoint/2010/main" val="40175285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229100"/>
            <a:ext cx="5486400" cy="4786884"/>
          </a:xfrm>
        </p:spPr>
        <p:txBody>
          <a:bodyPr/>
          <a:lstStyle/>
          <a:p>
            <a:r>
              <a:rPr lang="en-US" dirty="0"/>
              <a:t>Ask learners to identify situations where they struggle with saying no or over-committing themselves.</a:t>
            </a:r>
          </a:p>
          <a:p>
            <a:r>
              <a:rPr lang="en-US" b="1" dirty="0"/>
              <a:t> </a:t>
            </a:r>
            <a:endParaRPr lang="en-US" dirty="0"/>
          </a:p>
          <a:p>
            <a:r>
              <a:rPr lang="en-US" dirty="0"/>
              <a:t>Review polite, yet effective, ways to say “No.”</a:t>
            </a:r>
            <a:br>
              <a:rPr lang="en-US" dirty="0"/>
            </a:br>
            <a:endParaRPr lang="en-US" dirty="0"/>
          </a:p>
          <a:p>
            <a:endParaRPr lang="en-US" dirty="0"/>
          </a:p>
        </p:txBody>
      </p:sp>
      <p:sp>
        <p:nvSpPr>
          <p:cNvPr id="4" name="Slide Number Placeholder 3"/>
          <p:cNvSpPr>
            <a:spLocks noGrp="1"/>
          </p:cNvSpPr>
          <p:nvPr>
            <p:ph type="sldNum" sz="quarter" idx="5"/>
          </p:nvPr>
        </p:nvSpPr>
        <p:spPr/>
        <p:txBody>
          <a:bodyPr/>
          <a:lstStyle/>
          <a:p>
            <a:fld id="{51295921-EC74-4341-B75C-65C56D1756C6}" type="slidenum">
              <a:rPr lang="en-US" smtClean="0"/>
              <a:t>16</a:t>
            </a:fld>
            <a:endParaRPr lang="en-US"/>
          </a:p>
        </p:txBody>
      </p:sp>
    </p:spTree>
    <p:extLst>
      <p:ext uri="{BB962C8B-B14F-4D97-AF65-F5344CB8AC3E}">
        <p14:creationId xmlns:p14="http://schemas.microsoft.com/office/powerpoint/2010/main" val="37252072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video excerpt from Atomic Habits.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Another great resource to share with students is the free audiobook </a:t>
            </a:r>
            <a:r>
              <a:rPr lang="en-US" b="1" dirty="0"/>
              <a:t>Make Y</a:t>
            </a:r>
            <a:r>
              <a:rPr lang="en-US" b="1" i="0" dirty="0">
                <a:solidFill>
                  <a:srgbClr val="0F0F0F"/>
                </a:solidFill>
                <a:effectLst/>
                <a:latin typeface="Roboto" panose="02000000000000000000" pitchFamily="2" charset="0"/>
              </a:rPr>
              <a:t>our Bed by ADMIRAL WILLIAM H. </a:t>
            </a:r>
            <a:r>
              <a:rPr lang="en-US" b="1" i="0" dirty="0" err="1">
                <a:solidFill>
                  <a:srgbClr val="0F0F0F"/>
                </a:solidFill>
                <a:effectLst/>
                <a:latin typeface="Roboto" panose="02000000000000000000" pitchFamily="2" charset="0"/>
              </a:rPr>
              <a:t>McRAVEN</a:t>
            </a:r>
            <a:r>
              <a:rPr lang="en-US" dirty="0"/>
              <a:t>:  https://www.youtube.com/watch?v=l3e3tfxqejE&amp;t=504s</a:t>
            </a:r>
          </a:p>
        </p:txBody>
      </p:sp>
      <p:sp>
        <p:nvSpPr>
          <p:cNvPr id="4" name="Slide Number Placeholder 3"/>
          <p:cNvSpPr>
            <a:spLocks noGrp="1"/>
          </p:cNvSpPr>
          <p:nvPr>
            <p:ph type="sldNum" sz="quarter" idx="5"/>
          </p:nvPr>
        </p:nvSpPr>
        <p:spPr/>
        <p:txBody>
          <a:bodyPr/>
          <a:lstStyle/>
          <a:p>
            <a:fld id="{51295921-EC74-4341-B75C-65C56D1756C6}" type="slidenum">
              <a:rPr lang="en-US" smtClean="0"/>
              <a:t>17</a:t>
            </a:fld>
            <a:endParaRPr lang="en-US"/>
          </a:p>
        </p:txBody>
      </p:sp>
    </p:spTree>
    <p:extLst>
      <p:ext uri="{BB962C8B-B14F-4D97-AF65-F5344CB8AC3E}">
        <p14:creationId xmlns:p14="http://schemas.microsoft.com/office/powerpoint/2010/main" val="26079539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Distribute </a:t>
            </a:r>
            <a:r>
              <a:rPr lang="en-US" b="1" dirty="0"/>
              <a:t>The Exit Ticket </a:t>
            </a:r>
            <a:r>
              <a:rPr lang="en-US" b="0" dirty="0"/>
              <a:t>to learners </a:t>
            </a:r>
            <a:r>
              <a:rPr lang="en-US" dirty="0"/>
              <a:t>and ask them to complete it.  Provide learners the opportunity to share their answers to the questions on the slide.</a:t>
            </a:r>
          </a:p>
        </p:txBody>
      </p:sp>
      <p:sp>
        <p:nvSpPr>
          <p:cNvPr id="4" name="Slide Number Placeholder 3"/>
          <p:cNvSpPr>
            <a:spLocks noGrp="1"/>
          </p:cNvSpPr>
          <p:nvPr>
            <p:ph type="sldNum" sz="quarter" idx="5"/>
          </p:nvPr>
        </p:nvSpPr>
        <p:spPr/>
        <p:txBody>
          <a:bodyPr/>
          <a:lstStyle/>
          <a:p>
            <a:fld id="{51295921-EC74-4341-B75C-65C56D1756C6}" type="slidenum">
              <a:rPr lang="en-US" smtClean="0"/>
              <a:t>18</a:t>
            </a:fld>
            <a:endParaRPr lang="en-US"/>
          </a:p>
        </p:txBody>
      </p:sp>
    </p:spTree>
    <p:extLst>
      <p:ext uri="{BB962C8B-B14F-4D97-AF65-F5344CB8AC3E}">
        <p14:creationId xmlns:p14="http://schemas.microsoft.com/office/powerpoint/2010/main" val="39661510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a Round Robin - Post the Stand and Deliver questions. Each learner will print one of the questions on a blank sheet of paper. (If you have more than 5 learners, put them in groups. Adjust however you see fit, so it works with your class). Each group member must choose a different question. Learners pass their papers to the right.  The next member writes his/her response to the question. They again pass their papers to the right. The next person writes his/her response. Repeat until the learners receive their original paper. They read all the responses and write summaries of what they have learned. Facilitate a whole-class discussion in which learners read some of their summaries.</a:t>
            </a:r>
          </a:p>
          <a:p>
            <a:r>
              <a:rPr lang="en-US" dirty="0"/>
              <a:t> </a:t>
            </a:r>
          </a:p>
          <a:p>
            <a:r>
              <a:rPr lang="en-US" dirty="0"/>
              <a:t>Stand and Deliver Questions:</a:t>
            </a:r>
          </a:p>
          <a:p>
            <a:pPr marL="698830" lvl="1" indent="-232943">
              <a:buFont typeface="+mj-lt"/>
              <a:buAutoNum type="arabicPeriod"/>
            </a:pPr>
            <a:r>
              <a:rPr lang="en-US" dirty="0"/>
              <a:t>What are the most important concepts you learned from this module?</a:t>
            </a:r>
          </a:p>
          <a:p>
            <a:pPr marL="698830" lvl="1" indent="-232943">
              <a:buFont typeface="+mj-lt"/>
              <a:buAutoNum type="arabicPeriod"/>
            </a:pPr>
            <a:r>
              <a:rPr lang="en-US" dirty="0"/>
              <a:t>How will you use this information?</a:t>
            </a:r>
          </a:p>
          <a:p>
            <a:pPr marL="698830" lvl="1" indent="-232943">
              <a:buFont typeface="+mj-lt"/>
              <a:buAutoNum type="arabicPeriod"/>
            </a:pPr>
            <a:r>
              <a:rPr lang="en-US" dirty="0"/>
              <a:t>What other steps can you take to learn more about this topic?</a:t>
            </a:r>
          </a:p>
          <a:p>
            <a:pPr marL="698830" lvl="1" indent="-232943">
              <a:buFont typeface="+mj-lt"/>
              <a:buAutoNum type="arabicPeriod"/>
            </a:pPr>
            <a:r>
              <a:rPr lang="en-US" dirty="0"/>
              <a:t>With whom can you share what you’ve learned and what would you tell him or her?</a:t>
            </a:r>
          </a:p>
          <a:p>
            <a:pPr marL="698830" lvl="1" indent="-232943">
              <a:buFont typeface="+mj-lt"/>
              <a:buAutoNum type="arabicPeriod"/>
            </a:pPr>
            <a:r>
              <a:rPr lang="en-US" dirty="0"/>
              <a:t>What is one question you still have about this topic?</a:t>
            </a:r>
          </a:p>
          <a:p>
            <a:endParaRPr lang="en-US" dirty="0"/>
          </a:p>
        </p:txBody>
      </p:sp>
      <p:sp>
        <p:nvSpPr>
          <p:cNvPr id="4" name="Slide Number Placeholder 3"/>
          <p:cNvSpPr>
            <a:spLocks noGrp="1"/>
          </p:cNvSpPr>
          <p:nvPr>
            <p:ph type="sldNum" sz="quarter" idx="5"/>
          </p:nvPr>
        </p:nvSpPr>
        <p:spPr/>
        <p:txBody>
          <a:bodyPr/>
          <a:lstStyle/>
          <a:p>
            <a:fld id="{51295921-EC74-4341-B75C-65C56D1756C6}" type="slidenum">
              <a:rPr lang="en-US" smtClean="0"/>
              <a:t>19</a:t>
            </a:fld>
            <a:endParaRPr lang="en-US"/>
          </a:p>
        </p:txBody>
      </p:sp>
    </p:spTree>
    <p:extLst>
      <p:ext uri="{BB962C8B-B14F-4D97-AF65-F5344CB8AC3E}">
        <p14:creationId xmlns:p14="http://schemas.microsoft.com/office/powerpoint/2010/main" val="38578343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77907-7A32-421C-94BF-884FF4F723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51A74DF-4C8F-486A-BAD9-1EEB6216CF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8B9076-9488-4C3A-96E6-5BAD03216100}"/>
              </a:ext>
            </a:extLst>
          </p:cNvPr>
          <p:cNvSpPr>
            <a:spLocks noGrp="1"/>
          </p:cNvSpPr>
          <p:nvPr>
            <p:ph type="dt" sz="half" idx="10"/>
          </p:nvPr>
        </p:nvSpPr>
        <p:spPr>
          <a:xfrm>
            <a:off x="838200" y="6356350"/>
            <a:ext cx="2743200" cy="365125"/>
          </a:xfrm>
          <a:prstGeom prst="rect">
            <a:avLst/>
          </a:prstGeom>
        </p:spPr>
        <p:txBody>
          <a:bodyPr/>
          <a:lstStyle/>
          <a:p>
            <a:fld id="{287A558A-9E93-4C20-9EE6-8935C95B227E}" type="datetimeFigureOut">
              <a:rPr lang="en-US" smtClean="0"/>
              <a:t>2/10/2026</a:t>
            </a:fld>
            <a:endParaRPr lang="en-US"/>
          </a:p>
        </p:txBody>
      </p:sp>
      <p:sp>
        <p:nvSpPr>
          <p:cNvPr id="5" name="Footer Placeholder 4">
            <a:extLst>
              <a:ext uri="{FF2B5EF4-FFF2-40B4-BE49-F238E27FC236}">
                <a16:creationId xmlns:a16="http://schemas.microsoft.com/office/drawing/2014/main" id="{12A8CB2D-6786-42D2-A9FF-47AF1358204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E4AEB28-B1DC-441D-8C3A-8CAB786A6F3D}"/>
              </a:ext>
            </a:extLst>
          </p:cNvPr>
          <p:cNvSpPr>
            <a:spLocks noGrp="1"/>
          </p:cNvSpPr>
          <p:nvPr>
            <p:ph type="sldNum" sz="quarter" idx="12"/>
          </p:nvPr>
        </p:nvSpPr>
        <p:spPr>
          <a:xfrm>
            <a:off x="8610600" y="6356350"/>
            <a:ext cx="2743200" cy="365125"/>
          </a:xfrm>
          <a:prstGeom prst="rect">
            <a:avLst/>
          </a:prstGeom>
        </p:spPr>
        <p:txBody>
          <a:bodyPr/>
          <a:lstStyle/>
          <a:p>
            <a:fld id="{5CA86E06-E157-4FC4-B6CD-4B17661F7F82}" type="slidenum">
              <a:rPr lang="en-US" smtClean="0"/>
              <a:t>‹#›</a:t>
            </a:fld>
            <a:endParaRPr lang="en-US"/>
          </a:p>
        </p:txBody>
      </p:sp>
    </p:spTree>
    <p:extLst>
      <p:ext uri="{BB962C8B-B14F-4D97-AF65-F5344CB8AC3E}">
        <p14:creationId xmlns:p14="http://schemas.microsoft.com/office/powerpoint/2010/main" val="1623994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9A79A-6195-4B32-B3BD-0B76D185CC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61DE0A-D4E2-4838-8B28-D89ED35ABFA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5FA2CC-BD02-42D5-ABD8-B1528079E5CB}"/>
              </a:ext>
            </a:extLst>
          </p:cNvPr>
          <p:cNvSpPr>
            <a:spLocks noGrp="1"/>
          </p:cNvSpPr>
          <p:nvPr>
            <p:ph type="dt" sz="half" idx="10"/>
          </p:nvPr>
        </p:nvSpPr>
        <p:spPr>
          <a:xfrm>
            <a:off x="838200" y="6356350"/>
            <a:ext cx="2743200" cy="365125"/>
          </a:xfrm>
          <a:prstGeom prst="rect">
            <a:avLst/>
          </a:prstGeom>
        </p:spPr>
        <p:txBody>
          <a:bodyPr/>
          <a:lstStyle/>
          <a:p>
            <a:fld id="{287A558A-9E93-4C20-9EE6-8935C95B227E}" type="datetimeFigureOut">
              <a:rPr lang="en-US" smtClean="0"/>
              <a:t>2/10/2026</a:t>
            </a:fld>
            <a:endParaRPr lang="en-US"/>
          </a:p>
        </p:txBody>
      </p:sp>
      <p:sp>
        <p:nvSpPr>
          <p:cNvPr id="5" name="Footer Placeholder 4">
            <a:extLst>
              <a:ext uri="{FF2B5EF4-FFF2-40B4-BE49-F238E27FC236}">
                <a16:creationId xmlns:a16="http://schemas.microsoft.com/office/drawing/2014/main" id="{A37556AF-FF32-4A0F-902E-FA7019CDC27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5C67A6D-BB53-4BDD-814D-258B1FD653E6}"/>
              </a:ext>
            </a:extLst>
          </p:cNvPr>
          <p:cNvSpPr>
            <a:spLocks noGrp="1"/>
          </p:cNvSpPr>
          <p:nvPr>
            <p:ph type="sldNum" sz="quarter" idx="12"/>
          </p:nvPr>
        </p:nvSpPr>
        <p:spPr>
          <a:xfrm>
            <a:off x="8610600" y="6356350"/>
            <a:ext cx="2743200" cy="365125"/>
          </a:xfrm>
          <a:prstGeom prst="rect">
            <a:avLst/>
          </a:prstGeom>
        </p:spPr>
        <p:txBody>
          <a:bodyPr/>
          <a:lstStyle/>
          <a:p>
            <a:fld id="{5CA86E06-E157-4FC4-B6CD-4B17661F7F82}" type="slidenum">
              <a:rPr lang="en-US" smtClean="0"/>
              <a:t>‹#›</a:t>
            </a:fld>
            <a:endParaRPr lang="en-US"/>
          </a:p>
        </p:txBody>
      </p:sp>
    </p:spTree>
    <p:extLst>
      <p:ext uri="{BB962C8B-B14F-4D97-AF65-F5344CB8AC3E}">
        <p14:creationId xmlns:p14="http://schemas.microsoft.com/office/powerpoint/2010/main" val="3445837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86CCB-68FB-4CF5-A122-2B0ED7FCFD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0D4424D-625D-4AAC-9056-BCB5D25733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F73B89B-B6F5-4DAF-8D61-1165B1F7AC66}"/>
              </a:ext>
            </a:extLst>
          </p:cNvPr>
          <p:cNvSpPr>
            <a:spLocks noGrp="1"/>
          </p:cNvSpPr>
          <p:nvPr>
            <p:ph type="dt" sz="half" idx="10"/>
          </p:nvPr>
        </p:nvSpPr>
        <p:spPr>
          <a:xfrm>
            <a:off x="838200" y="6356350"/>
            <a:ext cx="2743200" cy="365125"/>
          </a:xfrm>
          <a:prstGeom prst="rect">
            <a:avLst/>
          </a:prstGeom>
        </p:spPr>
        <p:txBody>
          <a:bodyPr/>
          <a:lstStyle/>
          <a:p>
            <a:fld id="{287A558A-9E93-4C20-9EE6-8935C95B227E}" type="datetimeFigureOut">
              <a:rPr lang="en-US" smtClean="0"/>
              <a:t>2/10/2026</a:t>
            </a:fld>
            <a:endParaRPr lang="en-US"/>
          </a:p>
        </p:txBody>
      </p:sp>
      <p:sp>
        <p:nvSpPr>
          <p:cNvPr id="5" name="Footer Placeholder 4">
            <a:extLst>
              <a:ext uri="{FF2B5EF4-FFF2-40B4-BE49-F238E27FC236}">
                <a16:creationId xmlns:a16="http://schemas.microsoft.com/office/drawing/2014/main" id="{B6C1F24A-ACB3-4072-B5A7-4B58F13CFC3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CA24F33-2BA0-48CD-A0FC-78CA26D0F190}"/>
              </a:ext>
            </a:extLst>
          </p:cNvPr>
          <p:cNvSpPr>
            <a:spLocks noGrp="1"/>
          </p:cNvSpPr>
          <p:nvPr>
            <p:ph type="sldNum" sz="quarter" idx="12"/>
          </p:nvPr>
        </p:nvSpPr>
        <p:spPr>
          <a:xfrm>
            <a:off x="8610600" y="6356350"/>
            <a:ext cx="2743200" cy="365125"/>
          </a:xfrm>
          <a:prstGeom prst="rect">
            <a:avLst/>
          </a:prstGeom>
        </p:spPr>
        <p:txBody>
          <a:bodyPr/>
          <a:lstStyle/>
          <a:p>
            <a:fld id="{5CA86E06-E157-4FC4-B6CD-4B17661F7F82}" type="slidenum">
              <a:rPr lang="en-US" smtClean="0"/>
              <a:t>‹#›</a:t>
            </a:fld>
            <a:endParaRPr lang="en-US"/>
          </a:p>
        </p:txBody>
      </p:sp>
    </p:spTree>
    <p:extLst>
      <p:ext uri="{BB962C8B-B14F-4D97-AF65-F5344CB8AC3E}">
        <p14:creationId xmlns:p14="http://schemas.microsoft.com/office/powerpoint/2010/main" val="101780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84ECB-A231-4383-B7F1-79816AE690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F68C92-9CE9-40AB-A0FA-2574DFEA527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A971AD0-783C-4139-9471-8F718C3BB55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0D8A007-86A2-4CA2-9DD9-3E2B172FBD1A}"/>
              </a:ext>
            </a:extLst>
          </p:cNvPr>
          <p:cNvSpPr>
            <a:spLocks noGrp="1"/>
          </p:cNvSpPr>
          <p:nvPr>
            <p:ph type="dt" sz="half" idx="10"/>
          </p:nvPr>
        </p:nvSpPr>
        <p:spPr>
          <a:xfrm>
            <a:off x="838200" y="6356350"/>
            <a:ext cx="2743200" cy="365125"/>
          </a:xfrm>
          <a:prstGeom prst="rect">
            <a:avLst/>
          </a:prstGeom>
        </p:spPr>
        <p:txBody>
          <a:bodyPr/>
          <a:lstStyle/>
          <a:p>
            <a:fld id="{287A558A-9E93-4C20-9EE6-8935C95B227E}" type="datetimeFigureOut">
              <a:rPr lang="en-US" smtClean="0"/>
              <a:t>2/10/2026</a:t>
            </a:fld>
            <a:endParaRPr lang="en-US"/>
          </a:p>
        </p:txBody>
      </p:sp>
      <p:sp>
        <p:nvSpPr>
          <p:cNvPr id="6" name="Footer Placeholder 5">
            <a:extLst>
              <a:ext uri="{FF2B5EF4-FFF2-40B4-BE49-F238E27FC236}">
                <a16:creationId xmlns:a16="http://schemas.microsoft.com/office/drawing/2014/main" id="{A4959E2C-23FC-4C2F-9E52-4AD12C69993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16E5926A-E1E8-410F-816E-08F6B2B69D0A}"/>
              </a:ext>
            </a:extLst>
          </p:cNvPr>
          <p:cNvSpPr>
            <a:spLocks noGrp="1"/>
          </p:cNvSpPr>
          <p:nvPr>
            <p:ph type="sldNum" sz="quarter" idx="12"/>
          </p:nvPr>
        </p:nvSpPr>
        <p:spPr>
          <a:xfrm>
            <a:off x="8610600" y="6356350"/>
            <a:ext cx="2743200" cy="365125"/>
          </a:xfrm>
          <a:prstGeom prst="rect">
            <a:avLst/>
          </a:prstGeom>
        </p:spPr>
        <p:txBody>
          <a:bodyPr/>
          <a:lstStyle/>
          <a:p>
            <a:fld id="{5CA86E06-E157-4FC4-B6CD-4B17661F7F82}" type="slidenum">
              <a:rPr lang="en-US" smtClean="0"/>
              <a:t>‹#›</a:t>
            </a:fld>
            <a:endParaRPr lang="en-US"/>
          </a:p>
        </p:txBody>
      </p:sp>
    </p:spTree>
    <p:extLst>
      <p:ext uri="{BB962C8B-B14F-4D97-AF65-F5344CB8AC3E}">
        <p14:creationId xmlns:p14="http://schemas.microsoft.com/office/powerpoint/2010/main" val="1849297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7435D-A3CB-46A5-9751-D32B155613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824CF78-1CE7-43D0-8517-7E6E707C6E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BFA8CBC-4115-426E-A7DB-4F08530120F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BF1FB9-81D0-43A9-9008-CDA8EA052F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BE66CDF-44B6-4856-9D2F-8ABDFEBFC25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63771A9-FBC5-42E4-9002-B8989D185486}"/>
              </a:ext>
            </a:extLst>
          </p:cNvPr>
          <p:cNvSpPr>
            <a:spLocks noGrp="1"/>
          </p:cNvSpPr>
          <p:nvPr>
            <p:ph type="dt" sz="half" idx="10"/>
          </p:nvPr>
        </p:nvSpPr>
        <p:spPr>
          <a:xfrm>
            <a:off x="838200" y="6356350"/>
            <a:ext cx="2743200" cy="365125"/>
          </a:xfrm>
          <a:prstGeom prst="rect">
            <a:avLst/>
          </a:prstGeom>
        </p:spPr>
        <p:txBody>
          <a:bodyPr/>
          <a:lstStyle/>
          <a:p>
            <a:fld id="{287A558A-9E93-4C20-9EE6-8935C95B227E}" type="datetimeFigureOut">
              <a:rPr lang="en-US" smtClean="0"/>
              <a:t>2/10/2026</a:t>
            </a:fld>
            <a:endParaRPr lang="en-US"/>
          </a:p>
        </p:txBody>
      </p:sp>
      <p:sp>
        <p:nvSpPr>
          <p:cNvPr id="8" name="Footer Placeholder 7">
            <a:extLst>
              <a:ext uri="{FF2B5EF4-FFF2-40B4-BE49-F238E27FC236}">
                <a16:creationId xmlns:a16="http://schemas.microsoft.com/office/drawing/2014/main" id="{8A542E64-9825-4FB7-96D1-09564EF7813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8371A23D-ECE4-4454-BF89-DB88247A55AC}"/>
              </a:ext>
            </a:extLst>
          </p:cNvPr>
          <p:cNvSpPr>
            <a:spLocks noGrp="1"/>
          </p:cNvSpPr>
          <p:nvPr>
            <p:ph type="sldNum" sz="quarter" idx="12"/>
          </p:nvPr>
        </p:nvSpPr>
        <p:spPr>
          <a:xfrm>
            <a:off x="8610600" y="6356350"/>
            <a:ext cx="2743200" cy="365125"/>
          </a:xfrm>
          <a:prstGeom prst="rect">
            <a:avLst/>
          </a:prstGeom>
        </p:spPr>
        <p:txBody>
          <a:bodyPr/>
          <a:lstStyle/>
          <a:p>
            <a:fld id="{5CA86E06-E157-4FC4-B6CD-4B17661F7F82}" type="slidenum">
              <a:rPr lang="en-US" smtClean="0"/>
              <a:t>‹#›</a:t>
            </a:fld>
            <a:endParaRPr lang="en-US"/>
          </a:p>
        </p:txBody>
      </p:sp>
    </p:spTree>
    <p:extLst>
      <p:ext uri="{BB962C8B-B14F-4D97-AF65-F5344CB8AC3E}">
        <p14:creationId xmlns:p14="http://schemas.microsoft.com/office/powerpoint/2010/main" val="1891861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B3D77-32E9-42F9-8532-6674493A46D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FF99A5B-C376-48F1-896F-386EE18FDE31}"/>
              </a:ext>
            </a:extLst>
          </p:cNvPr>
          <p:cNvSpPr>
            <a:spLocks noGrp="1"/>
          </p:cNvSpPr>
          <p:nvPr>
            <p:ph type="dt" sz="half" idx="10"/>
          </p:nvPr>
        </p:nvSpPr>
        <p:spPr>
          <a:xfrm>
            <a:off x="838200" y="6356350"/>
            <a:ext cx="2743200" cy="365125"/>
          </a:xfrm>
          <a:prstGeom prst="rect">
            <a:avLst/>
          </a:prstGeom>
        </p:spPr>
        <p:txBody>
          <a:bodyPr/>
          <a:lstStyle/>
          <a:p>
            <a:fld id="{287A558A-9E93-4C20-9EE6-8935C95B227E}" type="datetimeFigureOut">
              <a:rPr lang="en-US" smtClean="0"/>
              <a:t>2/10/2026</a:t>
            </a:fld>
            <a:endParaRPr lang="en-US"/>
          </a:p>
        </p:txBody>
      </p:sp>
      <p:sp>
        <p:nvSpPr>
          <p:cNvPr id="4" name="Footer Placeholder 3">
            <a:extLst>
              <a:ext uri="{FF2B5EF4-FFF2-40B4-BE49-F238E27FC236}">
                <a16:creationId xmlns:a16="http://schemas.microsoft.com/office/drawing/2014/main" id="{70021E9F-F6C8-4CBF-BD6F-9A76889647F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C42B3B06-A02E-4B70-84FD-564669CB32B0}"/>
              </a:ext>
            </a:extLst>
          </p:cNvPr>
          <p:cNvSpPr>
            <a:spLocks noGrp="1"/>
          </p:cNvSpPr>
          <p:nvPr>
            <p:ph type="sldNum" sz="quarter" idx="12"/>
          </p:nvPr>
        </p:nvSpPr>
        <p:spPr>
          <a:xfrm>
            <a:off x="8610600" y="6356350"/>
            <a:ext cx="2743200" cy="365125"/>
          </a:xfrm>
          <a:prstGeom prst="rect">
            <a:avLst/>
          </a:prstGeom>
        </p:spPr>
        <p:txBody>
          <a:bodyPr/>
          <a:lstStyle/>
          <a:p>
            <a:fld id="{5CA86E06-E157-4FC4-B6CD-4B17661F7F82}" type="slidenum">
              <a:rPr lang="en-US" smtClean="0"/>
              <a:t>‹#›</a:t>
            </a:fld>
            <a:endParaRPr lang="en-US"/>
          </a:p>
        </p:txBody>
      </p:sp>
    </p:spTree>
    <p:extLst>
      <p:ext uri="{BB962C8B-B14F-4D97-AF65-F5344CB8AC3E}">
        <p14:creationId xmlns:p14="http://schemas.microsoft.com/office/powerpoint/2010/main" val="277222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B1DF99-D638-4D0D-998E-1CEA9C4BE97F}"/>
              </a:ext>
            </a:extLst>
          </p:cNvPr>
          <p:cNvSpPr>
            <a:spLocks noGrp="1"/>
          </p:cNvSpPr>
          <p:nvPr>
            <p:ph type="dt" sz="half" idx="10"/>
          </p:nvPr>
        </p:nvSpPr>
        <p:spPr>
          <a:xfrm>
            <a:off x="838200" y="6356350"/>
            <a:ext cx="2743200" cy="365125"/>
          </a:xfrm>
          <a:prstGeom prst="rect">
            <a:avLst/>
          </a:prstGeom>
        </p:spPr>
        <p:txBody>
          <a:bodyPr/>
          <a:lstStyle/>
          <a:p>
            <a:fld id="{287A558A-9E93-4C20-9EE6-8935C95B227E}" type="datetimeFigureOut">
              <a:rPr lang="en-US" smtClean="0"/>
              <a:t>2/10/2026</a:t>
            </a:fld>
            <a:endParaRPr lang="en-US"/>
          </a:p>
        </p:txBody>
      </p:sp>
      <p:sp>
        <p:nvSpPr>
          <p:cNvPr id="3" name="Footer Placeholder 2">
            <a:extLst>
              <a:ext uri="{FF2B5EF4-FFF2-40B4-BE49-F238E27FC236}">
                <a16:creationId xmlns:a16="http://schemas.microsoft.com/office/drawing/2014/main" id="{E1B9C411-55AA-49DF-9BF0-9B6C1838AD1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4AF28E90-C4FF-4DAB-A1E2-6CC1F55536BE}"/>
              </a:ext>
            </a:extLst>
          </p:cNvPr>
          <p:cNvSpPr>
            <a:spLocks noGrp="1"/>
          </p:cNvSpPr>
          <p:nvPr>
            <p:ph type="sldNum" sz="quarter" idx="12"/>
          </p:nvPr>
        </p:nvSpPr>
        <p:spPr>
          <a:xfrm>
            <a:off x="8610600" y="6356350"/>
            <a:ext cx="2743200" cy="365125"/>
          </a:xfrm>
          <a:prstGeom prst="rect">
            <a:avLst/>
          </a:prstGeom>
        </p:spPr>
        <p:txBody>
          <a:bodyPr/>
          <a:lstStyle/>
          <a:p>
            <a:fld id="{5CA86E06-E157-4FC4-B6CD-4B17661F7F82}" type="slidenum">
              <a:rPr lang="en-US" smtClean="0"/>
              <a:t>‹#›</a:t>
            </a:fld>
            <a:endParaRPr lang="en-US"/>
          </a:p>
        </p:txBody>
      </p:sp>
    </p:spTree>
    <p:extLst>
      <p:ext uri="{BB962C8B-B14F-4D97-AF65-F5344CB8AC3E}">
        <p14:creationId xmlns:p14="http://schemas.microsoft.com/office/powerpoint/2010/main" val="17278842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9A632-5540-4A2D-8F6D-DEB6D2293F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B382CE-B7B8-407F-BB0A-C4F557EA9F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78E509B-D57A-4FF6-80CF-67587A29A1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7ADA50-9594-4259-9131-6451FD89F212}"/>
              </a:ext>
            </a:extLst>
          </p:cNvPr>
          <p:cNvSpPr>
            <a:spLocks noGrp="1"/>
          </p:cNvSpPr>
          <p:nvPr>
            <p:ph type="dt" sz="half" idx="10"/>
          </p:nvPr>
        </p:nvSpPr>
        <p:spPr>
          <a:xfrm>
            <a:off x="838200" y="6356350"/>
            <a:ext cx="2743200" cy="365125"/>
          </a:xfrm>
          <a:prstGeom prst="rect">
            <a:avLst/>
          </a:prstGeom>
        </p:spPr>
        <p:txBody>
          <a:bodyPr/>
          <a:lstStyle/>
          <a:p>
            <a:fld id="{287A558A-9E93-4C20-9EE6-8935C95B227E}" type="datetimeFigureOut">
              <a:rPr lang="en-US" smtClean="0"/>
              <a:t>2/10/2026</a:t>
            </a:fld>
            <a:endParaRPr lang="en-US"/>
          </a:p>
        </p:txBody>
      </p:sp>
      <p:sp>
        <p:nvSpPr>
          <p:cNvPr id="6" name="Footer Placeholder 5">
            <a:extLst>
              <a:ext uri="{FF2B5EF4-FFF2-40B4-BE49-F238E27FC236}">
                <a16:creationId xmlns:a16="http://schemas.microsoft.com/office/drawing/2014/main" id="{F59746A6-DB26-465D-9FB0-7C8B989CB8A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1F5F278-A513-45E0-984B-629D1293D601}"/>
              </a:ext>
            </a:extLst>
          </p:cNvPr>
          <p:cNvSpPr>
            <a:spLocks noGrp="1"/>
          </p:cNvSpPr>
          <p:nvPr>
            <p:ph type="sldNum" sz="quarter" idx="12"/>
          </p:nvPr>
        </p:nvSpPr>
        <p:spPr>
          <a:xfrm>
            <a:off x="8610600" y="6356350"/>
            <a:ext cx="2743200" cy="365125"/>
          </a:xfrm>
          <a:prstGeom prst="rect">
            <a:avLst/>
          </a:prstGeom>
        </p:spPr>
        <p:txBody>
          <a:bodyPr/>
          <a:lstStyle/>
          <a:p>
            <a:fld id="{5CA86E06-E157-4FC4-B6CD-4B17661F7F82}" type="slidenum">
              <a:rPr lang="en-US" smtClean="0"/>
              <a:t>‹#›</a:t>
            </a:fld>
            <a:endParaRPr lang="en-US"/>
          </a:p>
        </p:txBody>
      </p:sp>
    </p:spTree>
    <p:extLst>
      <p:ext uri="{BB962C8B-B14F-4D97-AF65-F5344CB8AC3E}">
        <p14:creationId xmlns:p14="http://schemas.microsoft.com/office/powerpoint/2010/main" val="4187947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621D3-5C1D-48EE-9355-4236683A89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EC470D-55BE-4A60-A610-FD0A3C6A57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7DA1C3-1664-4C85-B08B-AF09D3D40E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0C691B2-B400-4DEA-B9E1-1A1B57A08054}"/>
              </a:ext>
            </a:extLst>
          </p:cNvPr>
          <p:cNvSpPr>
            <a:spLocks noGrp="1"/>
          </p:cNvSpPr>
          <p:nvPr>
            <p:ph type="dt" sz="half" idx="10"/>
          </p:nvPr>
        </p:nvSpPr>
        <p:spPr>
          <a:xfrm>
            <a:off x="838200" y="6356350"/>
            <a:ext cx="2743200" cy="365125"/>
          </a:xfrm>
          <a:prstGeom prst="rect">
            <a:avLst/>
          </a:prstGeom>
        </p:spPr>
        <p:txBody>
          <a:bodyPr/>
          <a:lstStyle/>
          <a:p>
            <a:fld id="{287A558A-9E93-4C20-9EE6-8935C95B227E}" type="datetimeFigureOut">
              <a:rPr lang="en-US" smtClean="0"/>
              <a:t>2/10/2026</a:t>
            </a:fld>
            <a:endParaRPr lang="en-US"/>
          </a:p>
        </p:txBody>
      </p:sp>
      <p:sp>
        <p:nvSpPr>
          <p:cNvPr id="6" name="Footer Placeholder 5">
            <a:extLst>
              <a:ext uri="{FF2B5EF4-FFF2-40B4-BE49-F238E27FC236}">
                <a16:creationId xmlns:a16="http://schemas.microsoft.com/office/drawing/2014/main" id="{26E12E56-1D79-43BD-B205-2A5326FA4A2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AD85119-CCA7-40D5-BAB4-4D3A3BC8FFE0}"/>
              </a:ext>
            </a:extLst>
          </p:cNvPr>
          <p:cNvSpPr>
            <a:spLocks noGrp="1"/>
          </p:cNvSpPr>
          <p:nvPr>
            <p:ph type="sldNum" sz="quarter" idx="12"/>
          </p:nvPr>
        </p:nvSpPr>
        <p:spPr>
          <a:xfrm>
            <a:off x="8610600" y="6356350"/>
            <a:ext cx="2743200" cy="365125"/>
          </a:xfrm>
          <a:prstGeom prst="rect">
            <a:avLst/>
          </a:prstGeom>
        </p:spPr>
        <p:txBody>
          <a:bodyPr/>
          <a:lstStyle/>
          <a:p>
            <a:fld id="{5CA86E06-E157-4FC4-B6CD-4B17661F7F82}" type="slidenum">
              <a:rPr lang="en-US" smtClean="0"/>
              <a:t>‹#›</a:t>
            </a:fld>
            <a:endParaRPr lang="en-US"/>
          </a:p>
        </p:txBody>
      </p:sp>
    </p:spTree>
    <p:extLst>
      <p:ext uri="{BB962C8B-B14F-4D97-AF65-F5344CB8AC3E}">
        <p14:creationId xmlns:p14="http://schemas.microsoft.com/office/powerpoint/2010/main" val="3424546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E3C77-701C-474D-9DC0-097F174DC9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F2B723-1F47-4178-BD2F-52FCA2C9933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CA878A-2433-4FDF-AE2D-7BB22CB66C3A}"/>
              </a:ext>
            </a:extLst>
          </p:cNvPr>
          <p:cNvSpPr>
            <a:spLocks noGrp="1"/>
          </p:cNvSpPr>
          <p:nvPr>
            <p:ph type="dt" sz="half" idx="10"/>
          </p:nvPr>
        </p:nvSpPr>
        <p:spPr>
          <a:xfrm>
            <a:off x="838200" y="6356350"/>
            <a:ext cx="2743200" cy="365125"/>
          </a:xfrm>
          <a:prstGeom prst="rect">
            <a:avLst/>
          </a:prstGeom>
        </p:spPr>
        <p:txBody>
          <a:bodyPr/>
          <a:lstStyle/>
          <a:p>
            <a:fld id="{287A558A-9E93-4C20-9EE6-8935C95B227E}" type="datetimeFigureOut">
              <a:rPr lang="en-US" smtClean="0"/>
              <a:t>2/10/2026</a:t>
            </a:fld>
            <a:endParaRPr lang="en-US"/>
          </a:p>
        </p:txBody>
      </p:sp>
      <p:sp>
        <p:nvSpPr>
          <p:cNvPr id="5" name="Footer Placeholder 4">
            <a:extLst>
              <a:ext uri="{FF2B5EF4-FFF2-40B4-BE49-F238E27FC236}">
                <a16:creationId xmlns:a16="http://schemas.microsoft.com/office/drawing/2014/main" id="{71A6639C-0D16-4503-84DB-5701092582B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8DF72A7C-560B-4663-BD03-00CC1B59D02C}"/>
              </a:ext>
            </a:extLst>
          </p:cNvPr>
          <p:cNvSpPr>
            <a:spLocks noGrp="1"/>
          </p:cNvSpPr>
          <p:nvPr>
            <p:ph type="sldNum" sz="quarter" idx="12"/>
          </p:nvPr>
        </p:nvSpPr>
        <p:spPr>
          <a:xfrm>
            <a:off x="8610600" y="6356350"/>
            <a:ext cx="2743200" cy="365125"/>
          </a:xfrm>
          <a:prstGeom prst="rect">
            <a:avLst/>
          </a:prstGeom>
        </p:spPr>
        <p:txBody>
          <a:bodyPr/>
          <a:lstStyle/>
          <a:p>
            <a:fld id="{5CA86E06-E157-4FC4-B6CD-4B17661F7F82}" type="slidenum">
              <a:rPr lang="en-US" smtClean="0"/>
              <a:t>‹#›</a:t>
            </a:fld>
            <a:endParaRPr lang="en-US"/>
          </a:p>
        </p:txBody>
      </p:sp>
    </p:spTree>
    <p:extLst>
      <p:ext uri="{BB962C8B-B14F-4D97-AF65-F5344CB8AC3E}">
        <p14:creationId xmlns:p14="http://schemas.microsoft.com/office/powerpoint/2010/main" val="876047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D10A80-B6FD-4D02-87B7-F9BC846C3E1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522948E-E842-45B0-AF0E-EBE45E8C3B7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8A09DC-C369-4E55-8461-FE916ABFCE2E}"/>
              </a:ext>
            </a:extLst>
          </p:cNvPr>
          <p:cNvSpPr>
            <a:spLocks noGrp="1"/>
          </p:cNvSpPr>
          <p:nvPr>
            <p:ph type="dt" sz="half" idx="10"/>
          </p:nvPr>
        </p:nvSpPr>
        <p:spPr>
          <a:xfrm>
            <a:off x="838200" y="6356350"/>
            <a:ext cx="2743200" cy="365125"/>
          </a:xfrm>
          <a:prstGeom prst="rect">
            <a:avLst/>
          </a:prstGeom>
        </p:spPr>
        <p:txBody>
          <a:bodyPr/>
          <a:lstStyle/>
          <a:p>
            <a:fld id="{287A558A-9E93-4C20-9EE6-8935C95B227E}" type="datetimeFigureOut">
              <a:rPr lang="en-US" smtClean="0"/>
              <a:t>2/10/2026</a:t>
            </a:fld>
            <a:endParaRPr lang="en-US"/>
          </a:p>
        </p:txBody>
      </p:sp>
      <p:sp>
        <p:nvSpPr>
          <p:cNvPr id="5" name="Footer Placeholder 4">
            <a:extLst>
              <a:ext uri="{FF2B5EF4-FFF2-40B4-BE49-F238E27FC236}">
                <a16:creationId xmlns:a16="http://schemas.microsoft.com/office/drawing/2014/main" id="{AFF6BE14-527B-4EB7-82F1-62E4448706D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C4577F9-6392-455D-933D-465836F24928}"/>
              </a:ext>
            </a:extLst>
          </p:cNvPr>
          <p:cNvSpPr>
            <a:spLocks noGrp="1"/>
          </p:cNvSpPr>
          <p:nvPr>
            <p:ph type="sldNum" sz="quarter" idx="12"/>
          </p:nvPr>
        </p:nvSpPr>
        <p:spPr>
          <a:xfrm>
            <a:off x="8610600" y="6356350"/>
            <a:ext cx="2743200" cy="365125"/>
          </a:xfrm>
          <a:prstGeom prst="rect">
            <a:avLst/>
          </a:prstGeom>
        </p:spPr>
        <p:txBody>
          <a:bodyPr/>
          <a:lstStyle/>
          <a:p>
            <a:fld id="{5CA86E06-E157-4FC4-B6CD-4B17661F7F82}" type="slidenum">
              <a:rPr lang="en-US" smtClean="0"/>
              <a:t>‹#›</a:t>
            </a:fld>
            <a:endParaRPr lang="en-US"/>
          </a:p>
        </p:txBody>
      </p:sp>
    </p:spTree>
    <p:extLst>
      <p:ext uri="{BB962C8B-B14F-4D97-AF65-F5344CB8AC3E}">
        <p14:creationId xmlns:p14="http://schemas.microsoft.com/office/powerpoint/2010/main" val="1465163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A819C-A587-449C-BB29-12E412EB54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B7F3D24-80F1-4B3A-A054-C353575A49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AB58458B-C257-4C94-A8E5-DE6FC9F7A781}"/>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142132" y="4612031"/>
            <a:ext cx="2828337" cy="1880844"/>
          </a:xfrm>
          <a:prstGeom prst="rect">
            <a:avLst/>
          </a:prstGeom>
        </p:spPr>
      </p:pic>
    </p:spTree>
    <p:extLst>
      <p:ext uri="{BB962C8B-B14F-4D97-AF65-F5344CB8AC3E}">
        <p14:creationId xmlns:p14="http://schemas.microsoft.com/office/powerpoint/2010/main" val="19735668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1" kern="1200">
          <a:solidFill>
            <a:srgbClr val="0070C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psychologytoday.com/us/tests/career/time-management-skills-test"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jpg"/><Relationship Id="rId7" Type="http://schemas.microsoft.com/office/2007/relationships/hdphoto" Target="../media/hdphoto1.wdp"/><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hyperlink" Target="https://www.youtube.com/watch?v=AtoVhZOWQZU"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s://openclipart.org/detail/172707/key-west---mallory---square-by-nkinkade-177733" TargetMode="Externa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ideo" Target="https://www.youtube.com/embed/Ig6I3prnlnE?feature=oembed" TargetMode="External"/><Relationship Id="rId6" Type="http://schemas.openxmlformats.org/officeDocument/2006/relationships/image" Target="../media/image28.jpeg"/><Relationship Id="rId5" Type="http://schemas.openxmlformats.org/officeDocument/2006/relationships/image" Target="../media/image27.sv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ideo" Target="https://www.youtube.com/embed/w2gzEf0IQbc?feature=oembed" TargetMode="External"/><Relationship Id="rId5" Type="http://schemas.openxmlformats.org/officeDocument/2006/relationships/image" Target="../media/image30.png"/><Relationship Id="rId4" Type="http://schemas.openxmlformats.org/officeDocument/2006/relationships/image" Target="../media/image29.jpe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14.png"/><Relationship Id="rId4" Type="http://schemas.openxmlformats.org/officeDocument/2006/relationships/hyperlink" Target="https://www.youtube.com/watch?v=tMiyzuO1qMs"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14.png"/><Relationship Id="rId4" Type="http://schemas.openxmlformats.org/officeDocument/2006/relationships/hyperlink" Target="https://www.youtube.com/watch?v=A-z_H4_gfMg"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5D5E2-BC3E-44A8-8C7C-D305D1E2D6D6}"/>
              </a:ext>
            </a:extLst>
          </p:cNvPr>
          <p:cNvSpPr>
            <a:spLocks noGrp="1"/>
          </p:cNvSpPr>
          <p:nvPr>
            <p:ph type="ctrTitle"/>
          </p:nvPr>
        </p:nvSpPr>
        <p:spPr>
          <a:xfrm>
            <a:off x="2044211" y="367042"/>
            <a:ext cx="9144000" cy="2387600"/>
          </a:xfrm>
        </p:spPr>
        <p:txBody>
          <a:bodyPr/>
          <a:lstStyle/>
          <a:p>
            <a:br>
              <a:rPr lang="en-US" dirty="0">
                <a:latin typeface="+mn-lt"/>
              </a:rPr>
            </a:br>
            <a:r>
              <a:rPr lang="en-US" dirty="0">
                <a:latin typeface="+mn-lt"/>
              </a:rPr>
              <a:t>Time Management</a:t>
            </a:r>
          </a:p>
        </p:txBody>
      </p:sp>
      <p:pic>
        <p:nvPicPr>
          <p:cNvPr id="4" name="Picture 1031">
            <a:extLst>
              <a:ext uri="{FF2B5EF4-FFF2-40B4-BE49-F238E27FC236}">
                <a16:creationId xmlns:a16="http://schemas.microsoft.com/office/drawing/2014/main" id="{12BF1DC0-A548-4215-86AE-FF3A23838431}"/>
              </a:ext>
            </a:extLst>
          </p:cNvPr>
          <p:cNvPicPr>
            <a:picLocks noChangeAspect="1" noChangeArrowheads="1"/>
          </p:cNvPicPr>
          <p:nvPr/>
        </p:nvPicPr>
        <p:blipFill>
          <a:blip r:embed="rId3"/>
          <a:srcRect/>
          <a:stretch/>
        </p:blipFill>
        <p:spPr bwMode="auto">
          <a:xfrm>
            <a:off x="193073" y="367042"/>
            <a:ext cx="3300341" cy="4041811"/>
          </a:xfrm>
          <a:prstGeom prst="rect">
            <a:avLst/>
          </a:prstGeom>
          <a:noFill/>
          <a:effectLst>
            <a:softEdge rad="2794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338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A48F0-0FB1-4FC3-A3DB-E0465E964F49}"/>
              </a:ext>
            </a:extLst>
          </p:cNvPr>
          <p:cNvSpPr>
            <a:spLocks noGrp="1"/>
          </p:cNvSpPr>
          <p:nvPr>
            <p:ph type="title"/>
          </p:nvPr>
        </p:nvSpPr>
        <p:spPr/>
        <p:txBody>
          <a:bodyPr/>
          <a:lstStyle/>
          <a:p>
            <a:r>
              <a:rPr lang="en-US" dirty="0">
                <a:latin typeface="+mn-lt"/>
              </a:rPr>
              <a:t>Self-Reflection:</a:t>
            </a:r>
            <a:br>
              <a:rPr lang="en-US" dirty="0">
                <a:latin typeface="+mn-lt"/>
              </a:rPr>
            </a:br>
            <a:r>
              <a:rPr lang="en-US" b="0" dirty="0">
                <a:latin typeface="+mn-lt"/>
              </a:rPr>
              <a:t>How Good Is Your Time Management?</a:t>
            </a:r>
          </a:p>
        </p:txBody>
      </p:sp>
      <p:pic>
        <p:nvPicPr>
          <p:cNvPr id="4" name="Picture 10">
            <a:extLst>
              <a:ext uri="{FF2B5EF4-FFF2-40B4-BE49-F238E27FC236}">
                <a16:creationId xmlns:a16="http://schemas.microsoft.com/office/drawing/2014/main" id="{905F3C85-6A8F-45B1-A2C3-BF517393197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p:blipFill>
        <p:spPr bwMode="auto">
          <a:xfrm>
            <a:off x="1174617" y="1958457"/>
            <a:ext cx="5323841" cy="354922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34C1266-91FD-76D8-81DB-CD53477443BF}"/>
              </a:ext>
            </a:extLst>
          </p:cNvPr>
          <p:cNvSpPr txBox="1"/>
          <p:nvPr/>
        </p:nvSpPr>
        <p:spPr>
          <a:xfrm>
            <a:off x="6662058" y="2182505"/>
            <a:ext cx="4953000" cy="2492990"/>
          </a:xfrm>
          <a:prstGeom prst="rect">
            <a:avLst/>
          </a:prstGeom>
          <a:noFill/>
        </p:spPr>
        <p:txBody>
          <a:bodyPr wrap="square" rtlCol="0">
            <a:spAutoFit/>
          </a:bodyPr>
          <a:lstStyle/>
          <a:p>
            <a:pPr algn="ctr"/>
            <a:r>
              <a:rPr lang="en-US" sz="3000" dirty="0"/>
              <a:t>Complete the Time Management Self-Reflection Worksheet or complete the self-test at:</a:t>
            </a:r>
          </a:p>
          <a:p>
            <a:r>
              <a:rPr lang="en-US" i="1" dirty="0">
                <a:hlinkClick r:id="rId4" tooltip="Psychology Today Time Management Self-Assessment"/>
              </a:rPr>
              <a:t>https://www.psychologytoday.com/us/tests/career/time-management-skills-test</a:t>
            </a:r>
            <a:endParaRPr lang="en-US" i="1" dirty="0"/>
          </a:p>
        </p:txBody>
      </p:sp>
    </p:spTree>
    <p:extLst>
      <p:ext uri="{BB962C8B-B14F-4D97-AF65-F5344CB8AC3E}">
        <p14:creationId xmlns:p14="http://schemas.microsoft.com/office/powerpoint/2010/main" val="2369028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4167F-9A43-4332-B86A-610B7CB2C8B6}"/>
              </a:ext>
            </a:extLst>
          </p:cNvPr>
          <p:cNvSpPr>
            <a:spLocks noGrp="1"/>
          </p:cNvSpPr>
          <p:nvPr>
            <p:ph type="title"/>
          </p:nvPr>
        </p:nvSpPr>
        <p:spPr>
          <a:xfrm>
            <a:off x="838200" y="365125"/>
            <a:ext cx="10515600" cy="770339"/>
          </a:xfrm>
        </p:spPr>
        <p:txBody>
          <a:bodyPr/>
          <a:lstStyle/>
          <a:p>
            <a:pPr algn="ctr"/>
            <a:r>
              <a:rPr lang="en-US" u="sng" dirty="0"/>
              <a:t>OBJECTIVE of this Module</a:t>
            </a:r>
          </a:p>
        </p:txBody>
      </p:sp>
      <p:sp>
        <p:nvSpPr>
          <p:cNvPr id="3" name="Content Placeholder 2">
            <a:extLst>
              <a:ext uri="{FF2B5EF4-FFF2-40B4-BE49-F238E27FC236}">
                <a16:creationId xmlns:a16="http://schemas.microsoft.com/office/drawing/2014/main" id="{B0288992-AF39-43EB-9781-F4EEC78F78D8}"/>
              </a:ext>
            </a:extLst>
          </p:cNvPr>
          <p:cNvSpPr>
            <a:spLocks noGrp="1"/>
          </p:cNvSpPr>
          <p:nvPr>
            <p:ph idx="1"/>
          </p:nvPr>
        </p:nvSpPr>
        <p:spPr>
          <a:xfrm>
            <a:off x="582805" y="1135465"/>
            <a:ext cx="11113476" cy="3838470"/>
          </a:xfrm>
        </p:spPr>
        <p:txBody>
          <a:bodyPr>
            <a:noAutofit/>
          </a:bodyPr>
          <a:lstStyle/>
          <a:p>
            <a:pPr marL="0" indent="0" algn="ctr">
              <a:lnSpc>
                <a:spcPct val="100000"/>
              </a:lnSpc>
              <a:spcBef>
                <a:spcPts val="600"/>
              </a:spcBef>
              <a:buNone/>
            </a:pPr>
            <a:r>
              <a:rPr lang="en-US" sz="3000" dirty="0"/>
              <a:t>While we all have 24 hours in our day, we each have different:</a:t>
            </a:r>
          </a:p>
          <a:p>
            <a:pPr algn="ctr">
              <a:lnSpc>
                <a:spcPct val="100000"/>
              </a:lnSpc>
              <a:spcBef>
                <a:spcPts val="600"/>
              </a:spcBef>
              <a:buBlip>
                <a:blip r:embed="rId3"/>
              </a:buBlip>
            </a:pPr>
            <a:r>
              <a:rPr lang="en-US" sz="3000" dirty="0"/>
              <a:t> Responsibilities</a:t>
            </a:r>
          </a:p>
          <a:p>
            <a:pPr algn="ctr">
              <a:lnSpc>
                <a:spcPct val="100000"/>
              </a:lnSpc>
              <a:spcBef>
                <a:spcPts val="600"/>
              </a:spcBef>
              <a:buBlip>
                <a:blip r:embed="rId4">
                  <a:extLst>
                    <a:ext uri="{96DAC541-7B7A-43D3-8B79-37D633B846F1}">
                      <asvg:svgBlip xmlns:asvg="http://schemas.microsoft.com/office/drawing/2016/SVG/main" r:embed="rId5"/>
                    </a:ext>
                  </a:extLst>
                </a:blip>
              </a:buBlip>
            </a:pPr>
            <a:r>
              <a:rPr lang="en-US" sz="3000" dirty="0"/>
              <a:t>Financial Obligations</a:t>
            </a:r>
          </a:p>
          <a:p>
            <a:pPr algn="ctr">
              <a:lnSpc>
                <a:spcPct val="100000"/>
              </a:lnSpc>
              <a:spcBef>
                <a:spcPts val="600"/>
              </a:spcBef>
              <a:buBlip>
                <a:blip r:embed="rId6">
                  <a:extLst>
                    <a:ext uri="{96DAC541-7B7A-43D3-8B79-37D633B846F1}">
                      <asvg:svgBlip xmlns:asvg="http://schemas.microsoft.com/office/drawing/2016/SVG/main" r:embed="rId7"/>
                    </a:ext>
                  </a:extLst>
                </a:blip>
              </a:buBlip>
            </a:pPr>
            <a:r>
              <a:rPr lang="en-US" sz="3000" dirty="0"/>
              <a:t>Family Sizes</a:t>
            </a:r>
          </a:p>
          <a:p>
            <a:pPr algn="ctr">
              <a:lnSpc>
                <a:spcPct val="100000"/>
              </a:lnSpc>
              <a:spcBef>
                <a:spcPts val="600"/>
              </a:spcBef>
              <a:buBlip>
                <a:blip r:embed="rId8">
                  <a:extLst>
                    <a:ext uri="{96DAC541-7B7A-43D3-8B79-37D633B846F1}">
                      <asvg:svgBlip xmlns:asvg="http://schemas.microsoft.com/office/drawing/2016/SVG/main" r:embed="rId9"/>
                    </a:ext>
                  </a:extLst>
                </a:blip>
              </a:buBlip>
            </a:pPr>
            <a:r>
              <a:rPr lang="en-US" sz="3000" dirty="0"/>
              <a:t>Levels of Support </a:t>
            </a:r>
          </a:p>
          <a:p>
            <a:pPr marL="0" indent="0" algn="ctr">
              <a:lnSpc>
                <a:spcPct val="100000"/>
              </a:lnSpc>
              <a:spcBef>
                <a:spcPts val="600"/>
              </a:spcBef>
              <a:buNone/>
            </a:pPr>
            <a:r>
              <a:rPr lang="en-US" dirty="0"/>
              <a:t>The main goal of effective time management is to </a:t>
            </a:r>
          </a:p>
          <a:p>
            <a:pPr marL="0" indent="0" algn="ctr">
              <a:lnSpc>
                <a:spcPct val="100000"/>
              </a:lnSpc>
              <a:spcBef>
                <a:spcPts val="600"/>
              </a:spcBef>
              <a:buNone/>
            </a:pPr>
            <a:r>
              <a:rPr lang="en-US" b="1" dirty="0">
                <a:solidFill>
                  <a:srgbClr val="00B050"/>
                </a:solidFill>
                <a:effectLst/>
              </a:rPr>
              <a:t>maximize productivity </a:t>
            </a:r>
            <a:r>
              <a:rPr lang="en-US" dirty="0">
                <a:effectLst/>
              </a:rPr>
              <a:t>and </a:t>
            </a:r>
            <a:r>
              <a:rPr lang="en-US" b="1" dirty="0">
                <a:solidFill>
                  <a:srgbClr val="00B050"/>
                </a:solidFill>
                <a:effectLst/>
              </a:rPr>
              <a:t>achieve goals</a:t>
            </a:r>
          </a:p>
          <a:p>
            <a:pPr marL="0" indent="0" algn="ctr">
              <a:lnSpc>
                <a:spcPct val="100000"/>
              </a:lnSpc>
              <a:spcBef>
                <a:spcPts val="600"/>
              </a:spcBef>
              <a:buNone/>
            </a:pPr>
            <a:r>
              <a:rPr lang="en-US" b="1" dirty="0">
                <a:effectLst/>
              </a:rPr>
              <a:t> </a:t>
            </a:r>
            <a:r>
              <a:rPr lang="en-US" dirty="0">
                <a:effectLst/>
              </a:rPr>
              <a:t>by </a:t>
            </a:r>
            <a:r>
              <a:rPr lang="en-US" b="1" i="1" dirty="0">
                <a:effectLst/>
              </a:rPr>
              <a:t>optimizing how you use your time</a:t>
            </a:r>
            <a:r>
              <a:rPr lang="en-US" b="1" dirty="0">
                <a:effectLst/>
              </a:rPr>
              <a:t>.</a:t>
            </a:r>
            <a:r>
              <a:rPr lang="en-US" b="1" dirty="0"/>
              <a:t> </a:t>
            </a:r>
            <a:endParaRPr lang="en-US" b="1" i="0" dirty="0">
              <a:effectLst/>
              <a:latin typeface="Google Sans"/>
            </a:endParaRPr>
          </a:p>
        </p:txBody>
      </p:sp>
    </p:spTree>
    <p:extLst>
      <p:ext uri="{BB962C8B-B14F-4D97-AF65-F5344CB8AC3E}">
        <p14:creationId xmlns:p14="http://schemas.microsoft.com/office/powerpoint/2010/main" val="419128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989C3-3879-4800-85C9-9EBB09C8C841}"/>
              </a:ext>
            </a:extLst>
          </p:cNvPr>
          <p:cNvSpPr>
            <a:spLocks noGrp="1"/>
          </p:cNvSpPr>
          <p:nvPr>
            <p:ph type="title"/>
          </p:nvPr>
        </p:nvSpPr>
        <p:spPr/>
        <p:txBody>
          <a:bodyPr/>
          <a:lstStyle/>
          <a:p>
            <a:r>
              <a:rPr lang="en-US" dirty="0">
                <a:latin typeface="+mn-lt"/>
              </a:rPr>
              <a:t>Setting Priorities</a:t>
            </a:r>
          </a:p>
        </p:txBody>
      </p:sp>
      <p:sp>
        <p:nvSpPr>
          <p:cNvPr id="13" name="TextBox 12">
            <a:extLst>
              <a:ext uri="{FF2B5EF4-FFF2-40B4-BE49-F238E27FC236}">
                <a16:creationId xmlns:a16="http://schemas.microsoft.com/office/drawing/2014/main" id="{384C179C-3983-4EF8-8B78-73532D583AF2}"/>
              </a:ext>
            </a:extLst>
          </p:cNvPr>
          <p:cNvSpPr txBox="1"/>
          <p:nvPr/>
        </p:nvSpPr>
        <p:spPr>
          <a:xfrm>
            <a:off x="838200" y="1720840"/>
            <a:ext cx="7998487" cy="2400657"/>
          </a:xfrm>
          <a:prstGeom prst="rect">
            <a:avLst/>
          </a:prstGeom>
          <a:noFill/>
        </p:spPr>
        <p:txBody>
          <a:bodyPr wrap="square" rtlCol="0">
            <a:spAutoFit/>
          </a:bodyPr>
          <a:lstStyle/>
          <a:p>
            <a:r>
              <a:rPr lang="en-US" sz="3000" i="1" dirty="0">
                <a:solidFill>
                  <a:srgbClr val="474747"/>
                </a:solidFill>
                <a:effectLst/>
              </a:rPr>
              <a:t>Priorities</a:t>
            </a:r>
            <a:r>
              <a:rPr lang="en-US" sz="3000" i="0" dirty="0">
                <a:solidFill>
                  <a:srgbClr val="474747"/>
                </a:solidFill>
                <a:effectLst/>
              </a:rPr>
              <a:t> are </a:t>
            </a:r>
            <a:r>
              <a:rPr lang="en-US" sz="3000" dirty="0"/>
              <a:t>things that are more important than others and need to be dealt with first, or the ranking of something's importance. </a:t>
            </a:r>
          </a:p>
          <a:p>
            <a:r>
              <a:rPr lang="en-US" sz="3000" i="0" dirty="0">
                <a:solidFill>
                  <a:srgbClr val="474747"/>
                </a:solidFill>
                <a:effectLst/>
              </a:rPr>
              <a:t>Priorities establish the sequence in which things should be done. </a:t>
            </a:r>
            <a:endParaRPr lang="en-US" sz="3000" dirty="0"/>
          </a:p>
        </p:txBody>
      </p:sp>
      <p:pic>
        <p:nvPicPr>
          <p:cNvPr id="15" name="Picture 14">
            <a:extLst>
              <a:ext uri="{FF2B5EF4-FFF2-40B4-BE49-F238E27FC236}">
                <a16:creationId xmlns:a16="http://schemas.microsoft.com/office/drawing/2014/main" id="{9EEF331A-5FAF-4AC2-8179-19A28299A375}"/>
              </a:ext>
            </a:extLst>
          </p:cNvPr>
          <p:cNvPicPr>
            <a:picLocks noChangeAspect="1"/>
          </p:cNvPicPr>
          <p:nvPr/>
        </p:nvPicPr>
        <p:blipFill>
          <a:blip r:embed="rId3"/>
          <a:srcRect/>
          <a:stretch/>
        </p:blipFill>
        <p:spPr>
          <a:xfrm>
            <a:off x="8688159" y="1251503"/>
            <a:ext cx="2977139" cy="2458851"/>
          </a:xfrm>
          <a:prstGeom prst="rect">
            <a:avLst/>
          </a:prstGeom>
        </p:spPr>
      </p:pic>
    </p:spTree>
    <p:extLst>
      <p:ext uri="{BB962C8B-B14F-4D97-AF65-F5344CB8AC3E}">
        <p14:creationId xmlns:p14="http://schemas.microsoft.com/office/powerpoint/2010/main" val="1826685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989C3-3879-4800-85C9-9EBB09C8C841}"/>
              </a:ext>
            </a:extLst>
          </p:cNvPr>
          <p:cNvSpPr>
            <a:spLocks noGrp="1"/>
          </p:cNvSpPr>
          <p:nvPr>
            <p:ph type="title"/>
          </p:nvPr>
        </p:nvSpPr>
        <p:spPr/>
        <p:txBody>
          <a:bodyPr/>
          <a:lstStyle/>
          <a:p>
            <a:r>
              <a:rPr lang="en-US" dirty="0">
                <a:latin typeface="+mn-lt"/>
              </a:rPr>
              <a:t>Priorities— “Big Rocks”</a:t>
            </a:r>
          </a:p>
        </p:txBody>
      </p:sp>
      <p:pic>
        <p:nvPicPr>
          <p:cNvPr id="15" name="Picture 14">
            <a:extLst>
              <a:ext uri="{FF2B5EF4-FFF2-40B4-BE49-F238E27FC236}">
                <a16:creationId xmlns:a16="http://schemas.microsoft.com/office/drawing/2014/main" id="{9EEF331A-5FAF-4AC2-8179-19A28299A37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678580" y="1541949"/>
            <a:ext cx="3353671" cy="1887051"/>
          </a:xfrm>
          <a:prstGeom prst="rect">
            <a:avLst/>
          </a:prstGeom>
        </p:spPr>
      </p:pic>
      <p:grpSp>
        <p:nvGrpSpPr>
          <p:cNvPr id="9" name="Group 8">
            <a:extLst>
              <a:ext uri="{FF2B5EF4-FFF2-40B4-BE49-F238E27FC236}">
                <a16:creationId xmlns:a16="http://schemas.microsoft.com/office/drawing/2014/main" id="{894BC298-3A1C-4D38-979E-4F2CEB4A53C8}"/>
              </a:ext>
            </a:extLst>
          </p:cNvPr>
          <p:cNvGrpSpPr/>
          <p:nvPr/>
        </p:nvGrpSpPr>
        <p:grpSpPr>
          <a:xfrm>
            <a:off x="2047450" y="2170443"/>
            <a:ext cx="3448998" cy="3185328"/>
            <a:chOff x="2047450" y="2170443"/>
            <a:chExt cx="3645752" cy="3393832"/>
          </a:xfrm>
        </p:grpSpPr>
        <p:pic>
          <p:nvPicPr>
            <p:cNvPr id="5" name="Picture 4">
              <a:hlinkClick r:id="rId4"/>
              <a:extLst>
                <a:ext uri="{FF2B5EF4-FFF2-40B4-BE49-F238E27FC236}">
                  <a16:creationId xmlns:a16="http://schemas.microsoft.com/office/drawing/2014/main" id="{4F52AA13-7937-4A5C-83A9-F84A94B47F3F}"/>
                </a:ext>
              </a:extLst>
            </p:cNvPr>
            <p:cNvPicPr>
              <a:picLocks noChangeAspect="1"/>
            </p:cNvPicPr>
            <p:nvPr/>
          </p:nvPicPr>
          <p:blipFill>
            <a:blip r:embed="rId5"/>
            <a:stretch>
              <a:fillRect/>
            </a:stretch>
          </p:blipFill>
          <p:spPr>
            <a:xfrm>
              <a:off x="2047450" y="2170443"/>
              <a:ext cx="3645752" cy="3393832"/>
            </a:xfrm>
            <a:prstGeom prst="rect">
              <a:avLst/>
            </a:prstGeom>
          </p:spPr>
        </p:pic>
        <p:pic>
          <p:nvPicPr>
            <p:cNvPr id="7" name="Picture 6">
              <a:hlinkClick r:id="rId4"/>
              <a:extLst>
                <a:ext uri="{FF2B5EF4-FFF2-40B4-BE49-F238E27FC236}">
                  <a16:creationId xmlns:a16="http://schemas.microsoft.com/office/drawing/2014/main" id="{527EB742-4F0F-4B00-BA81-E1FB727BDA7C}"/>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Lst>
            </a:blip>
            <a:stretch>
              <a:fillRect/>
            </a:stretch>
          </p:blipFill>
          <p:spPr>
            <a:xfrm>
              <a:off x="3242404" y="3147865"/>
              <a:ext cx="1337534" cy="1599921"/>
            </a:xfrm>
            <a:prstGeom prst="rect">
              <a:avLst/>
            </a:prstGeom>
          </p:spPr>
        </p:pic>
      </p:grpSp>
    </p:spTree>
    <p:extLst>
      <p:ext uri="{BB962C8B-B14F-4D97-AF65-F5344CB8AC3E}">
        <p14:creationId xmlns:p14="http://schemas.microsoft.com/office/powerpoint/2010/main" val="4064591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B98B0-7DEE-4920-A3D4-655C34593786}"/>
              </a:ext>
            </a:extLst>
          </p:cNvPr>
          <p:cNvSpPr>
            <a:spLocks noGrp="1"/>
          </p:cNvSpPr>
          <p:nvPr>
            <p:ph type="title"/>
          </p:nvPr>
        </p:nvSpPr>
        <p:spPr>
          <a:xfrm>
            <a:off x="838200" y="365125"/>
            <a:ext cx="10988710" cy="1325563"/>
          </a:xfrm>
        </p:spPr>
        <p:txBody>
          <a:bodyPr/>
          <a:lstStyle/>
          <a:p>
            <a:r>
              <a:rPr lang="en-US" dirty="0">
                <a:latin typeface="+mn-lt"/>
              </a:rPr>
              <a:t>You’ve Identified Your Priorities—Now What?</a:t>
            </a:r>
          </a:p>
        </p:txBody>
      </p:sp>
      <p:sp>
        <p:nvSpPr>
          <p:cNvPr id="4" name="Rectangle 3">
            <a:extLst>
              <a:ext uri="{FF2B5EF4-FFF2-40B4-BE49-F238E27FC236}">
                <a16:creationId xmlns:a16="http://schemas.microsoft.com/office/drawing/2014/main" id="{C32B0DC7-B0D9-49BD-98D1-0790F191CD7F}"/>
              </a:ext>
            </a:extLst>
          </p:cNvPr>
          <p:cNvSpPr/>
          <p:nvPr/>
        </p:nvSpPr>
        <p:spPr>
          <a:xfrm>
            <a:off x="1240134" y="1558436"/>
            <a:ext cx="8768024" cy="2000548"/>
          </a:xfrm>
          <a:prstGeom prst="rect">
            <a:avLst/>
          </a:prstGeom>
        </p:spPr>
        <p:txBody>
          <a:bodyPr wrap="square">
            <a:spAutoFit/>
          </a:bodyPr>
          <a:lstStyle/>
          <a:p>
            <a:r>
              <a:rPr lang="en-US" sz="3000" dirty="0"/>
              <a:t>Now, you’ve got to find a system to dedicate time to each of your priorities.  Does that sound intimidating?</a:t>
            </a:r>
          </a:p>
          <a:p>
            <a:r>
              <a:rPr lang="en-US" sz="3200" dirty="0"/>
              <a:t>	  		</a:t>
            </a:r>
          </a:p>
          <a:p>
            <a:r>
              <a:rPr lang="en-US" sz="3200" dirty="0"/>
              <a:t>			</a:t>
            </a:r>
          </a:p>
        </p:txBody>
      </p:sp>
      <p:pic>
        <p:nvPicPr>
          <p:cNvPr id="5" name="Picture 4">
            <a:extLst>
              <a:ext uri="{FF2B5EF4-FFF2-40B4-BE49-F238E27FC236}">
                <a16:creationId xmlns:a16="http://schemas.microsoft.com/office/drawing/2014/main" id="{CA682A30-4BA9-48EA-A873-DBF4705FFD43}"/>
              </a:ext>
            </a:extLst>
          </p:cNvPr>
          <p:cNvPicPr>
            <a:picLocks noChangeAspect="1"/>
          </p:cNvPicPr>
          <p:nvPr/>
        </p:nvPicPr>
        <p:blipFill>
          <a:blip r:embed="rId3"/>
          <a:srcRect/>
          <a:stretch/>
        </p:blipFill>
        <p:spPr>
          <a:xfrm>
            <a:off x="707571" y="2739581"/>
            <a:ext cx="3583074" cy="3583074"/>
          </a:xfrm>
          <a:prstGeom prst="rect">
            <a:avLst/>
          </a:prstGeom>
        </p:spPr>
      </p:pic>
      <p:sp>
        <p:nvSpPr>
          <p:cNvPr id="10" name="TextBox 9">
            <a:extLst>
              <a:ext uri="{FF2B5EF4-FFF2-40B4-BE49-F238E27FC236}">
                <a16:creationId xmlns:a16="http://schemas.microsoft.com/office/drawing/2014/main" id="{E05EB3F9-B2EC-4E33-85A1-BFFD73BA7B96}"/>
              </a:ext>
            </a:extLst>
          </p:cNvPr>
          <p:cNvSpPr txBox="1"/>
          <p:nvPr/>
        </p:nvSpPr>
        <p:spPr>
          <a:xfrm>
            <a:off x="4290645" y="3429000"/>
            <a:ext cx="6990305" cy="553998"/>
          </a:xfrm>
          <a:prstGeom prst="rect">
            <a:avLst/>
          </a:prstGeom>
          <a:noFill/>
        </p:spPr>
        <p:txBody>
          <a:bodyPr wrap="square" rtlCol="0">
            <a:spAutoFit/>
          </a:bodyPr>
          <a:lstStyle/>
          <a:p>
            <a:r>
              <a:rPr lang="en-US" sz="3000" b="1" dirty="0"/>
              <a:t>Never fear</a:t>
            </a:r>
            <a:r>
              <a:rPr lang="en-US" sz="3000" dirty="0"/>
              <a:t>--we’ve got the tools to help!</a:t>
            </a:r>
          </a:p>
        </p:txBody>
      </p:sp>
    </p:spTree>
    <p:extLst>
      <p:ext uri="{BB962C8B-B14F-4D97-AF65-F5344CB8AC3E}">
        <p14:creationId xmlns:p14="http://schemas.microsoft.com/office/powerpoint/2010/main" val="212209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2000"/>
                                        <p:tgtEl>
                                          <p:spTgt spid="10">
                                            <p:txEl>
                                              <p:pRg st="0" end="0"/>
                                            </p:txEl>
                                          </p:spTgt>
                                        </p:tgtEl>
                                      </p:cBhvr>
                                    </p:animEffect>
                                    <p:anim calcmode="lin" valueType="num">
                                      <p:cBhvr>
                                        <p:cTn id="8" dur="2000" fill="hold"/>
                                        <p:tgtEl>
                                          <p:spTgt spid="10">
                                            <p:txEl>
                                              <p:pRg st="0" end="0"/>
                                            </p:txEl>
                                          </p:spTgt>
                                        </p:tgtEl>
                                        <p:attrNameLst>
                                          <p:attrName>ppt_w</p:attrName>
                                        </p:attrNameLst>
                                      </p:cBhvr>
                                      <p:tavLst>
                                        <p:tav tm="0" fmla="#ppt_w*sin(2.5*pi*$)">
                                          <p:val>
                                            <p:fltVal val="0"/>
                                          </p:val>
                                        </p:tav>
                                        <p:tav tm="100000">
                                          <p:val>
                                            <p:fltVal val="1"/>
                                          </p:val>
                                        </p:tav>
                                      </p:tavLst>
                                    </p:anim>
                                    <p:anim calcmode="lin" valueType="num">
                                      <p:cBhvr>
                                        <p:cTn id="9" dur="2000" fill="hold"/>
                                        <p:tgtEl>
                                          <p:spTgt spid="10">
                                            <p:txEl>
                                              <p:pRg st="0" end="0"/>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19E7A-3A43-402C-B64E-E8B6B9F10C8F}"/>
              </a:ext>
            </a:extLst>
          </p:cNvPr>
          <p:cNvSpPr>
            <a:spLocks noGrp="1"/>
          </p:cNvSpPr>
          <p:nvPr>
            <p:ph type="title"/>
          </p:nvPr>
        </p:nvSpPr>
        <p:spPr/>
        <p:txBody>
          <a:bodyPr/>
          <a:lstStyle/>
          <a:p>
            <a:r>
              <a:rPr lang="en-US" dirty="0"/>
              <a:t>Set Clearly Defined SMART Goals!</a:t>
            </a:r>
          </a:p>
        </p:txBody>
      </p:sp>
      <p:pic>
        <p:nvPicPr>
          <p:cNvPr id="6" name="Picture 5">
            <a:extLst>
              <a:ext uri="{FF2B5EF4-FFF2-40B4-BE49-F238E27FC236}">
                <a16:creationId xmlns:a16="http://schemas.microsoft.com/office/drawing/2014/main" id="{AF03B5F9-1DD9-4308-B393-9AE672925588}"/>
              </a:ext>
            </a:extLst>
          </p:cNvPr>
          <p:cNvPicPr>
            <a:picLocks noChangeAspect="1"/>
          </p:cNvPicPr>
          <p:nvPr/>
        </p:nvPicPr>
        <p:blipFill>
          <a:blip r:embed="rId3"/>
          <a:srcRect/>
          <a:stretch/>
        </p:blipFill>
        <p:spPr>
          <a:xfrm>
            <a:off x="1416818" y="1590204"/>
            <a:ext cx="6340510" cy="3946437"/>
          </a:xfrm>
          <a:prstGeom prst="rect">
            <a:avLst/>
          </a:prstGeom>
        </p:spPr>
      </p:pic>
      <p:sp>
        <p:nvSpPr>
          <p:cNvPr id="8" name="TextBox 7">
            <a:extLst>
              <a:ext uri="{FF2B5EF4-FFF2-40B4-BE49-F238E27FC236}">
                <a16:creationId xmlns:a16="http://schemas.microsoft.com/office/drawing/2014/main" id="{1DBED648-D2FC-4BAB-A21E-197AC728029D}"/>
              </a:ext>
            </a:extLst>
          </p:cNvPr>
          <p:cNvSpPr txBox="1"/>
          <p:nvPr/>
        </p:nvSpPr>
        <p:spPr>
          <a:xfrm>
            <a:off x="7888950" y="1236487"/>
            <a:ext cx="4187233" cy="3085460"/>
          </a:xfrm>
          <a:prstGeom prst="rect">
            <a:avLst/>
          </a:prstGeom>
          <a:noFill/>
        </p:spPr>
        <p:txBody>
          <a:bodyPr wrap="square" rtlCol="0">
            <a:spAutoFit/>
          </a:bodyPr>
          <a:lstStyle/>
          <a:p>
            <a:pPr algn="ctr"/>
            <a:r>
              <a:rPr lang="en-US" sz="2800" b="1" u="sng" dirty="0"/>
              <a:t>Write them down!</a:t>
            </a:r>
          </a:p>
          <a:p>
            <a:endParaRPr lang="en-US" sz="1050" b="0" i="0" dirty="0">
              <a:effectLst/>
              <a:latin typeface="Google Sans"/>
            </a:endParaRPr>
          </a:p>
          <a:p>
            <a:pPr algn="ctr"/>
            <a:r>
              <a:rPr lang="en-US" sz="2600" b="0" i="0" dirty="0">
                <a:effectLst/>
                <a:latin typeface="Google Sans"/>
              </a:rPr>
              <a:t>Writing down your goals is important because it increases your chances of achieving them, provides a sense of commitment, and improves focus. </a:t>
            </a:r>
            <a:endParaRPr lang="en-US" sz="2600" dirty="0"/>
          </a:p>
        </p:txBody>
      </p:sp>
      <p:pic>
        <p:nvPicPr>
          <p:cNvPr id="4" name="Picture 3">
            <a:extLst>
              <a:ext uri="{FF2B5EF4-FFF2-40B4-BE49-F238E27FC236}">
                <a16:creationId xmlns:a16="http://schemas.microsoft.com/office/drawing/2014/main" id="{2CF83DAA-C5C6-4CC1-BCCB-B85F42336C1A}"/>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11398490" y="1188810"/>
            <a:ext cx="633003" cy="640475"/>
          </a:xfrm>
          <a:prstGeom prst="rect">
            <a:avLst/>
          </a:prstGeom>
        </p:spPr>
      </p:pic>
    </p:spTree>
    <p:extLst>
      <p:ext uri="{BB962C8B-B14F-4D97-AF65-F5344CB8AC3E}">
        <p14:creationId xmlns:p14="http://schemas.microsoft.com/office/powerpoint/2010/main" val="240657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7B60F-7803-43E0-9003-DBE78286BD16}"/>
              </a:ext>
            </a:extLst>
          </p:cNvPr>
          <p:cNvSpPr>
            <a:spLocks noGrp="1"/>
          </p:cNvSpPr>
          <p:nvPr>
            <p:ph type="title"/>
          </p:nvPr>
        </p:nvSpPr>
        <p:spPr>
          <a:xfrm>
            <a:off x="325734" y="365388"/>
            <a:ext cx="10515600" cy="1325563"/>
          </a:xfrm>
        </p:spPr>
        <p:txBody>
          <a:bodyPr/>
          <a:lstStyle/>
          <a:p>
            <a:r>
              <a:rPr lang="en-US" dirty="0"/>
              <a:t>Utilize a Flow-Chart </a:t>
            </a:r>
          </a:p>
        </p:txBody>
      </p:sp>
      <p:pic>
        <p:nvPicPr>
          <p:cNvPr id="7" name="Picture 6">
            <a:extLst>
              <a:ext uri="{FF2B5EF4-FFF2-40B4-BE49-F238E27FC236}">
                <a16:creationId xmlns:a16="http://schemas.microsoft.com/office/drawing/2014/main" id="{F7261B1A-01C0-4CDA-8C44-997FAE97B5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10231" y="679031"/>
            <a:ext cx="4465431" cy="5490657"/>
          </a:xfrm>
          <a:prstGeom prst="rect">
            <a:avLst/>
          </a:prstGeom>
        </p:spPr>
      </p:pic>
      <p:sp>
        <p:nvSpPr>
          <p:cNvPr id="8" name="TextBox 7">
            <a:extLst>
              <a:ext uri="{FF2B5EF4-FFF2-40B4-BE49-F238E27FC236}">
                <a16:creationId xmlns:a16="http://schemas.microsoft.com/office/drawing/2014/main" id="{3C8B4FFA-F7A1-4479-80AA-FD0D6FB33923}"/>
              </a:ext>
            </a:extLst>
          </p:cNvPr>
          <p:cNvSpPr txBox="1"/>
          <p:nvPr/>
        </p:nvSpPr>
        <p:spPr>
          <a:xfrm>
            <a:off x="1092340" y="2035161"/>
            <a:ext cx="3315957" cy="2677656"/>
          </a:xfrm>
          <a:prstGeom prst="rect">
            <a:avLst/>
          </a:prstGeom>
          <a:noFill/>
        </p:spPr>
        <p:txBody>
          <a:bodyPr wrap="square" rtlCol="0">
            <a:spAutoFit/>
          </a:bodyPr>
          <a:lstStyle/>
          <a:p>
            <a:r>
              <a:rPr lang="en-US" sz="2800" dirty="0"/>
              <a:t>A flow chart can be used on a daily or weekly basis to ensure that your most important tasks get completed.</a:t>
            </a:r>
          </a:p>
        </p:txBody>
      </p:sp>
    </p:spTree>
    <p:extLst>
      <p:ext uri="{BB962C8B-B14F-4D97-AF65-F5344CB8AC3E}">
        <p14:creationId xmlns:p14="http://schemas.microsoft.com/office/powerpoint/2010/main" val="2528721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7DC1B-E7B2-4778-939A-A386392AB9E3}"/>
              </a:ext>
            </a:extLst>
          </p:cNvPr>
          <p:cNvSpPr>
            <a:spLocks noGrp="1"/>
          </p:cNvSpPr>
          <p:nvPr>
            <p:ph type="title"/>
          </p:nvPr>
        </p:nvSpPr>
        <p:spPr/>
        <p:txBody>
          <a:bodyPr/>
          <a:lstStyle/>
          <a:p>
            <a:pPr algn="ctr"/>
            <a:r>
              <a:rPr lang="en-US" dirty="0"/>
              <a:t>Another Helpful Tool--The Eisenhower Matrix</a:t>
            </a:r>
          </a:p>
        </p:txBody>
      </p:sp>
      <p:pic>
        <p:nvPicPr>
          <p:cNvPr id="9" name="Content Placeholder 8">
            <a:extLst>
              <a:ext uri="{FF2B5EF4-FFF2-40B4-BE49-F238E27FC236}">
                <a16:creationId xmlns:a16="http://schemas.microsoft.com/office/drawing/2014/main" id="{966517DF-D72C-4D39-9BD7-AA71ADFAADD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059534" y="1421495"/>
            <a:ext cx="5215095" cy="4748193"/>
          </a:xfrm>
        </p:spPr>
      </p:pic>
      <p:sp>
        <p:nvSpPr>
          <p:cNvPr id="10" name="TextBox 9">
            <a:extLst>
              <a:ext uri="{FF2B5EF4-FFF2-40B4-BE49-F238E27FC236}">
                <a16:creationId xmlns:a16="http://schemas.microsoft.com/office/drawing/2014/main" id="{E8E137AC-8728-4263-A82D-4943B4D6C4AD}"/>
              </a:ext>
            </a:extLst>
          </p:cNvPr>
          <p:cNvSpPr txBox="1"/>
          <p:nvPr/>
        </p:nvSpPr>
        <p:spPr>
          <a:xfrm>
            <a:off x="261258" y="1828802"/>
            <a:ext cx="4029390" cy="2523768"/>
          </a:xfrm>
          <a:prstGeom prst="rect">
            <a:avLst/>
          </a:prstGeom>
          <a:noFill/>
        </p:spPr>
        <p:txBody>
          <a:bodyPr wrap="square" rtlCol="0">
            <a:spAutoFit/>
          </a:bodyPr>
          <a:lstStyle/>
          <a:p>
            <a:r>
              <a:rPr lang="en-US" sz="3000" dirty="0"/>
              <a:t>The Eisenhower Matrix helps you </a:t>
            </a:r>
            <a:r>
              <a:rPr lang="en-US" sz="3200" b="0" i="0" dirty="0">
                <a:solidFill>
                  <a:srgbClr val="001D35"/>
                </a:solidFill>
                <a:effectLst/>
                <a:latin typeface="Google Sans"/>
              </a:rPr>
              <a:t>prioritize tasks by urgency and importance to improve productivity.</a:t>
            </a:r>
            <a:endParaRPr lang="en-US" sz="3000" dirty="0"/>
          </a:p>
        </p:txBody>
      </p:sp>
    </p:spTree>
    <p:extLst>
      <p:ext uri="{BB962C8B-B14F-4D97-AF65-F5344CB8AC3E}">
        <p14:creationId xmlns:p14="http://schemas.microsoft.com/office/powerpoint/2010/main" val="3558728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A2693-06D5-471B-8FF0-F974A080F105}"/>
              </a:ext>
            </a:extLst>
          </p:cNvPr>
          <p:cNvSpPr>
            <a:spLocks noGrp="1"/>
          </p:cNvSpPr>
          <p:nvPr>
            <p:ph type="title"/>
          </p:nvPr>
        </p:nvSpPr>
        <p:spPr/>
        <p:txBody>
          <a:bodyPr/>
          <a:lstStyle/>
          <a:p>
            <a:r>
              <a:rPr lang="en-US" dirty="0"/>
              <a:t>Make Good Use of Daily &amp; Weekly Planners!</a:t>
            </a:r>
          </a:p>
        </p:txBody>
      </p:sp>
      <p:pic>
        <p:nvPicPr>
          <p:cNvPr id="7" name="Picture 6">
            <a:extLst>
              <a:ext uri="{FF2B5EF4-FFF2-40B4-BE49-F238E27FC236}">
                <a16:creationId xmlns:a16="http://schemas.microsoft.com/office/drawing/2014/main" id="{612D2F7D-8291-4CFA-AA64-3011E73AA7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5879" y="1594304"/>
            <a:ext cx="3711122" cy="4798088"/>
          </a:xfrm>
          <a:prstGeom prst="rect">
            <a:avLst/>
          </a:prstGeom>
        </p:spPr>
      </p:pic>
      <p:pic>
        <p:nvPicPr>
          <p:cNvPr id="9" name="Picture 8">
            <a:extLst>
              <a:ext uri="{FF2B5EF4-FFF2-40B4-BE49-F238E27FC236}">
                <a16:creationId xmlns:a16="http://schemas.microsoft.com/office/drawing/2014/main" id="{EE450277-3690-4981-8A65-A54CAD1F85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37948" y="1594303"/>
            <a:ext cx="3716104" cy="4798089"/>
          </a:xfrm>
          <a:prstGeom prst="rect">
            <a:avLst/>
          </a:prstGeom>
        </p:spPr>
      </p:pic>
      <p:sp>
        <p:nvSpPr>
          <p:cNvPr id="10" name="TextBox 9">
            <a:extLst>
              <a:ext uri="{FF2B5EF4-FFF2-40B4-BE49-F238E27FC236}">
                <a16:creationId xmlns:a16="http://schemas.microsoft.com/office/drawing/2014/main" id="{7A88902B-5445-433A-AA7D-3CE5B307918E}"/>
              </a:ext>
            </a:extLst>
          </p:cNvPr>
          <p:cNvSpPr txBox="1"/>
          <p:nvPr/>
        </p:nvSpPr>
        <p:spPr>
          <a:xfrm>
            <a:off x="7954052" y="1690688"/>
            <a:ext cx="4116864" cy="3108543"/>
          </a:xfrm>
          <a:prstGeom prst="rect">
            <a:avLst/>
          </a:prstGeom>
          <a:noFill/>
        </p:spPr>
        <p:txBody>
          <a:bodyPr wrap="square" rtlCol="0">
            <a:spAutoFit/>
          </a:bodyPr>
          <a:lstStyle/>
          <a:p>
            <a:pPr algn="ctr"/>
            <a:r>
              <a:rPr lang="en-US" sz="2800" dirty="0"/>
              <a:t>Keeping the day’s and week’s activities in view can help ensure that priority tasks get accomplished. </a:t>
            </a:r>
          </a:p>
          <a:p>
            <a:pPr algn="ctr"/>
            <a:r>
              <a:rPr lang="en-US" sz="2800" dirty="0"/>
              <a:t>It can also help you find free time! </a:t>
            </a:r>
          </a:p>
        </p:txBody>
      </p:sp>
    </p:spTree>
    <p:extLst>
      <p:ext uri="{BB962C8B-B14F-4D97-AF65-F5344CB8AC3E}">
        <p14:creationId xmlns:p14="http://schemas.microsoft.com/office/powerpoint/2010/main" val="3137804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A2693-06D5-471B-8FF0-F974A080F105}"/>
              </a:ext>
            </a:extLst>
          </p:cNvPr>
          <p:cNvSpPr>
            <a:spLocks noGrp="1"/>
          </p:cNvSpPr>
          <p:nvPr>
            <p:ph type="title"/>
          </p:nvPr>
        </p:nvSpPr>
        <p:spPr>
          <a:xfrm>
            <a:off x="822795" y="107868"/>
            <a:ext cx="10515600" cy="1325563"/>
          </a:xfrm>
        </p:spPr>
        <p:txBody>
          <a:bodyPr/>
          <a:lstStyle/>
          <a:p>
            <a:r>
              <a:rPr lang="en-US" dirty="0"/>
              <a:t>Create Family To-Do Lists &amp; Delegate</a:t>
            </a:r>
          </a:p>
        </p:txBody>
      </p:sp>
      <p:pic>
        <p:nvPicPr>
          <p:cNvPr id="7" name="Picture 6">
            <a:extLst>
              <a:ext uri="{FF2B5EF4-FFF2-40B4-BE49-F238E27FC236}">
                <a16:creationId xmlns:a16="http://schemas.microsoft.com/office/drawing/2014/main" id="{612D2F7D-8291-4CFA-AA64-3011E73AA75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24624" y="1356371"/>
            <a:ext cx="3708922" cy="4798088"/>
          </a:xfrm>
          <a:prstGeom prst="rect">
            <a:avLst/>
          </a:prstGeom>
        </p:spPr>
      </p:pic>
      <p:sp>
        <p:nvSpPr>
          <p:cNvPr id="10" name="TextBox 9">
            <a:extLst>
              <a:ext uri="{FF2B5EF4-FFF2-40B4-BE49-F238E27FC236}">
                <a16:creationId xmlns:a16="http://schemas.microsoft.com/office/drawing/2014/main" id="{7A88902B-5445-433A-AA7D-3CE5B307918E}"/>
              </a:ext>
            </a:extLst>
          </p:cNvPr>
          <p:cNvSpPr txBox="1"/>
          <p:nvPr/>
        </p:nvSpPr>
        <p:spPr>
          <a:xfrm>
            <a:off x="7830979" y="1137962"/>
            <a:ext cx="4458155" cy="3477875"/>
          </a:xfrm>
          <a:prstGeom prst="rect">
            <a:avLst/>
          </a:prstGeom>
          <a:noFill/>
        </p:spPr>
        <p:txBody>
          <a:bodyPr wrap="square" rtlCol="0">
            <a:spAutoFit/>
          </a:bodyPr>
          <a:lstStyle/>
          <a:p>
            <a:r>
              <a:rPr lang="en-US" sz="2400" i="0" dirty="0">
                <a:effectLst/>
              </a:rPr>
              <a:t>It is important for the whole family to help with chores because it:</a:t>
            </a:r>
          </a:p>
          <a:p>
            <a:pPr marL="342900" indent="-342900">
              <a:buFont typeface="Wingdings" panose="05000000000000000000" pitchFamily="2" charset="2"/>
              <a:buChar char="§"/>
            </a:pPr>
            <a:r>
              <a:rPr lang="en-US" sz="2400" dirty="0"/>
              <a:t>Builds self esteem.</a:t>
            </a:r>
          </a:p>
          <a:p>
            <a:pPr marL="342900" indent="-342900">
              <a:buFont typeface="Wingdings" panose="05000000000000000000" pitchFamily="2" charset="2"/>
              <a:buChar char="§"/>
            </a:pPr>
            <a:r>
              <a:rPr lang="en-US" sz="2400" dirty="0"/>
              <a:t>Teaches vital life skills like responsibility, time management, and work ethic.</a:t>
            </a:r>
          </a:p>
          <a:p>
            <a:pPr marL="342900" indent="-342900">
              <a:buFont typeface="Wingdings" panose="05000000000000000000" pitchFamily="2" charset="2"/>
              <a:buChar char="§"/>
            </a:pPr>
            <a:r>
              <a:rPr lang="en-US" sz="2400" dirty="0"/>
              <a:t>Fosters a sense of belonging and teamwork</a:t>
            </a:r>
            <a:r>
              <a:rPr lang="en-US" sz="2800" dirty="0"/>
              <a:t>. </a:t>
            </a:r>
          </a:p>
        </p:txBody>
      </p:sp>
      <p:pic>
        <p:nvPicPr>
          <p:cNvPr id="4" name="Picture 3">
            <a:extLst>
              <a:ext uri="{FF2B5EF4-FFF2-40B4-BE49-F238E27FC236}">
                <a16:creationId xmlns:a16="http://schemas.microsoft.com/office/drawing/2014/main" id="{50B902CA-38E0-4942-9736-CBAE428A15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63633" y="1356371"/>
            <a:ext cx="3185992" cy="4663869"/>
          </a:xfrm>
          <a:prstGeom prst="rect">
            <a:avLst/>
          </a:prstGeom>
        </p:spPr>
      </p:pic>
    </p:spTree>
    <p:extLst>
      <p:ext uri="{BB962C8B-B14F-4D97-AF65-F5344CB8AC3E}">
        <p14:creationId xmlns:p14="http://schemas.microsoft.com/office/powerpoint/2010/main" val="2936214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A2693-06D5-471B-8FF0-F974A080F105}"/>
              </a:ext>
            </a:extLst>
          </p:cNvPr>
          <p:cNvSpPr>
            <a:spLocks noGrp="1"/>
          </p:cNvSpPr>
          <p:nvPr>
            <p:ph type="title"/>
          </p:nvPr>
        </p:nvSpPr>
        <p:spPr>
          <a:xfrm>
            <a:off x="361741" y="365125"/>
            <a:ext cx="11535507" cy="1325563"/>
          </a:xfrm>
        </p:spPr>
        <p:txBody>
          <a:bodyPr/>
          <a:lstStyle/>
          <a:p>
            <a:r>
              <a:rPr lang="en-US" dirty="0"/>
              <a:t>Be on the Lookout for Time Management Dangers!</a:t>
            </a:r>
          </a:p>
        </p:txBody>
      </p:sp>
      <p:pic>
        <p:nvPicPr>
          <p:cNvPr id="5" name="Picture 4">
            <a:extLst>
              <a:ext uri="{FF2B5EF4-FFF2-40B4-BE49-F238E27FC236}">
                <a16:creationId xmlns:a16="http://schemas.microsoft.com/office/drawing/2014/main" id="{BC7E7596-A713-4668-BB25-7E08407267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43481" y="1690688"/>
            <a:ext cx="3210602" cy="2708945"/>
          </a:xfrm>
          <a:prstGeom prst="rect">
            <a:avLst/>
          </a:prstGeom>
        </p:spPr>
      </p:pic>
      <p:sp>
        <p:nvSpPr>
          <p:cNvPr id="6" name="TextBox 5">
            <a:extLst>
              <a:ext uri="{FF2B5EF4-FFF2-40B4-BE49-F238E27FC236}">
                <a16:creationId xmlns:a16="http://schemas.microsoft.com/office/drawing/2014/main" id="{427EE5DF-EF76-4E19-AF88-67A93104EB6F}"/>
              </a:ext>
            </a:extLst>
          </p:cNvPr>
          <p:cNvSpPr txBox="1"/>
          <p:nvPr/>
        </p:nvSpPr>
        <p:spPr>
          <a:xfrm>
            <a:off x="557530" y="1861510"/>
            <a:ext cx="8098971" cy="4493538"/>
          </a:xfrm>
          <a:prstGeom prst="rect">
            <a:avLst/>
          </a:prstGeom>
          <a:noFill/>
        </p:spPr>
        <p:txBody>
          <a:bodyPr wrap="square" rtlCol="0">
            <a:spAutoFit/>
          </a:bodyPr>
          <a:lstStyle/>
          <a:p>
            <a:r>
              <a:rPr lang="en-US" sz="3000" dirty="0"/>
              <a:t>Despite our best efforts, there are major challenges to managing time wisely.</a:t>
            </a:r>
          </a:p>
          <a:p>
            <a:r>
              <a:rPr lang="en-US" sz="3000" dirty="0"/>
              <a:t>These may include:</a:t>
            </a:r>
          </a:p>
          <a:p>
            <a:endParaRPr lang="en-US" sz="1000" dirty="0"/>
          </a:p>
          <a:p>
            <a:pPr marL="285750" indent="-285750">
              <a:buBlip>
                <a:blip r:embed="rId4"/>
              </a:buBlip>
            </a:pPr>
            <a:r>
              <a:rPr lang="en-US" sz="3000" dirty="0"/>
              <a:t>Distractions </a:t>
            </a:r>
          </a:p>
          <a:p>
            <a:pPr marL="285750" indent="-285750">
              <a:buBlip>
                <a:blip r:embed="rId4"/>
              </a:buBlip>
            </a:pPr>
            <a:r>
              <a:rPr lang="en-US" sz="3000" dirty="0"/>
              <a:t>Procrastination</a:t>
            </a:r>
          </a:p>
          <a:p>
            <a:pPr marL="285750" indent="-285750">
              <a:buBlip>
                <a:blip r:embed="rId4"/>
              </a:buBlip>
            </a:pPr>
            <a:r>
              <a:rPr lang="en-US" sz="3000" dirty="0"/>
              <a:t>Multitasking</a:t>
            </a:r>
          </a:p>
          <a:p>
            <a:pPr marL="285750" indent="-285750">
              <a:buBlip>
                <a:blip r:embed="rId4"/>
              </a:buBlip>
            </a:pPr>
            <a:r>
              <a:rPr lang="en-US" sz="3000" dirty="0"/>
              <a:t>Overcommitment/Inability to say “No”</a:t>
            </a:r>
          </a:p>
          <a:p>
            <a:pPr marL="285750" indent="-285750">
              <a:buBlip>
                <a:blip r:embed="rId4"/>
              </a:buBlip>
            </a:pPr>
            <a:r>
              <a:rPr lang="en-US" sz="3000" dirty="0"/>
              <a:t>Lack of Structure and Routine</a:t>
            </a:r>
          </a:p>
          <a:p>
            <a:endParaRPr lang="en-US" dirty="0"/>
          </a:p>
          <a:p>
            <a:endParaRPr lang="en-US" dirty="0"/>
          </a:p>
        </p:txBody>
      </p:sp>
    </p:spTree>
    <p:extLst>
      <p:ext uri="{BB962C8B-B14F-4D97-AF65-F5344CB8AC3E}">
        <p14:creationId xmlns:p14="http://schemas.microsoft.com/office/powerpoint/2010/main" val="3267975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4DF51-FB5C-45C3-AE53-B76BB49A696E}"/>
              </a:ext>
            </a:extLst>
          </p:cNvPr>
          <p:cNvSpPr>
            <a:spLocks noGrp="1"/>
          </p:cNvSpPr>
          <p:nvPr>
            <p:ph type="title"/>
          </p:nvPr>
        </p:nvSpPr>
        <p:spPr>
          <a:xfrm>
            <a:off x="838200" y="207676"/>
            <a:ext cx="10515600" cy="1325563"/>
          </a:xfrm>
        </p:spPr>
        <p:txBody>
          <a:bodyPr/>
          <a:lstStyle/>
          <a:p>
            <a:r>
              <a:rPr lang="en-US" dirty="0"/>
              <a:t>Technology Distractions</a:t>
            </a:r>
          </a:p>
        </p:txBody>
      </p:sp>
      <p:sp>
        <p:nvSpPr>
          <p:cNvPr id="11" name="TextBox 10">
            <a:extLst>
              <a:ext uri="{FF2B5EF4-FFF2-40B4-BE49-F238E27FC236}">
                <a16:creationId xmlns:a16="http://schemas.microsoft.com/office/drawing/2014/main" id="{8A5F31A4-EF15-4AFB-9663-254834E57881}"/>
              </a:ext>
            </a:extLst>
          </p:cNvPr>
          <p:cNvSpPr txBox="1"/>
          <p:nvPr/>
        </p:nvSpPr>
        <p:spPr>
          <a:xfrm>
            <a:off x="838200" y="1526208"/>
            <a:ext cx="7300128" cy="1754326"/>
          </a:xfrm>
          <a:prstGeom prst="rect">
            <a:avLst/>
          </a:prstGeom>
          <a:noFill/>
        </p:spPr>
        <p:txBody>
          <a:bodyPr wrap="square" rtlCol="0">
            <a:spAutoFit/>
          </a:bodyPr>
          <a:lstStyle/>
          <a:p>
            <a:pPr algn="ctr"/>
            <a:r>
              <a:rPr lang="en-US" sz="3000" dirty="0">
                <a:highlight>
                  <a:srgbClr val="FFFF00"/>
                </a:highlight>
              </a:rPr>
              <a:t>Group Activity:  Count the notifications you have received on your phone today.</a:t>
            </a:r>
          </a:p>
          <a:p>
            <a:pPr algn="ctr"/>
            <a:r>
              <a:rPr lang="en-US" sz="2400" dirty="0"/>
              <a:t>(On iPhone, swipe down from the top left of your screen)	</a:t>
            </a:r>
          </a:p>
        </p:txBody>
      </p:sp>
      <p:pic>
        <p:nvPicPr>
          <p:cNvPr id="13" name="Graphic 12" descr="Smart Phone with solid fill">
            <a:extLst>
              <a:ext uri="{FF2B5EF4-FFF2-40B4-BE49-F238E27FC236}">
                <a16:creationId xmlns:a16="http://schemas.microsoft.com/office/drawing/2014/main" id="{78955DDD-6E0E-4B70-BA58-0EA06EAD2690}"/>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329921" y="1574820"/>
            <a:ext cx="823965" cy="823965"/>
          </a:xfrm>
          <a:prstGeom prst="rect">
            <a:avLst/>
          </a:prstGeom>
        </p:spPr>
      </p:pic>
      <p:sp>
        <p:nvSpPr>
          <p:cNvPr id="14" name="TextBox 13">
            <a:extLst>
              <a:ext uri="{FF2B5EF4-FFF2-40B4-BE49-F238E27FC236}">
                <a16:creationId xmlns:a16="http://schemas.microsoft.com/office/drawing/2014/main" id="{72B53D2A-CAA9-4DDA-B412-CCE931960791}"/>
              </a:ext>
            </a:extLst>
          </p:cNvPr>
          <p:cNvSpPr txBox="1"/>
          <p:nvPr/>
        </p:nvSpPr>
        <p:spPr>
          <a:xfrm>
            <a:off x="8138328" y="1198456"/>
            <a:ext cx="3723751" cy="2400657"/>
          </a:xfrm>
          <a:prstGeom prst="rect">
            <a:avLst/>
          </a:prstGeom>
          <a:solidFill>
            <a:schemeClr val="accent6">
              <a:lumMod val="20000"/>
              <a:lumOff val="80000"/>
            </a:schemeClr>
          </a:solidFill>
          <a:ln>
            <a:solidFill>
              <a:schemeClr val="accent5">
                <a:lumMod val="75000"/>
              </a:schemeClr>
            </a:solidFill>
          </a:ln>
        </p:spPr>
        <p:txBody>
          <a:bodyPr wrap="square" rtlCol="0">
            <a:spAutoFit/>
          </a:bodyPr>
          <a:lstStyle/>
          <a:p>
            <a:pPr algn="ctr"/>
            <a:r>
              <a:rPr lang="en-US" sz="3000" i="1" dirty="0"/>
              <a:t>Self-Reflection: </a:t>
            </a:r>
            <a:r>
              <a:rPr lang="en-US" sz="3000" dirty="0"/>
              <a:t>What strategies do you use  (or do you plan to use) to help you stay focused?</a:t>
            </a:r>
          </a:p>
        </p:txBody>
      </p:sp>
      <p:pic>
        <p:nvPicPr>
          <p:cNvPr id="4" name="Online Media 3" title="How Smartphones Sabotage Your Brain's Ability to Focus | WSJ">
            <a:hlinkClick r:id="" action="ppaction://media"/>
            <a:extLst>
              <a:ext uri="{FF2B5EF4-FFF2-40B4-BE49-F238E27FC236}">
                <a16:creationId xmlns:a16="http://schemas.microsoft.com/office/drawing/2014/main" id="{F0AA929D-1E94-4C6A-AABA-8032160AEA7A}"/>
              </a:ext>
            </a:extLst>
          </p:cNvPr>
          <p:cNvPicPr>
            <a:picLocks noRot="1" noChangeAspect="1"/>
          </p:cNvPicPr>
          <p:nvPr>
            <a:videoFile r:link="rId1"/>
          </p:nvPr>
        </p:nvPicPr>
        <p:blipFill>
          <a:blip r:embed="rId6"/>
          <a:stretch>
            <a:fillRect/>
          </a:stretch>
        </p:blipFill>
        <p:spPr>
          <a:xfrm>
            <a:off x="2748413" y="3275763"/>
            <a:ext cx="3638989" cy="2056029"/>
          </a:xfrm>
          <a:prstGeom prst="rect">
            <a:avLst/>
          </a:prstGeom>
        </p:spPr>
      </p:pic>
    </p:spTree>
    <p:extLst>
      <p:ext uri="{BB962C8B-B14F-4D97-AF65-F5344CB8AC3E}">
        <p14:creationId xmlns:p14="http://schemas.microsoft.com/office/powerpoint/2010/main" val="2568914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3D5A2-8F77-4604-9FA2-2D31350EEE5F}"/>
              </a:ext>
            </a:extLst>
          </p:cNvPr>
          <p:cNvSpPr>
            <a:spLocks noGrp="1"/>
          </p:cNvSpPr>
          <p:nvPr>
            <p:ph type="title"/>
          </p:nvPr>
        </p:nvSpPr>
        <p:spPr/>
        <p:txBody>
          <a:bodyPr/>
          <a:lstStyle/>
          <a:p>
            <a:r>
              <a:rPr lang="en-US" dirty="0"/>
              <a:t>Procrastination</a:t>
            </a:r>
          </a:p>
        </p:txBody>
      </p:sp>
      <p:pic>
        <p:nvPicPr>
          <p:cNvPr id="6" name="Online Media 5" title="3 Steps to Break The Procrastination Cycle | Mel Robbins Podcast Clips">
            <a:hlinkClick r:id="" action="ppaction://media"/>
            <a:extLst>
              <a:ext uri="{FF2B5EF4-FFF2-40B4-BE49-F238E27FC236}">
                <a16:creationId xmlns:a16="http://schemas.microsoft.com/office/drawing/2014/main" id="{DABD0EE1-9AE8-4B53-ACDF-FA88F6747EFA}"/>
              </a:ext>
            </a:extLst>
          </p:cNvPr>
          <p:cNvPicPr>
            <a:picLocks noRot="1" noChangeAspect="1"/>
          </p:cNvPicPr>
          <p:nvPr>
            <a:videoFile r:link="rId1"/>
          </p:nvPr>
        </p:nvPicPr>
        <p:blipFill>
          <a:blip r:embed="rId4"/>
          <a:stretch>
            <a:fillRect/>
          </a:stretch>
        </p:blipFill>
        <p:spPr>
          <a:xfrm>
            <a:off x="2381459" y="3082376"/>
            <a:ext cx="4650015" cy="2627258"/>
          </a:xfrm>
          <a:prstGeom prst="rect">
            <a:avLst/>
          </a:prstGeom>
        </p:spPr>
      </p:pic>
      <p:sp>
        <p:nvSpPr>
          <p:cNvPr id="7" name="TextBox 6">
            <a:extLst>
              <a:ext uri="{FF2B5EF4-FFF2-40B4-BE49-F238E27FC236}">
                <a16:creationId xmlns:a16="http://schemas.microsoft.com/office/drawing/2014/main" id="{220F5BC0-625E-4C2B-AD4A-D863B474168F}"/>
              </a:ext>
            </a:extLst>
          </p:cNvPr>
          <p:cNvSpPr txBox="1"/>
          <p:nvPr/>
        </p:nvSpPr>
        <p:spPr>
          <a:xfrm>
            <a:off x="331596" y="1411069"/>
            <a:ext cx="8499579" cy="1938992"/>
          </a:xfrm>
          <a:prstGeom prst="rect">
            <a:avLst/>
          </a:prstGeom>
          <a:noFill/>
        </p:spPr>
        <p:txBody>
          <a:bodyPr wrap="square" rtlCol="0">
            <a:spAutoFit/>
          </a:bodyPr>
          <a:lstStyle/>
          <a:p>
            <a:pPr algn="ctr"/>
            <a:r>
              <a:rPr lang="en-US" sz="3000" b="1" i="0" dirty="0">
                <a:effectLst/>
                <a:latin typeface="Calibri" panose="020F0502020204030204" pitchFamily="34" charset="0"/>
                <a:ea typeface="Calibri" panose="020F0502020204030204" pitchFamily="34" charset="0"/>
                <a:cs typeface="Calibri" panose="020F0502020204030204" pitchFamily="34" charset="0"/>
              </a:rPr>
              <a:t>Procrastination </a:t>
            </a:r>
            <a:r>
              <a:rPr lang="en-US" sz="3000" dirty="0">
                <a:effectLst/>
                <a:latin typeface="Calibri" panose="020F0502020204030204" pitchFamily="34" charset="0"/>
                <a:ea typeface="Calibri" panose="020F0502020204030204" pitchFamily="34" charset="0"/>
                <a:cs typeface="Calibri" panose="020F0502020204030204" pitchFamily="34" charset="0"/>
              </a:rPr>
              <a:t>is the act of putting off something until a later time. </a:t>
            </a:r>
          </a:p>
          <a:p>
            <a:pPr algn="ctr"/>
            <a:r>
              <a:rPr lang="en-US" sz="3000" dirty="0">
                <a:latin typeface="Calibri" panose="020F0502020204030204" pitchFamily="34" charset="0"/>
                <a:ea typeface="Calibri" panose="020F0502020204030204" pitchFamily="34" charset="0"/>
                <a:cs typeface="Calibri" panose="020F0502020204030204" pitchFamily="34" charset="0"/>
              </a:rPr>
              <a:t>Procrastination is a habit</a:t>
            </a:r>
            <a:r>
              <a:rPr lang="en-US" sz="3000" b="1" dirty="0">
                <a:latin typeface="Calibri" panose="020F0502020204030204" pitchFamily="34" charset="0"/>
                <a:ea typeface="Calibri" panose="020F0502020204030204" pitchFamily="34" charset="0"/>
                <a:cs typeface="Calibri" panose="020F0502020204030204" pitchFamily="34" charset="0"/>
              </a:rPr>
              <a:t> </a:t>
            </a:r>
            <a:r>
              <a:rPr lang="en-US" sz="3000" dirty="0">
                <a:latin typeface="Calibri" panose="020F0502020204030204" pitchFamily="34" charset="0"/>
                <a:ea typeface="Calibri" panose="020F0502020204030204" pitchFamily="34" charset="0"/>
                <a:cs typeface="Calibri" panose="020F0502020204030204" pitchFamily="34" charset="0"/>
              </a:rPr>
              <a:t>that can be broken</a:t>
            </a:r>
            <a:r>
              <a:rPr lang="en-US" sz="3000" b="1" dirty="0">
                <a:latin typeface="Calibri" panose="020F0502020204030204" pitchFamily="34" charset="0"/>
                <a:ea typeface="Calibri" panose="020F0502020204030204" pitchFamily="34" charset="0"/>
                <a:cs typeface="Calibri" panose="020F0502020204030204" pitchFamily="34" charset="0"/>
              </a:rPr>
              <a:t>.</a:t>
            </a:r>
            <a:br>
              <a:rPr lang="en-US" sz="3000" b="0" i="0" dirty="0">
                <a:effectLst/>
                <a:latin typeface="Calibri" panose="020F0502020204030204" pitchFamily="34" charset="0"/>
                <a:ea typeface="Calibri" panose="020F0502020204030204" pitchFamily="34" charset="0"/>
                <a:cs typeface="Calibri" panose="020F0502020204030204" pitchFamily="34" charset="0"/>
              </a:rPr>
            </a:br>
            <a:endParaRPr lang="en-US" sz="3000" dirty="0">
              <a:latin typeface="Calibri" panose="020F0502020204030204" pitchFamily="34" charset="0"/>
              <a:ea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D86FB0F4-9D8B-47BF-A53E-C4B680123F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40738" y="903241"/>
            <a:ext cx="2954648" cy="2954648"/>
          </a:xfrm>
          <a:prstGeom prst="rect">
            <a:avLst/>
          </a:prstGeom>
        </p:spPr>
      </p:pic>
    </p:spTree>
    <p:extLst>
      <p:ext uri="{BB962C8B-B14F-4D97-AF65-F5344CB8AC3E}">
        <p14:creationId xmlns:p14="http://schemas.microsoft.com/office/powerpoint/2010/main" val="1460478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33A43-0B95-473F-BEB2-F1F3935D59BD}"/>
              </a:ext>
            </a:extLst>
          </p:cNvPr>
          <p:cNvSpPr>
            <a:spLocks noGrp="1"/>
          </p:cNvSpPr>
          <p:nvPr>
            <p:ph type="title"/>
          </p:nvPr>
        </p:nvSpPr>
        <p:spPr/>
        <p:txBody>
          <a:bodyPr/>
          <a:lstStyle/>
          <a:p>
            <a:r>
              <a:rPr lang="en-US" dirty="0"/>
              <a:t>Multitasking</a:t>
            </a:r>
          </a:p>
        </p:txBody>
      </p:sp>
      <p:sp>
        <p:nvSpPr>
          <p:cNvPr id="7" name="TextBox 6">
            <a:extLst>
              <a:ext uri="{FF2B5EF4-FFF2-40B4-BE49-F238E27FC236}">
                <a16:creationId xmlns:a16="http://schemas.microsoft.com/office/drawing/2014/main" id="{C11E3D2C-55E5-4948-83B4-840BBE845FDF}"/>
              </a:ext>
            </a:extLst>
          </p:cNvPr>
          <p:cNvSpPr txBox="1"/>
          <p:nvPr/>
        </p:nvSpPr>
        <p:spPr>
          <a:xfrm>
            <a:off x="1075174" y="1460776"/>
            <a:ext cx="6008917" cy="4370427"/>
          </a:xfrm>
          <a:prstGeom prst="rect">
            <a:avLst/>
          </a:prstGeom>
          <a:noFill/>
        </p:spPr>
        <p:txBody>
          <a:bodyPr wrap="square" rtlCol="0">
            <a:spAutoFit/>
          </a:bodyPr>
          <a:lstStyle/>
          <a:p>
            <a:r>
              <a:rPr lang="en-US" sz="3000" dirty="0"/>
              <a:t>Many see multitasking as a strength, but it can lead to:</a:t>
            </a:r>
          </a:p>
          <a:p>
            <a:endParaRPr lang="en-US" sz="800" dirty="0"/>
          </a:p>
          <a:p>
            <a:pPr marL="285750" indent="-285750">
              <a:buFont typeface="Wingdings" panose="05000000000000000000" pitchFamily="2" charset="2"/>
              <a:buChar char="Ø"/>
            </a:pPr>
            <a:r>
              <a:rPr lang="en-US" sz="3000" b="1" dirty="0"/>
              <a:t>Inefficiency</a:t>
            </a:r>
          </a:p>
          <a:p>
            <a:pPr marL="285750" indent="-285750">
              <a:buFont typeface="Wingdings" panose="05000000000000000000" pitchFamily="2" charset="2"/>
              <a:buChar char="Ø"/>
            </a:pPr>
            <a:r>
              <a:rPr lang="en-US" sz="3000" b="1" dirty="0"/>
              <a:t>Potential Mistakes</a:t>
            </a:r>
          </a:p>
          <a:p>
            <a:pPr marL="285750" indent="-285750">
              <a:buFont typeface="Wingdings" panose="05000000000000000000" pitchFamily="2" charset="2"/>
              <a:buChar char="Ø"/>
            </a:pPr>
            <a:r>
              <a:rPr lang="en-US" sz="3000" b="1" dirty="0"/>
              <a:t>Lack of Creativity &amp; Problem-Solving</a:t>
            </a:r>
          </a:p>
          <a:p>
            <a:pPr marL="285750" indent="-285750">
              <a:buFont typeface="Wingdings" panose="05000000000000000000" pitchFamily="2" charset="2"/>
              <a:buChar char="Ø"/>
            </a:pPr>
            <a:r>
              <a:rPr lang="en-US" sz="3000" b="1" dirty="0"/>
              <a:t>Memory Issues</a:t>
            </a:r>
          </a:p>
          <a:p>
            <a:pPr marL="285750" indent="-285750">
              <a:buFont typeface="Wingdings" panose="05000000000000000000" pitchFamily="2" charset="2"/>
              <a:buChar char="Ø"/>
            </a:pPr>
            <a:r>
              <a:rPr lang="en-US" sz="3000" b="1" dirty="0"/>
              <a:t>Distractibility</a:t>
            </a:r>
          </a:p>
          <a:p>
            <a:pPr marL="285750" indent="-285750">
              <a:buFont typeface="Wingdings" panose="05000000000000000000" pitchFamily="2" charset="2"/>
              <a:buChar char="Ø"/>
            </a:pPr>
            <a:r>
              <a:rPr lang="en-US" sz="3000" b="1" dirty="0"/>
              <a:t>Chronic Stress &amp; Burnout </a:t>
            </a:r>
          </a:p>
        </p:txBody>
      </p:sp>
      <p:grpSp>
        <p:nvGrpSpPr>
          <p:cNvPr id="9" name="Group 8">
            <a:extLst>
              <a:ext uri="{FF2B5EF4-FFF2-40B4-BE49-F238E27FC236}">
                <a16:creationId xmlns:a16="http://schemas.microsoft.com/office/drawing/2014/main" id="{98534266-1B6E-4D3C-9CE5-9A6150B39D92}"/>
              </a:ext>
            </a:extLst>
          </p:cNvPr>
          <p:cNvGrpSpPr/>
          <p:nvPr/>
        </p:nvGrpSpPr>
        <p:grpSpPr>
          <a:xfrm>
            <a:off x="6953196" y="1247528"/>
            <a:ext cx="4883762" cy="2513417"/>
            <a:chOff x="6953196" y="1247528"/>
            <a:chExt cx="4883762" cy="2513417"/>
          </a:xfrm>
        </p:grpSpPr>
        <p:pic>
          <p:nvPicPr>
            <p:cNvPr id="4" name="Picture 3">
              <a:extLst>
                <a:ext uri="{FF2B5EF4-FFF2-40B4-BE49-F238E27FC236}">
                  <a16:creationId xmlns:a16="http://schemas.microsoft.com/office/drawing/2014/main" id="{8DFFC7D8-468F-41F1-8415-E0562E7DD107}"/>
                </a:ext>
              </a:extLst>
            </p:cNvPr>
            <p:cNvPicPr>
              <a:picLocks noChangeAspect="1"/>
            </p:cNvPicPr>
            <p:nvPr/>
          </p:nvPicPr>
          <p:blipFill>
            <a:blip r:embed="rId3"/>
            <a:stretch>
              <a:fillRect/>
            </a:stretch>
          </p:blipFill>
          <p:spPr>
            <a:xfrm>
              <a:off x="6953196" y="1247528"/>
              <a:ext cx="4883762" cy="2513417"/>
            </a:xfrm>
            <a:prstGeom prst="rect">
              <a:avLst/>
            </a:prstGeom>
          </p:spPr>
        </p:pic>
        <p:pic>
          <p:nvPicPr>
            <p:cNvPr id="8" name="Picture 7">
              <a:hlinkClick r:id="rId4"/>
              <a:extLst>
                <a:ext uri="{FF2B5EF4-FFF2-40B4-BE49-F238E27FC236}">
                  <a16:creationId xmlns:a16="http://schemas.microsoft.com/office/drawing/2014/main" id="{17D609F9-9E96-4652-8C19-2EA4D73EC228}"/>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8906439" y="1910309"/>
              <a:ext cx="1108171" cy="1325563"/>
            </a:xfrm>
            <a:prstGeom prst="rect">
              <a:avLst/>
            </a:prstGeom>
          </p:spPr>
        </p:pic>
      </p:grpSp>
    </p:spTree>
    <p:extLst>
      <p:ext uri="{BB962C8B-B14F-4D97-AF65-F5344CB8AC3E}">
        <p14:creationId xmlns:p14="http://schemas.microsoft.com/office/powerpoint/2010/main" val="553953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C5BDD-6C25-4C68-823A-0543154A78B7}"/>
              </a:ext>
            </a:extLst>
          </p:cNvPr>
          <p:cNvSpPr>
            <a:spLocks noGrp="1"/>
          </p:cNvSpPr>
          <p:nvPr>
            <p:ph type="title"/>
          </p:nvPr>
        </p:nvSpPr>
        <p:spPr>
          <a:xfrm>
            <a:off x="1099457" y="231782"/>
            <a:ext cx="10515600" cy="1325563"/>
          </a:xfrm>
        </p:spPr>
        <p:txBody>
          <a:bodyPr/>
          <a:lstStyle/>
          <a:p>
            <a:r>
              <a:rPr lang="en-US" dirty="0"/>
              <a:t>Over-Commitment/Inability to Say “No.”</a:t>
            </a:r>
          </a:p>
        </p:txBody>
      </p:sp>
      <p:pic>
        <p:nvPicPr>
          <p:cNvPr id="4" name="Picture 2">
            <a:extLst>
              <a:ext uri="{FF2B5EF4-FFF2-40B4-BE49-F238E27FC236}">
                <a16:creationId xmlns:a16="http://schemas.microsoft.com/office/drawing/2014/main" id="{EE838054-E47B-43D0-A0E9-A8D41954C2A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p:blipFill>
        <p:spPr bwMode="auto">
          <a:xfrm>
            <a:off x="6706438" y="1211168"/>
            <a:ext cx="4701791" cy="352634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C2C5B82F-A06A-4E0C-9DB3-CB9DEB4A6DBE}"/>
              </a:ext>
            </a:extLst>
          </p:cNvPr>
          <p:cNvPicPr>
            <a:picLocks noChangeAspect="1"/>
          </p:cNvPicPr>
          <p:nvPr/>
        </p:nvPicPr>
        <p:blipFill rotWithShape="1">
          <a:blip r:embed="rId4">
            <a:extLst>
              <a:ext uri="{28A0092B-C50C-407E-A947-70E740481C1C}">
                <a14:useLocalDpi xmlns:a14="http://schemas.microsoft.com/office/drawing/2010/main" val="0"/>
              </a:ext>
            </a:extLst>
          </a:blip>
          <a:srcRect l="-1" r="-1193" b="4780"/>
          <a:stretch/>
        </p:blipFill>
        <p:spPr>
          <a:xfrm>
            <a:off x="783771" y="1211168"/>
            <a:ext cx="5596931" cy="5089147"/>
          </a:xfrm>
          <a:prstGeom prst="rect">
            <a:avLst/>
          </a:prstGeom>
        </p:spPr>
      </p:pic>
    </p:spTree>
    <p:extLst>
      <p:ext uri="{BB962C8B-B14F-4D97-AF65-F5344CB8AC3E}">
        <p14:creationId xmlns:p14="http://schemas.microsoft.com/office/powerpoint/2010/main" val="30425268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3EA24-DDF8-4C3B-AD83-286E27E77ADF}"/>
              </a:ext>
            </a:extLst>
          </p:cNvPr>
          <p:cNvSpPr>
            <a:spLocks noGrp="1"/>
          </p:cNvSpPr>
          <p:nvPr>
            <p:ph type="title"/>
          </p:nvPr>
        </p:nvSpPr>
        <p:spPr/>
        <p:txBody>
          <a:bodyPr/>
          <a:lstStyle/>
          <a:p>
            <a:r>
              <a:rPr lang="en-US" dirty="0"/>
              <a:t>Lack of Structure and Routine</a:t>
            </a:r>
          </a:p>
        </p:txBody>
      </p:sp>
      <p:grpSp>
        <p:nvGrpSpPr>
          <p:cNvPr id="8" name="Group 7">
            <a:extLst>
              <a:ext uri="{FF2B5EF4-FFF2-40B4-BE49-F238E27FC236}">
                <a16:creationId xmlns:a16="http://schemas.microsoft.com/office/drawing/2014/main" id="{F33327D9-F6F8-43D3-91D2-6621222206CD}"/>
              </a:ext>
            </a:extLst>
          </p:cNvPr>
          <p:cNvGrpSpPr/>
          <p:nvPr/>
        </p:nvGrpSpPr>
        <p:grpSpPr>
          <a:xfrm>
            <a:off x="1327423" y="1798654"/>
            <a:ext cx="7467002" cy="3523472"/>
            <a:chOff x="1327423" y="1798654"/>
            <a:chExt cx="7467002" cy="3523472"/>
          </a:xfrm>
        </p:grpSpPr>
        <p:pic>
          <p:nvPicPr>
            <p:cNvPr id="4" name="Picture 3">
              <a:extLst>
                <a:ext uri="{FF2B5EF4-FFF2-40B4-BE49-F238E27FC236}">
                  <a16:creationId xmlns:a16="http://schemas.microsoft.com/office/drawing/2014/main" id="{4D248750-A812-4656-82F4-E7DE523446F9}"/>
                </a:ext>
              </a:extLst>
            </p:cNvPr>
            <p:cNvPicPr>
              <a:picLocks noChangeAspect="1"/>
            </p:cNvPicPr>
            <p:nvPr/>
          </p:nvPicPr>
          <p:blipFill>
            <a:blip r:embed="rId3"/>
            <a:stretch>
              <a:fillRect/>
            </a:stretch>
          </p:blipFill>
          <p:spPr>
            <a:xfrm>
              <a:off x="1327423" y="1798654"/>
              <a:ext cx="7467002" cy="3523472"/>
            </a:xfrm>
            <a:prstGeom prst="rect">
              <a:avLst/>
            </a:prstGeom>
          </p:spPr>
        </p:pic>
        <p:pic>
          <p:nvPicPr>
            <p:cNvPr id="7" name="Picture 6">
              <a:hlinkClick r:id="rId4"/>
              <a:extLst>
                <a:ext uri="{FF2B5EF4-FFF2-40B4-BE49-F238E27FC236}">
                  <a16:creationId xmlns:a16="http://schemas.microsoft.com/office/drawing/2014/main" id="{48447007-1E77-4B63-92E6-DCED1A69C414}"/>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4467760" y="2850864"/>
              <a:ext cx="1186327" cy="1419051"/>
            </a:xfrm>
            <a:prstGeom prst="rect">
              <a:avLst/>
            </a:prstGeom>
          </p:spPr>
        </p:pic>
      </p:grpSp>
    </p:spTree>
    <p:extLst>
      <p:ext uri="{BB962C8B-B14F-4D97-AF65-F5344CB8AC3E}">
        <p14:creationId xmlns:p14="http://schemas.microsoft.com/office/powerpoint/2010/main" val="15314447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5D83C-D9EB-490B-96DC-4F6FF9EA90D1}"/>
              </a:ext>
            </a:extLst>
          </p:cNvPr>
          <p:cNvSpPr>
            <a:spLocks noGrp="1"/>
          </p:cNvSpPr>
          <p:nvPr>
            <p:ph type="title"/>
          </p:nvPr>
        </p:nvSpPr>
        <p:spPr/>
        <p:txBody>
          <a:bodyPr/>
          <a:lstStyle/>
          <a:p>
            <a:r>
              <a:rPr lang="en-US" dirty="0"/>
              <a:t>Exit Ticket Time!</a:t>
            </a:r>
          </a:p>
        </p:txBody>
      </p:sp>
      <p:pic>
        <p:nvPicPr>
          <p:cNvPr id="9" name="Picture 8">
            <a:extLst>
              <a:ext uri="{FF2B5EF4-FFF2-40B4-BE49-F238E27FC236}">
                <a16:creationId xmlns:a16="http://schemas.microsoft.com/office/drawing/2014/main" id="{A37429DF-29B8-4E03-8600-FD2868D33C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835234">
            <a:off x="7837790" y="774021"/>
            <a:ext cx="3344597" cy="1833335"/>
          </a:xfrm>
          <a:prstGeom prst="rect">
            <a:avLst/>
          </a:prstGeom>
        </p:spPr>
      </p:pic>
      <p:sp>
        <p:nvSpPr>
          <p:cNvPr id="10" name="Rectangle 9">
            <a:extLst>
              <a:ext uri="{FF2B5EF4-FFF2-40B4-BE49-F238E27FC236}">
                <a16:creationId xmlns:a16="http://schemas.microsoft.com/office/drawing/2014/main" id="{48709EDF-D8AC-48EA-9559-7574EC41FC34}"/>
              </a:ext>
            </a:extLst>
          </p:cNvPr>
          <p:cNvSpPr/>
          <p:nvPr/>
        </p:nvSpPr>
        <p:spPr>
          <a:xfrm>
            <a:off x="838200" y="2273999"/>
            <a:ext cx="6718160" cy="1569660"/>
          </a:xfrm>
          <a:prstGeom prst="rect">
            <a:avLst/>
          </a:prstGeom>
          <a:noFill/>
        </p:spPr>
        <p:txBody>
          <a:bodyPr wrap="square" lIns="91440" tIns="45720" rIns="91440" bIns="45720">
            <a:spAutoFit/>
          </a:bodyPr>
          <a:lstStyle/>
          <a:p>
            <a:pPr marL="685800" indent="-685800">
              <a:buFont typeface="Arial" panose="020B0604020202020204" pitchFamily="34" charset="0"/>
              <a:buChar char="•"/>
            </a:pPr>
            <a:r>
              <a:rPr lang="en-US" sz="3200" b="1" cap="none" spc="0" dirty="0">
                <a:ln w="22225">
                  <a:noFill/>
                  <a:prstDash val="solid"/>
                </a:ln>
                <a:effectLst/>
              </a:rPr>
              <a:t>What did you learn?</a:t>
            </a:r>
          </a:p>
          <a:p>
            <a:pPr marL="685800" indent="-685800">
              <a:buFont typeface="Arial" panose="020B0604020202020204" pitchFamily="34" charset="0"/>
              <a:buChar char="•"/>
            </a:pPr>
            <a:r>
              <a:rPr lang="en-US" sz="3200" b="1" dirty="0">
                <a:ln w="22225">
                  <a:noFill/>
                  <a:prstDash val="solid"/>
                </a:ln>
              </a:rPr>
              <a:t>What tips do you plan to use to better manage your time?</a:t>
            </a:r>
            <a:endParaRPr lang="en-US" sz="3200" b="1" cap="none" spc="0" dirty="0">
              <a:ln w="22225">
                <a:noFill/>
                <a:prstDash val="solid"/>
              </a:ln>
              <a:effectLst/>
            </a:endParaRPr>
          </a:p>
        </p:txBody>
      </p:sp>
    </p:spTree>
    <p:extLst>
      <p:ext uri="{BB962C8B-B14F-4D97-AF65-F5344CB8AC3E}">
        <p14:creationId xmlns:p14="http://schemas.microsoft.com/office/powerpoint/2010/main" val="629190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FB8D33F-A24E-43F2-9115-DE0BB7601AB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906400" y="195943"/>
            <a:ext cx="7785794" cy="6296932"/>
          </a:xfrm>
          <a:prstGeom prst="rect">
            <a:avLst/>
          </a:prstGeom>
        </p:spPr>
      </p:pic>
      <p:sp>
        <p:nvSpPr>
          <p:cNvPr id="6" name="Rectangle 3">
            <a:extLst>
              <a:ext uri="{FF2B5EF4-FFF2-40B4-BE49-F238E27FC236}">
                <a16:creationId xmlns:a16="http://schemas.microsoft.com/office/drawing/2014/main" id="{84B593D7-79F9-413D-A6DF-A292EE6D791A}"/>
              </a:ext>
            </a:extLst>
          </p:cNvPr>
          <p:cNvSpPr txBox="1">
            <a:spLocks noChangeArrowheads="1"/>
          </p:cNvSpPr>
          <p:nvPr/>
        </p:nvSpPr>
        <p:spPr>
          <a:xfrm>
            <a:off x="7616650" y="1848898"/>
            <a:ext cx="4162437" cy="1828800"/>
          </a:xfrm>
          <a:prstGeom prst="roundRect">
            <a:avLst/>
          </a:prstGeom>
          <a:solidFill>
            <a:schemeClr val="tx1"/>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000" b="1" i="1" dirty="0">
                <a:solidFill>
                  <a:schemeClr val="bg1"/>
                </a:solidFill>
                <a:latin typeface="Arial" pitchFamily="34" charset="0"/>
              </a:rPr>
              <a:t>How will you put your TIME to use today? </a:t>
            </a:r>
          </a:p>
        </p:txBody>
      </p:sp>
    </p:spTree>
    <p:extLst>
      <p:ext uri="{BB962C8B-B14F-4D97-AF65-F5344CB8AC3E}">
        <p14:creationId xmlns:p14="http://schemas.microsoft.com/office/powerpoint/2010/main" val="17967397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512</TotalTime>
  <Words>1601</Words>
  <Application>Microsoft Office PowerPoint</Application>
  <PresentationFormat>Widescreen</PresentationFormat>
  <Paragraphs>138</Paragraphs>
  <Slides>19</Slides>
  <Notes>19</Notes>
  <HiddenSlides>0</HiddenSlides>
  <MMClips>2</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Calibri</vt:lpstr>
      <vt:lpstr>Calibri Light</vt:lpstr>
      <vt:lpstr>Google Sans</vt:lpstr>
      <vt:lpstr>Inter</vt:lpstr>
      <vt:lpstr>Roboto</vt:lpstr>
      <vt:lpstr>Wingdings</vt:lpstr>
      <vt:lpstr>YouTube Noto</vt:lpstr>
      <vt:lpstr>Office Theme</vt:lpstr>
      <vt:lpstr> Time Management</vt:lpstr>
      <vt:lpstr>Self-Reflection: How Good Is Your Time Management?</vt:lpstr>
      <vt:lpstr>OBJECTIVE of this Module</vt:lpstr>
      <vt:lpstr>Setting Priorities</vt:lpstr>
      <vt:lpstr>Priorities— “Big Rocks”</vt:lpstr>
      <vt:lpstr>You’ve Identified Your Priorities—Now What?</vt:lpstr>
      <vt:lpstr>Set Clearly Defined SMART Goals!</vt:lpstr>
      <vt:lpstr>Utilize a Flow-Chart </vt:lpstr>
      <vt:lpstr>Another Helpful Tool--The Eisenhower Matrix</vt:lpstr>
      <vt:lpstr>Make Good Use of Daily &amp; Weekly Planners!</vt:lpstr>
      <vt:lpstr>Create Family To-Do Lists &amp; Delegate</vt:lpstr>
      <vt:lpstr>Be on the Lookout for Time Management Dangers!</vt:lpstr>
      <vt:lpstr>Technology Distractions</vt:lpstr>
      <vt:lpstr>Procrastination</vt:lpstr>
      <vt:lpstr>Multitasking</vt:lpstr>
      <vt:lpstr>Over-Commitment/Inability to Say “No.”</vt:lpstr>
      <vt:lpstr>Lack of Structure and Routine</vt:lpstr>
      <vt:lpstr>Exit Ticket Time!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Hilary Nicolau</cp:lastModifiedBy>
  <cp:revision>62</cp:revision>
  <dcterms:created xsi:type="dcterms:W3CDTF">2020-07-14T16:04:55Z</dcterms:created>
  <dcterms:modified xsi:type="dcterms:W3CDTF">2026-02-10T17:54:54Z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60f4a70-4b6c-4bd4-a002-31edb9c00abe_Enabled">
    <vt:lpwstr>true</vt:lpwstr>
  </property>
  <property fmtid="{D5CDD505-2E9C-101B-9397-08002B2CF9AE}" pid="3" name="MSIP_Label_460f4a70-4b6c-4bd4-a002-31edb9c00abe_SetDate">
    <vt:lpwstr>2024-04-01T16:11:36Z</vt:lpwstr>
  </property>
  <property fmtid="{D5CDD505-2E9C-101B-9397-08002B2CF9AE}" pid="4" name="MSIP_Label_460f4a70-4b6c-4bd4-a002-31edb9c00abe_Method">
    <vt:lpwstr>Standard</vt:lpwstr>
  </property>
  <property fmtid="{D5CDD505-2E9C-101B-9397-08002B2CF9AE}" pid="5" name="MSIP_Label_460f4a70-4b6c-4bd4-a002-31edb9c00abe_Name">
    <vt:lpwstr>General</vt:lpwstr>
  </property>
  <property fmtid="{D5CDD505-2E9C-101B-9397-08002B2CF9AE}" pid="6" name="MSIP_Label_460f4a70-4b6c-4bd4-a002-31edb9c00abe_SiteId">
    <vt:lpwstr>e019b04b-330c-467a-8bae-09fb17374d6a</vt:lpwstr>
  </property>
  <property fmtid="{D5CDD505-2E9C-101B-9397-08002B2CF9AE}" pid="7" name="MSIP_Label_460f4a70-4b6c-4bd4-a002-31edb9c00abe_ActionId">
    <vt:lpwstr>d97f7ab7-99e0-419b-8fce-7182db23cbbf</vt:lpwstr>
  </property>
  <property fmtid="{D5CDD505-2E9C-101B-9397-08002B2CF9AE}" pid="8" name="MSIP_Label_460f4a70-4b6c-4bd4-a002-31edb9c00abe_ContentBits">
    <vt:lpwstr>0</vt:lpwstr>
  </property>
</Properties>
</file>